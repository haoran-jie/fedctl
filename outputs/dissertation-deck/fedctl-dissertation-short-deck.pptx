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119faa936e4ad5" /><Relationship Type="http://schemas.openxmlformats.org/officeDocument/2006/relationships/extended-properties" Target="/docProps/app.xml" Id="R7e0b70b546854a06" /><Relationship Type="http://schemas.openxmlformats.org/officeDocument/2006/relationships/officeDocument" Target="/ppt/presentation.xml" Id="R97b8305de97b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6fb22862447c9"/>
  </p:sldMasterIdLst>
  <p:notesMasterIdLst>
    <p:notesMasterId xmlns:r="http://schemas.openxmlformats.org/officeDocument/2006/relationships" r:id="R0ceb1f755a5f4c32"/>
  </p:notesMasterIdLst>
  <p:sldIdLst>
    <p:sldId xmlns:r="http://schemas.openxmlformats.org/officeDocument/2006/relationships" id="256" r:id="R15fd412c0b864d0f"/>
    <p:sldId xmlns:r="http://schemas.openxmlformats.org/officeDocument/2006/relationships" id="257" r:id="R556ea1be8df943b5"/>
    <p:sldId xmlns:r="http://schemas.openxmlformats.org/officeDocument/2006/relationships" id="258" r:id="Rbf5c0cc602c34552"/>
    <p:sldId xmlns:r="http://schemas.openxmlformats.org/officeDocument/2006/relationships" id="259" r:id="R9300196203144025"/>
    <p:sldId xmlns:r="http://schemas.openxmlformats.org/officeDocument/2006/relationships" id="260" r:id="R1855189536b94937"/>
    <p:sldId xmlns:r="http://schemas.openxmlformats.org/officeDocument/2006/relationships" id="261" r:id="R9d547b78f6984f63"/>
    <p:sldId xmlns:r="http://schemas.openxmlformats.org/officeDocument/2006/relationships" id="262" r:id="R509a71093342455c"/>
    <p:sldId xmlns:r="http://schemas.openxmlformats.org/officeDocument/2006/relationships" id="263" r:id="Rebaaa2b066044278"/>
    <p:sldId xmlns:r="http://schemas.openxmlformats.org/officeDocument/2006/relationships" id="264" r:id="Rff6f6c1fc97e4e46"/>
    <p:sldId xmlns:r="http://schemas.openxmlformats.org/officeDocument/2006/relationships" id="265" r:id="Ra0bfa4264d354081"/>
    <p:sldId xmlns:r="http://schemas.openxmlformats.org/officeDocument/2006/relationships" id="266" r:id="Rf162bab145d6424c"/>
    <p:sldId xmlns:r="http://schemas.openxmlformats.org/officeDocument/2006/relationships" id="267" r:id="R7fad175bc9a74346"/>
    <p:sldId xmlns:r="http://schemas.openxmlformats.org/officeDocument/2006/relationships" id="268" r:id="Ra8f1856396434fe3"/>
    <p:sldId xmlns:r="http://schemas.openxmlformats.org/officeDocument/2006/relationships" id="269" r:id="R56c141225bc349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6fe28fdee474e" /><Relationship Type="http://schemas.openxmlformats.org/officeDocument/2006/relationships/slideMaster" Target="/ppt/slideMasters/slideMaster1.xml" Id="Rf576fb22862447c9" /><Relationship Type="http://schemas.openxmlformats.org/officeDocument/2006/relationships/notesMaster" Target="/ppt/notesMasters/notesMaster1.xml" Id="R0ceb1f755a5f4c32" /><Relationship Type="http://schemas.openxmlformats.org/officeDocument/2006/relationships/presProps" Target="/ppt/presProps.xml" Id="Rf5d51de902cd4cbf" /><Relationship Type="http://schemas.openxmlformats.org/officeDocument/2006/relationships/viewProps" Target="/ppt/viewProps.xml" Id="R9e54427797d94877" /><Relationship Type="http://schemas.openxmlformats.org/officeDocument/2006/relationships/tableStyles" Target="/ppt/tableStyles.xml" Id="Rcf66a434f98e442b" /><Relationship Type="http://schemas.openxmlformats.org/officeDocument/2006/relationships/slide" Target="/ppt/slides/slide1.xml" Id="R15fd412c0b864d0f" /><Relationship Type="http://schemas.openxmlformats.org/officeDocument/2006/relationships/slide" Target="/ppt/slides/slide2.xml" Id="R556ea1be8df943b5" /><Relationship Type="http://schemas.openxmlformats.org/officeDocument/2006/relationships/slide" Target="/ppt/slides/slide3.xml" Id="Rbf5c0cc602c34552" /><Relationship Type="http://schemas.openxmlformats.org/officeDocument/2006/relationships/slide" Target="/ppt/slides/slide4.xml" Id="R9300196203144025" /><Relationship Type="http://schemas.openxmlformats.org/officeDocument/2006/relationships/slide" Target="/ppt/slides/slide5.xml" Id="R1855189536b94937" /><Relationship Type="http://schemas.openxmlformats.org/officeDocument/2006/relationships/slide" Target="/ppt/slides/slide6.xml" Id="R9d547b78f6984f63" /><Relationship Type="http://schemas.openxmlformats.org/officeDocument/2006/relationships/slide" Target="/ppt/slides/slide7.xml" Id="R509a71093342455c" /><Relationship Type="http://schemas.openxmlformats.org/officeDocument/2006/relationships/slide" Target="/ppt/slides/slide8.xml" Id="Rebaaa2b066044278" /><Relationship Type="http://schemas.openxmlformats.org/officeDocument/2006/relationships/slide" Target="/ppt/slides/slide9.xml" Id="Rff6f6c1fc97e4e46" /><Relationship Type="http://schemas.openxmlformats.org/officeDocument/2006/relationships/slide" Target="/ppt/slides/slide10.xml" Id="Ra0bfa4264d354081" /><Relationship Type="http://schemas.openxmlformats.org/officeDocument/2006/relationships/slide" Target="/ppt/slides/slide11.xml" Id="Rf162bab145d6424c" /><Relationship Type="http://schemas.openxmlformats.org/officeDocument/2006/relationships/slide" Target="/ppt/slides/slide12.xml" Id="R7fad175bc9a74346" /><Relationship Type="http://schemas.openxmlformats.org/officeDocument/2006/relationships/slide" Target="/ppt/slides/slide13.xml" Id="Ra8f1856396434fe3" /><Relationship Type="http://schemas.openxmlformats.org/officeDocument/2006/relationships/slide" Target="/ppt/slides/slide14.xml" Id="R56c141225bc3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df2bb237040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0ef0c392b447b4" /><Relationship Type="http://schemas.openxmlformats.org/officeDocument/2006/relationships/notesMaster" Target="/ppt/notesMasters/notesMaster1.xml" Id="Rcff971bd16f2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a34d29679463f" /><Relationship Type="http://schemas.openxmlformats.org/officeDocument/2006/relationships/notesMaster" Target="/ppt/notesMasters/notesMaster1.xml" Id="Rc8b117aceacc4c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b1c91ce8c4545" /><Relationship Type="http://schemas.openxmlformats.org/officeDocument/2006/relationships/notesMaster" Target="/ppt/notesMasters/notesMaster1.xml" Id="R54c611e06efa46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474c24c94c45db" /><Relationship Type="http://schemas.openxmlformats.org/officeDocument/2006/relationships/notesMaster" Target="/ppt/notesMasters/notesMaster1.xml" Id="R60775e67cc50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d58fc5d8674db9" /><Relationship Type="http://schemas.openxmlformats.org/officeDocument/2006/relationships/notesMaster" Target="/ppt/notesMasters/notesMaster1.xml" Id="R3136c178a85f43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a55627ab3463c" /><Relationship Type="http://schemas.openxmlformats.org/officeDocument/2006/relationships/notesMaster" Target="/ppt/notesMasters/notesMaster1.xml" Id="R1501c0201f8445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3525c2c03c4d88" /><Relationship Type="http://schemas.openxmlformats.org/officeDocument/2006/relationships/notesMaster" Target="/ppt/notesMasters/notesMaster1.xml" Id="R036771891c4045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3465ae9c584092" /><Relationship Type="http://schemas.openxmlformats.org/officeDocument/2006/relationships/notesMaster" Target="/ppt/notesMasters/notesMaster1.xml" Id="Re7a26de8af5c45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2e916f2834c5d" /><Relationship Type="http://schemas.openxmlformats.org/officeDocument/2006/relationships/notesMaster" Target="/ppt/notesMasters/notesMaster1.xml" Id="Rdd23f6c98e3041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d1f0a4f60240e7" /><Relationship Type="http://schemas.openxmlformats.org/officeDocument/2006/relationships/notesMaster" Target="/ppt/notesMasters/notesMaster1.xml" Id="R825983d155de4d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4f94c3248d4d1f" /><Relationship Type="http://schemas.openxmlformats.org/officeDocument/2006/relationships/notesMaster" Target="/ppt/notesMasters/notesMaster1.xml" Id="Rf35f703e5a4d4f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d8a5cb1c2a4528" /><Relationship Type="http://schemas.openxmlformats.org/officeDocument/2006/relationships/notesMaster" Target="/ppt/notesMasters/notesMaster1.xml" Id="Rddc7ce3f901147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c1e468234644c8" /><Relationship Type="http://schemas.openxmlformats.org/officeDocument/2006/relationships/notesMaster" Target="/ppt/notesMasters/notesMaster1.xml" Id="R9178e294967648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fac1cd50844063" /><Relationship Type="http://schemas.openxmlformats.org/officeDocument/2006/relationships/notesMaster" Target="/ppt/notesMasters/notesMaster1.xml" Id="R9fd590afea1f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78233f73f41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ccaaba8d74e07" /><Relationship Type="http://schemas.openxmlformats.org/officeDocument/2006/relationships/slideLayout" Target="/ppt/slideLayouts/slideLayout1.xml" Id="Reb2a6a7a359948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2a6a7a359948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dafaaac294a75" /><Relationship Type="http://schemas.openxmlformats.org/officeDocument/2006/relationships/image" Target="/ppt/media/image.png" Id="Ra5e6676e75e54380" /><Relationship Type="http://schemas.openxmlformats.org/officeDocument/2006/relationships/image" Target="/ppt/media/image2.png" Id="R007914dc8b424008" /><Relationship Type="http://schemas.openxmlformats.org/officeDocument/2006/relationships/image" Target="/ppt/media/image3.png" Id="R8fb66cc00d5743ab" /><Relationship Type="http://schemas.openxmlformats.org/officeDocument/2006/relationships/image" Target="/ppt/media/image4.png" Id="Ra7d39380aa9d4941" /><Relationship Type="http://schemas.openxmlformats.org/officeDocument/2006/relationships/image" Target="/ppt/media/image5.png" Id="R3dd4a75ccae94b94" /><Relationship Type="http://schemas.openxmlformats.org/officeDocument/2006/relationships/notesSlide" Target="/ppt/notesSlides/notesSlide1.xml" Id="R480b81e58758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b55e2d2fd433b" /><Relationship Type="http://schemas.openxmlformats.org/officeDocument/2006/relationships/image" Target="/ppt/media/image6.png" Id="Ra831c23702c3445f" /><Relationship Type="http://schemas.openxmlformats.org/officeDocument/2006/relationships/image" Target="/ppt/media/image.svg" Id="Rf0e881ee00744600" /><Relationship Type="http://schemas.openxmlformats.org/officeDocument/2006/relationships/image" Target="/ppt/media/image7.png" Id="Reb095ccf595f495f" /><Relationship Type="http://schemas.openxmlformats.org/officeDocument/2006/relationships/image" Target="/ppt/media/image2.svg" Id="R28c92977fa9c43f7" /><Relationship Type="http://schemas.openxmlformats.org/officeDocument/2006/relationships/image" Target="/ppt/media/image8.png" Id="Rc8ec9be2b58c48d1" /><Relationship Type="http://schemas.openxmlformats.org/officeDocument/2006/relationships/image" Target="/ppt/media/image3.svg" Id="Reb2cfdb4f43e41fb" /><Relationship Type="http://schemas.openxmlformats.org/officeDocument/2006/relationships/image" Target="/ppt/media/image9.png" Id="R9a91967d6eaa4155" /><Relationship Type="http://schemas.openxmlformats.org/officeDocument/2006/relationships/notesSlide" Target="/ppt/notesSlides/notesSlide2.xml" Id="R60c5e1683c45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f592db5224986" /><Relationship Type="http://schemas.openxmlformats.org/officeDocument/2006/relationships/image" Target="/ppt/media/image10.png" Id="R09d05630e893474c" /><Relationship Type="http://schemas.openxmlformats.org/officeDocument/2006/relationships/image" Target="/ppt/media/image4.svg" Id="R4edb0cf8ecfc4119" /><Relationship Type="http://schemas.openxmlformats.org/officeDocument/2006/relationships/image" Target="/ppt/media/image11.png" Id="Rc007d7c481cb4232" /><Relationship Type="http://schemas.openxmlformats.org/officeDocument/2006/relationships/notesSlide" Target="/ppt/notesSlides/notesSlide3.xml" Id="R6aedcdc81b61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fbf03ddb44d8d" /><Relationship Type="http://schemas.openxmlformats.org/officeDocument/2006/relationships/image" Target="/ppt/media/image12.png" Id="Ra34228e6e7cc4cd0" /><Relationship Type="http://schemas.openxmlformats.org/officeDocument/2006/relationships/notesSlide" Target="/ppt/notesSlides/notesSlide4.xml" Id="R9201e864ccae4b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a229be5e04b3b" /><Relationship Type="http://schemas.openxmlformats.org/officeDocument/2006/relationships/image" Target="/ppt/media/image13.png" Id="Rd5d13ed2fcb143cd" /><Relationship Type="http://schemas.openxmlformats.org/officeDocument/2006/relationships/image" Target="/ppt/media/image14.png" Id="R67bb8cdc1f7a4a06" /><Relationship Type="http://schemas.openxmlformats.org/officeDocument/2006/relationships/notesSlide" Target="/ppt/notesSlides/notesSlide5.xml" Id="R31d5594de9e84a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dbc37e2d443a4" /><Relationship Type="http://schemas.openxmlformats.org/officeDocument/2006/relationships/image" Target="/ppt/media/image15.png" Id="R20e7dec0ec504ac1" /><Relationship Type="http://schemas.openxmlformats.org/officeDocument/2006/relationships/image" Target="/ppt/media/image5.svg" Id="R8226cfb10ffa4de8" /><Relationship Type="http://schemas.openxmlformats.org/officeDocument/2006/relationships/image" Target="/ppt/media/image16.png" Id="R02b414eaf57c4a26" /><Relationship Type="http://schemas.openxmlformats.org/officeDocument/2006/relationships/notesSlide" Target="/ppt/notesSlides/notesSlide6.xml" Id="R8a99edcf0a3449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70d301c8b4d8c" /><Relationship Type="http://schemas.openxmlformats.org/officeDocument/2006/relationships/image" Target="/ppt/media/image17.png" Id="Rcb6c2baf673448d7" /><Relationship Type="http://schemas.openxmlformats.org/officeDocument/2006/relationships/image" Target="/ppt/media/image6.svg" Id="R8cbdda27d32c4880" /><Relationship Type="http://schemas.openxmlformats.org/officeDocument/2006/relationships/image" Target="/ppt/media/image18.png" Id="R6f29329fb1f045e8" /><Relationship Type="http://schemas.openxmlformats.org/officeDocument/2006/relationships/notesSlide" Target="/ppt/notesSlides/notesSlide7.xml" Id="R4640d8cd42b443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773a910044de7" /><Relationship Type="http://schemas.openxmlformats.org/officeDocument/2006/relationships/image" Target="/ppt/media/image19.png" Id="Re65bf012a2f347f4" /><Relationship Type="http://schemas.openxmlformats.org/officeDocument/2006/relationships/image" Target="/ppt/media/image7.svg" Id="Rc63f9ca37e0a4f34" /><Relationship Type="http://schemas.openxmlformats.org/officeDocument/2006/relationships/image" Target="/ppt/media/image20.png" Id="R5049f5a1d9014bd8" /><Relationship Type="http://schemas.openxmlformats.org/officeDocument/2006/relationships/notesSlide" Target="/ppt/notesSlides/notesSlide8.xml" Id="R2e508d2e7ea6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9c80a716b438c" /><Relationship Type="http://schemas.openxmlformats.org/officeDocument/2006/relationships/image" Target="/ppt/media/image21.png" Id="Rf8b84d2f7b6a4715" /><Relationship Type="http://schemas.openxmlformats.org/officeDocument/2006/relationships/image" Target="/ppt/media/image8.svg" Id="R46a87a41357d45fe" /><Relationship Type="http://schemas.openxmlformats.org/officeDocument/2006/relationships/image" Target="/ppt/media/image22.png" Id="R353af15a76164d0f" /><Relationship Type="http://schemas.openxmlformats.org/officeDocument/2006/relationships/image" Target="/ppt/media/image9.svg" Id="Re1ef20cdf9ce4bae" /><Relationship Type="http://schemas.openxmlformats.org/officeDocument/2006/relationships/image" Target="/ppt/media/image23.png" Id="R2ba739eb20b04e7b" /><Relationship Type="http://schemas.openxmlformats.org/officeDocument/2006/relationships/image" Target="/ppt/media/image10.svg" Id="R72d6ffeaead8473d" /><Relationship Type="http://schemas.openxmlformats.org/officeDocument/2006/relationships/image" Target="/ppt/media/image24.png" Id="Re55b0de728db4a8b" /><Relationship Type="http://schemas.openxmlformats.org/officeDocument/2006/relationships/image" Target="/ppt/media/image11.svg" Id="R20cfa88cc0274e91" /><Relationship Type="http://schemas.openxmlformats.org/officeDocument/2006/relationships/image" Target="/ppt/media/image25.png" Id="R02aba1a321c54a6d" /><Relationship Type="http://schemas.openxmlformats.org/officeDocument/2006/relationships/notesSlide" Target="/ppt/notesSlides/notesSlide9.xml" Id="Rcd2808a515124f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a38e255a14cb5" /><Relationship Type="http://schemas.openxmlformats.org/officeDocument/2006/relationships/image" Target="/ppt/media/image26.png" Id="R62a19a997df84411" /><Relationship Type="http://schemas.openxmlformats.org/officeDocument/2006/relationships/image" Target="/ppt/media/image12.svg" Id="R84a2a2e591bf488a" /><Relationship Type="http://schemas.openxmlformats.org/officeDocument/2006/relationships/image" Target="/ppt/media/image27.png" Id="R3260dd36f32a4663" /><Relationship Type="http://schemas.openxmlformats.org/officeDocument/2006/relationships/image" Target="/ppt/media/image13.svg" Id="R884c1f3417074710" /><Relationship Type="http://schemas.openxmlformats.org/officeDocument/2006/relationships/image" Target="/ppt/media/image28.png" Id="R349cab3a97c147c7" /><Relationship Type="http://schemas.openxmlformats.org/officeDocument/2006/relationships/notesSlide" Target="/ppt/notesSlides/notesSlide10.xml" Id="R3d6fc702adec40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6f6eb5cae40e4" /><Relationship Type="http://schemas.openxmlformats.org/officeDocument/2006/relationships/image" Target="/ppt/media/image29.png" Id="Rcdcb3b8322e74251" /><Relationship Type="http://schemas.openxmlformats.org/officeDocument/2006/relationships/image" Target="/ppt/media/image14.svg" Id="Ra63d0e1cff62463a" /><Relationship Type="http://schemas.openxmlformats.org/officeDocument/2006/relationships/image" Target="/ppt/media/image30.png" Id="R4e1416aaa3e54ea2" /><Relationship Type="http://schemas.openxmlformats.org/officeDocument/2006/relationships/image" Target="/ppt/media/image15.svg" Id="R068e6d39bcf64c3c" /><Relationship Type="http://schemas.openxmlformats.org/officeDocument/2006/relationships/image" Target="/ppt/media/image31.png" Id="Rcb8bed14c8864336" /><Relationship Type="http://schemas.openxmlformats.org/officeDocument/2006/relationships/notesSlide" Target="/ppt/notesSlides/notesSlide11.xml" Id="Rcd5154a952404c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e3bd6007a446d" /><Relationship Type="http://schemas.openxmlformats.org/officeDocument/2006/relationships/image" Target="/ppt/media/image32.png" Id="R08805f4f722149aa" /><Relationship Type="http://schemas.openxmlformats.org/officeDocument/2006/relationships/notesSlide" Target="/ppt/notesSlides/notesSlide12.xml" Id="R5b15d77e373844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766f85f1c4363" /><Relationship Type="http://schemas.openxmlformats.org/officeDocument/2006/relationships/image" Target="/ppt/media/image33.png" Id="R3f58b57145a6475f" /><Relationship Type="http://schemas.openxmlformats.org/officeDocument/2006/relationships/image" Target="/ppt/media/image16.svg" Id="R2b0ba2e17c154890" /><Relationship Type="http://schemas.openxmlformats.org/officeDocument/2006/relationships/image" Target="/ppt/media/image34.png" Id="Rb370567c36a3401f" /><Relationship Type="http://schemas.openxmlformats.org/officeDocument/2006/relationships/notesSlide" Target="/ppt/notesSlides/notesSlide13.xml" Id="Rf11809c6b39243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8ca8a2aaa4d7c" /><Relationship Type="http://schemas.openxmlformats.org/officeDocument/2006/relationships/image" Target="/ppt/media/image35.png" Id="R20a00b6b7da04196" /><Relationship Type="http://schemas.openxmlformats.org/officeDocument/2006/relationships/image" Target="/ppt/media/image36.png" Id="R0d09a88553994085" /><Relationship Type="http://schemas.openxmlformats.org/officeDocument/2006/relationships/image" Target="/ppt/media/image37.png" Id="R6f6ae137bd894e4e" /><Relationship Type="http://schemas.openxmlformats.org/officeDocument/2006/relationships/image" Target="/ppt/media/image38.png" Id="Rbfb85afdbfe14451" /><Relationship Type="http://schemas.openxmlformats.org/officeDocument/2006/relationships/notesSlide" Target="/ppt/notesSlides/notesSlide14.xml" Id="R3d82c74ead994e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A6C20-6A71-4F65-B667-C6A3ECDA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B0BD1-F3EA-4F5A-8464-B36310E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EBD11-2455-4907-BD4F-8EE5C59F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PART III DISSERTATION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843DA-E468-4F80-928A-232F5063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7477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322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Fedctl: A Heterogeneous Testbed for Realistic Federated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8F92E-A709-4146-91DD-FB29A787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62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800" b="1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Haoran Jie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01CEC-CCA9-4290-9791-96B231F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24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Department of Computer Science and Technology | University of Cambridge | June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A7460-32D9-4B7A-BC6D-3E8DE4A9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29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fedctl.cl.cam.ac.uk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E7193-ADE8-4F9B-9B3E-4733E0DB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6676e75e54380"/>
          <a:stretch xmlns:a="http://schemas.openxmlformats.org/drawingml/2006/main"/>
        </p:blipFill>
        <p:spPr>
          <a:xfrm xmlns:a="http://schemas.openxmlformats.org/drawingml/2006/main">
            <a:off x="9191644" y="2085975"/>
            <a:ext cx="1524915" cy="1295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6C9D0-731F-4FE3-BD00-5B55AD87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Deployment-aware evaluation of heterogeneous FL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C5E9A-9C50-4428-99A5-8C872558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914dc8b424008"/>
          <a:stretch xmlns:a="http://schemas.openxmlformats.org/drawingml/2006/main"/>
        </p:blipFill>
        <p:spPr>
          <a:xfrm xmlns:a="http://schemas.openxmlformats.org/drawingml/2006/main">
            <a:off x="2637445" y="5486400"/>
            <a:ext cx="554410" cy="6477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66cc00d5743ab"/>
          <a:stretch xmlns:a="http://schemas.openxmlformats.org/drawingml/2006/main"/>
        </p:blipFill>
        <p:spPr>
          <a:xfrm xmlns:a="http://schemas.openxmlformats.org/drawingml/2006/main">
            <a:off x="4343171" y="5486400"/>
            <a:ext cx="762458" cy="647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39380aa9d4941"/>
          <a:stretch xmlns:a="http://schemas.openxmlformats.org/drawingml/2006/main"/>
        </p:blipFill>
        <p:spPr>
          <a:xfrm xmlns:a="http://schemas.openxmlformats.org/drawingml/2006/main">
            <a:off x="6166498" y="5486400"/>
            <a:ext cx="735305" cy="647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4a75ccae94b94"/>
          <a:stretch xmlns:a="http://schemas.openxmlformats.org/drawingml/2006/main"/>
        </p:blipFill>
        <p:spPr>
          <a:xfrm xmlns:a="http://schemas.openxmlformats.org/drawingml/2006/main">
            <a:off x="8020369" y="5486400"/>
            <a:ext cx="647063" cy="64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99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6CA40-E638-43A0-B211-4FA7CE7F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FA0E8-34CE-444F-A4E6-350FA94E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Heterogeneous FL Needs Deployment-Aware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EFE6C-D3C4-412A-8B31-CC6D06E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DB908-4792-4942-B9EA-63F5E10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2E6C2-8AC2-44CE-9098-F26608AF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4D222-398D-40A9-9D39-1D13D331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1045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In deployed FL, a client is a device—not just a data partition. Device capability, update timing, network conditions, influence, submodel quality, and parameter coverage all shape outcomes.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1c23702c3445f">
            <a:extLst>
              <a:ext uri="{96DAC541-7B7A-43D3-8B79-37D633B846F1}">
                <asvg:svgBlip xmlns:asvg="http://schemas.microsoft.com/office/drawing/2016/SVG/main" r:embed="Rf0e881ee007446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6395" y="2457450"/>
            <a:ext cx="3142059" cy="359092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5ccf595f495f">
            <a:extLst>
              <a:ext uri="{96DAC541-7B7A-43D3-8B79-37D633B846F1}">
                <asvg:svgBlip xmlns:asvg="http://schemas.microsoft.com/office/drawing/2016/SVG/main" r:embed="R28c92977fa9c43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24970" y="2457450"/>
            <a:ext cx="3142059" cy="35909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c9be2b58c48d1">
            <a:extLst>
              <a:ext uri="{96DAC541-7B7A-43D3-8B79-37D633B846F1}">
                <asvg:svgBlip xmlns:asvg="http://schemas.microsoft.com/office/drawing/2016/SVG/main" r:embed="Reb2cfdb4f43e41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63545" y="2457450"/>
            <a:ext cx="3142059" cy="35909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A2C83-169D-47FF-BB13-021AE3E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4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data split on one 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365CC-0037-468D-8CBD-A89B33D0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867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4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one network; equal devices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89A10-4986-498F-832A-03B8A13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867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4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mixed devices and networks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10CEC-E7E7-4867-B784-57076219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1967d6eaa4155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A0C0E-DE2E-446D-9411-B8EFE61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Takeaway: deployment behaviour is part of the experiment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0140B-05C6-4046-9D1B-6055F27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8041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23366-AABA-4C6A-AEE1-BCB9AFA4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693FB-82DB-4540-BECA-52D9F17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fedctl Run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15DE3-1B82-4A10-8E78-45E5F99D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047F-406D-4907-B8FE-68797EC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743450"/>
          </a:xfrm>
          <a:prstGeom xmlns:a="http://schemas.openxmlformats.org/drawingml/2006/main" prst="roundRect">
            <a:avLst>
              <a:gd name="adj" fmla="val 14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05630e893474c">
            <a:extLst>
              <a:ext uri="{96DAC541-7B7A-43D3-8B79-37D633B846F1}">
                <asvg:svgBlip xmlns:asvg="http://schemas.microsoft.com/office/drawing/2016/SVG/main" r:embed="R4edb0cf8ecfc41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8262" y="1524000"/>
            <a:ext cx="1063547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79DB9-16C9-4839-A677-D1CA9AA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7d7c481cb4232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BD9EE-C1D2-4520-B1E7-E41F327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implementation: reusable control plane for Flower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FE7AA-5663-4DA8-A441-A5B9210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7998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CBC9C-AFAF-44F3-B543-A96274C8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EA877-D2C7-4791-8FAF-FCDE21E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Controlling Heterogeneity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321D4-51BE-4F22-84B5-48A37DF8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21050-28AC-45DF-B1DE-2C6881E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9334500" cy="2133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2ED3-0917-4343-B4DA-2938025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76200" cy="2133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6F6D8-C863-430D-9460-5AFC880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57350"/>
            <a:ext cx="887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8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Typed client placement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AFE61-C11F-4FD8-AFFB-48B85DF8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887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63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Assign logical clients to device classes.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1308E-B01D-4F63-BA05-6B382CBE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050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FF83B-9BA6-4EE4-9753-B97F1AF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050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9819A-5953-462F-9D0F-E73703B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--supernodes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23C3D-B793-4A88-A6CC-7383DDE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rpi4=10, rpi5=10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8D462-65A6-4458-98EC-073A810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2FBCA-CA78-49FB-813D-2ACA3F98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050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394EA-1D09-4F2A-A642-6C727C14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050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C80BB-6773-40AC-A4C4-0A275D74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Scheduler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E2A23-EDE7-436E-A1CD-960F8369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device-type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5FC9C-B95C-473C-BEE9-FFFB27A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52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F0B11-0E70-4CFC-B3A7-55C724AE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765CF-D4C7-4737-BCEE-F5A18DE4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5762F-2772-481D-B81F-DAF38C54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Runtime 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2604C-B1F8-4F2C-AD6A-E616DF4A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SuperNode + ClientApp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20CB9-305E-4DA9-8E5A-6F21008F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52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B3106-64A6-4041-8679-A9417F8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ACA5E-6EF1-443C-B3AC-B271FDB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9C305-5999-4224-8423-8C490AC4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19E4A-206A-4697-95C8-131D741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device-labelled 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9EA9F-92F6-4998-9E70-F5F5DBFC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9334500" cy="2114550"/>
          </a:xfrm>
          <a:prstGeom xmlns:a="http://schemas.openxmlformats.org/drawingml/2006/main" prst="roundRect">
            <a:avLst>
              <a:gd name="adj" fmla="val 31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1A56A-D4DB-49BC-9339-378A5DD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76200" cy="2114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5C676-51A9-4C64-8BF1-AF12F321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95750"/>
            <a:ext cx="887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8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Network impairment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D5C15-FCB9-440D-AB63-94146EB7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887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63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Apply controlled network conditions per client.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D118CC-0D09-4AE3-BC36-03AA7938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B2BE6-B924-4DFC-B197-FADD6A7C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53039-A31A-444A-985C-CD01849E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958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Deploy config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8AFA3D-D8D9-46FA-943E-EAFC0A40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959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define network profile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02C639-D788-4EEA-A6FD-457F3BB9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91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D3A3C-43FA-414D-8345-50CB7A34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17D2EC-19BA-4BD6-89AD-94059C3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31E22E-4804-44D0-A6E6-A174D083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--net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6477CD-C805-4D9D-84C8-9BDE9DF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959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rpi4[∗]=mild,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rpi5[1]=none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E6D8CF-1BF9-4068-BCFC-2D096E81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191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8B0E2B-AD88-416D-9F11-D21A09FF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34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A6D38A-67B5-4D7C-B291-BD53C188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34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6DE7B5-40D3-4416-A0EB-F182D45A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958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Wrapper: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1D9958-176A-4A1F-8340-D9FEB140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959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apply tc/netem before SuperNode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F400FF-4CA4-4DFC-8C69-D2EE0990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91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00" b="1">
                <a:solidFill>
                  <a:srgbClr val="8D9AAC"/>
                </a:solidFill>
                <a:latin typeface="Latin Modern Roman 12 Regular"/>
                <a:ea typeface="Latin Modern Roman 12 Regular"/>
                <a:cs typeface="Latin Modern Roman 12 Regular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207A4C-8403-4873-B261-9EC85FB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43450"/>
            <a:ext cx="19621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22F0F2-0394-4EEF-822C-D14C2672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4345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69121C-C56A-4C22-AC0D-BF8179E8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Runtime: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A1C13D-AC63-46BA-9705-33E9E7A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959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unchanged Flower interface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B745BE-7A7C-4B63-A140-9B105CED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228e6e7cc4cd0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34974D-6D28-4727-8716-D3C3FBCE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implementation: deployment-side heterogeneity controls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3A8AA0-0C88-4C87-A04C-3AF1911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5370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9C0DD-92FC-4374-B496-93654424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BFB1-B4FD-471E-AADD-622ADAD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Physical Heterogeneous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A3240-2443-4DA8-B852-260EAFA1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A647F-FB68-424D-8AEF-19E0AB6E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096000" cy="472440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13ed2fcb143cd"/>
          <a:stretch xmlns:a="http://schemas.openxmlformats.org/drawingml/2006/main"/>
        </p:blipFill>
        <p:spPr>
          <a:xfrm xmlns:a="http://schemas.openxmlformats.org/drawingml/2006/main">
            <a:off x="1177990" y="1581150"/>
            <a:ext cx="5073520" cy="4419600"/>
          </a:xfrm>
          <a:prstGeom xmlns:a="http://schemas.openxmlformats.org/drawingml/2006/main" prst="roundRect">
            <a:avLst>
              <a:gd name="adj" fmla="val 86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E82C6-4296-459F-B2AF-903E05C1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36195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DADA0-A64F-4A72-8CEE-1E8F462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4EA26-73F8-498D-966F-7EBAA2C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50-device worker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9C947-2842-4B83-97F8-01EED341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050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30 rpi4 + 20 rpi5 for real heterogeneous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68DC5-A899-48A8-954D-742FA47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36195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905A7-DB53-4EA3-A3E3-B4D8FA4F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528CD-5A05-43D1-A598-24F37782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repeatable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5D869-F28A-44E2-80CF-82E59B5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rerun the same workload with controlled placement and network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13411-6120-45F7-8D2C-1B878669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6195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6D8F6-7773-4B1D-9E58-7D868E7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EB51F-A18F-4DAD-98DE-901E907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shared-lab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75672-5BB5-489F-8D03-156C8AF2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queueing, resource checks, and artifacts replace manual SSH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0A2B7-71D1-4D27-9904-9CA4693A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36195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62CF6-93C2-4717-A14B-9C042992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0BDBC-F4EC-4A6D-9EAD-83DE414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extensible devices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8FE14-53B4-423F-BBF8-52C2D69A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768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add a Jetson class and image; reuse placement and network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12C8E-114D-427A-AD05-4344B21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b8cdc1f7a4a06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86C8E-A46D-4069-AF22-E2A23D9F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implementation: physical heterogeneous testbed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EB772-14C6-4C2A-A8B7-DB81C8A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4287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A663A-6A55-4336-9FDB-2C302AF0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FB6FD-3466-4D2E-9CBF-E235F00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Submodel FL for Compute Heterogeneity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94A56-8554-40F3-B03E-232511C5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7dec0ec504ac1">
            <a:extLst>
              <a:ext uri="{96DAC541-7B7A-43D3-8B79-37D633B846F1}">
                <asvg:svgBlip xmlns:asvg="http://schemas.microsoft.com/office/drawing/2016/SVG/main" r:embed="R8226cfb10ffa4d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4770" y="1333500"/>
            <a:ext cx="1030246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3CEFE-1359-4109-BE16-9628B94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414eaf57c4a26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C47CE-1461-46D8-88D0-4BE756C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method background: submodel FL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6CE60-7C72-4F3E-BE65-64B9DA72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0900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9CD30-F457-40AC-9461-85C348C6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5371F-1D0A-48BA-8C0B-D0E061F4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Asynchronous FL for Straggler-Induced Heterogeneity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CD99C-E7C7-4C36-8516-C8E9453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c2baf673448d7">
            <a:extLst>
              <a:ext uri="{96DAC541-7B7A-43D3-8B79-37D633B846F1}">
                <asvg:svgBlip xmlns:asvg="http://schemas.microsoft.com/office/drawing/2016/SVG/main" r:embed="R8cbdda27d32c48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4967" y="1333500"/>
            <a:ext cx="10262067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2AC1C-7576-4F40-AC06-349175DB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9329fb1f045e8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39820-E796-40B1-9F5A-3BB7743B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method background: asynchronous FL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36221-53FA-451D-9419-B69D3BB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4378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CCFAD-0477-4ACE-B1B4-BDE1F5C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04A6C-DECF-4E3A-8E45-40674DE6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Coverage Mismatch in Asynchronous Submodel FL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9C51D-31DF-4869-9BC1-E6CE28D9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bf012a2f347f4">
            <a:extLst>
              <a:ext uri="{96DAC541-7B7A-43D3-8B79-37D633B846F1}">
                <asvg:svgBlip xmlns:asvg="http://schemas.microsoft.com/office/drawing/2016/SVG/main" r:embed="Rc63f9ca37e0a4f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8282" y="1257300"/>
            <a:ext cx="9135437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860D2-2E85-477A-84F7-BB63972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Low-coverage parameter blocks can skew the buffered update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3C9D2-AD51-4158-AC07-F83EC2A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treats coverage as an aggregation variable: amplify observed under-covered deltas without imputing missing updates.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778E4-A536-437C-BD9D-E9BCD4A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9f5a1d9014bd8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F9806-79F0-43FB-926E-D2C8968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method: FedCover coverage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C77A8-9757-4E21-B27E-F497D44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89275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58287-3F6F-4B12-BD8A-48B080D2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6970C-3E67-48A1-B2E4-A216EA80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Coverage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0D36C-1894-4A43-AFEA-680D024E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84d2f7b6a4715">
            <a:extLst>
              <a:ext uri="{96DAC541-7B7A-43D3-8B79-37D633B846F1}">
                <asvg:svgBlip xmlns:asvg="http://schemas.microsoft.com/office/drawing/2016/SVG/main" r:embed="R46a87a41357d45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81350" y="1352550"/>
            <a:ext cx="9429300" cy="3200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4CE60-A328-4F91-9DA1-8EF6F8F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12001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35654-11F9-40DC-B998-5181A87A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Server-side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9E3B6-8531-4B7E-9E4F-49D54C9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02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Scale only covered deltas; do not impute missing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AC097-33D9-4DBF-9831-A1C47947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9CAA9-85C1-45C7-AA42-878F1CB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stale-weighted buffer weight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af15a76164d0f">
            <a:extLst>
              <a:ext uri="{96DAC541-7B7A-43D3-8B79-37D633B846F1}">
                <asvg:svgBlip xmlns:asvg="http://schemas.microsoft.com/office/drawing/2016/SVG/main" r:embed="Re1ef20cdf9ce4b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87256" y="5462809"/>
            <a:ext cx="1016588" cy="35198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17D06-FFFB-40BE-AEF9-A872B435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8160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DDBF2-7ADE-4989-971B-A85A4FD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observed coverage mass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739eb20b04e7b">
            <a:extLst>
              <a:ext uri="{96DAC541-7B7A-43D3-8B79-37D633B846F1}">
                <asvg:svgBlip xmlns:asvg="http://schemas.microsoft.com/office/drawing/2016/SVG/main" r:embed="R72d6ffeaead847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5756" y="5444280"/>
            <a:ext cx="1369987" cy="38904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FB966-94C3-4BD7-A538-4B7E546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8160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122AF-32C3-407D-BA72-5F5CFE6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capped coverage gain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b0de728db4a8b">
            <a:extLst>
              <a:ext uri="{96DAC541-7B7A-43D3-8B79-37D633B846F1}">
                <asvg:svgBlip xmlns:asvg="http://schemas.microsoft.com/office/drawing/2016/SVG/main" r:embed="R20cfa88cc0274e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50944" y="5491716"/>
            <a:ext cx="1710011" cy="294168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5F39F-041F-444C-B61B-8D20E16A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1a321c54a6d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BBA30-80AC-4F6F-B774-DF0EE60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method: FedCover coverage 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2D5DC-66D2-4503-96CF-3A89097D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9445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C690FA-CBF1-4E60-8963-2647F25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9D23D-4835-476E-A526-99A85773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Weak-Client Inclusion Without Full-Model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AEC1C-9BC5-4BE1-BB75-D291B1E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864CF-FC3B-4C1C-B3BB-B940DE56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5D88-7149-410A-9660-27F823F6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DDD29-D51A-4B15-8DF0-3419F2C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Reduced-rate submodels include weaker clients without the full-model runtime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D040E-AEA3-466A-870E-A30CC931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49299-CAAD-4685-A1DC-301DE482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66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49B28-E007-4B4C-BC53-CC40292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6858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7E705-6974-45AD-AD9E-0B72045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C1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43D08-FA5D-40D3-8B38-94953D85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963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 non-IID  |  5 rpi5 + 10 rpi4  |  20 rounds  |  compare exclusion, full inclusion, reduced-rate inclusion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0145C-5B12-43F0-A7DE-EF096AA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5524500" cy="3371850"/>
          </a:xfrm>
          <a:prstGeom xmlns:a="http://schemas.openxmlformats.org/drawingml/2006/main" prst="roundRect">
            <a:avLst>
              <a:gd name="adj" fmla="val 1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E27C8-6A93-4092-883D-6273C27A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Measured trade-off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19a997df84411">
            <a:extLst>
              <a:ext uri="{96DAC541-7B7A-43D3-8B79-37D633B846F1}">
                <asvg:svgBlip xmlns:asvg="http://schemas.microsoft.com/office/drawing/2016/SVG/main" r:embed="R84a2a2e591bf48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2802675"/>
            <a:ext cx="5067300" cy="178604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D0D67-2340-47FA-802C-B1D5F10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HeteroFL/FedRolex keep all partitions at much lower runtime; FIARSE gives stronger reduced-rate accuracy, but no dense-kernel speedup.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863EF-38A5-4F71-9FD1-857517A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143500" cy="3371850"/>
          </a:xfrm>
          <a:prstGeom xmlns:a="http://schemas.openxmlformats.org/drawingml/2006/main" prst="roundRect">
            <a:avLst>
              <a:gd name="adj" fmla="val 1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1FD96-C856-4BB7-8429-968AD393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Realistic non-IID deployment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0dd36f32a4663">
            <a:extLst>
              <a:ext uri="{96DAC541-7B7A-43D3-8B79-37D633B846F1}">
                <asvg:svgBlip xmlns:asvg="http://schemas.microsoft.com/office/drawing/2016/SVG/main" r:embed="R884c1f34170747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2490" y="2705100"/>
            <a:ext cx="4931070" cy="2533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A4ACD-3467-44F9-8910-8687D396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cab3a97c147c7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9BF50-ABFD-4C2A-A955-C0420A75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C1: weak-client inclusion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B63D9-BBCC-47DA-A8CD-CA873927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24964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39F0E-4391-4927-A90C-A390CCA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4B4F2-F056-49EE-B509-FF85264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Local Submodel Performance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32F37-9B87-43B6-973F-D3449FC4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91F4A-2C71-4798-B288-D07BE8F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CFDAE-B0A2-4902-A036-F6D4E79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71591-5084-4B03-9FAC-9F5F44F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Local submodel evaluation reveals client-side quality gaps across submodel FL methods.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CD086-DB2F-4B74-9F75-74F24BF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B6D3A-D35B-472A-940A-F29589D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66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CB0A5-CFAF-4EF9-AE85-C394B4C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6858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D75B6-4EE5-4944-A9C1-680AD901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C3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65844-A64B-48ED-8A67-42067560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963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 non-IID + California Housing  |  local evaluation of extracted rate-specific submodels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1ABE-F0F4-4660-984D-8C1DDB6F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3340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94DD9-1EFB-40E6-AD5B-9AEF7002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 local accuracy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b3b8322e74251">
            <a:extLst>
              <a:ext uri="{96DAC541-7B7A-43D3-8B79-37D633B846F1}">
                <asvg:svgBlip xmlns:asvg="http://schemas.microsoft.com/office/drawing/2016/SVG/main" r:embed="Ra63d0e1cff6246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4724" y="2876550"/>
            <a:ext cx="4898052" cy="2190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37975-DB4C-4027-97D8-4680FC84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FIARSE gives higher and more balanced accuracy across submodel sizes.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80B42-2ED6-49BE-885B-7DE421F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340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AF995-65D2-4985-8BE0-DF0744AA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California Housing local R²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416aaa3e54ea2">
            <a:extLst>
              <a:ext uri="{96DAC541-7B7A-43D3-8B79-37D633B846F1}">
                <asvg:svgBlip xmlns:asvg="http://schemas.microsoft.com/office/drawing/2016/SVG/main" r:embed="R068e6d39bcf64c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80416" y="2876550"/>
            <a:ext cx="3955668" cy="2190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54BB8-C435-4B0B-8C4E-90A2F59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197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Smaller submodels often underperform larger ones; FIARSE narrows this gap.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683E2-07FD-4BD1-9BE4-472F1E3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bed14c8864336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D54D8-BD9F-4DA6-AAA4-9EAF0D60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C3: local submodel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BF92C-E39E-4ADA-B91A-26181B1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0514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19F90-867A-457D-B118-114AC43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BB9AA-2A10-481D-BEF1-A1C173D0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Asynchronous FL Under Stragglers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20C0E-7FEC-479E-BC65-D694D6A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7F55F-7D49-4175-AA22-3AE2CA7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3DDA6-5A55-4537-8A7D-3F1045F0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B5879-6B3B-4D6E-807B-15D9A9DE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Asynchronous FL helps only when client completion times are genuinely unequal.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EC970-FC4B-4773-9E6C-C85D8443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6D105-E07A-4CE1-9553-7ED56DE4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66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A6F7B-A147-43BD-B77C-B65181CD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6858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10B1E-EB89-4C67-9C2C-10877537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rPr>
              <a:t>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17653-7037-48DA-9D04-B933248B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963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  |  IID/non-IID × homogeneous/mixed  |  target: 60%  |  FedAvg, FedAsync, FedBuff, FedStaleWeight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C96E9-FD7A-4E08-9A9E-516B9B5F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048000" cy="318135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CFAA1-F7AF-4E76-B6DA-64B3D05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Homogeneous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C5271-0905-41AB-92BE-BED58906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571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1E151-CD5B-4334-8CA1-EF473DEA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IID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78218-B5D0-4588-B392-7273F399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2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FedAvg 651s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DC0D7-7589-474A-8EA2-05099697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671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88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best async 715s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346BF-2D33-4857-B957-E482484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571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00E23-CC6D-44A7-BA68-65E5333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2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Non-IID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31B5A-B6FE-4E8E-A828-7797B4C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2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FedAvg 1320s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175E8-BE00-4420-81C2-4FEF72D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815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88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best async 1486s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80B99-1D80-415F-A96C-17F5340B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Asynchronous FL is slower in the homogeneous case.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B04BA-270D-404B-990A-B5ED7B5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7429500" cy="3181350"/>
          </a:xfrm>
          <a:prstGeom xmlns:a="http://schemas.openxmlformats.org/drawingml/2006/main" prst="roundRect">
            <a:avLst>
              <a:gd name="adj" fmla="val 2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62E47-5AA9-4FAC-8921-5522145B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Mixed topology: time to 60%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EDCAC-5A6F-41DF-852A-5106044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1143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5D023-89DB-4D4A-94A2-BFACBB49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IID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8E9A5-6005-4656-BB96-BB84D03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FedAvg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63A60-280C-4B5E-B08A-F763101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D91DA-6CCE-43D0-ABC0-0C3DBFEC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8560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5B578A-6595-428F-9140-50EFD37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67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2097s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A9492-B2B2-493B-A958-8E39216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FedAsync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67901-2A20-407E-8CDA-6684FD32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1B867D-6652-4C76-9A16-B969079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253909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8D71B-AB13-4599-8486-C2C04FF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622s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465BF7-A0CC-409D-B02C-30678FB5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76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FedBuff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964AC-DDB0-4F8B-B177-3E4C80C2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24300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49C890-D42F-4972-AC8D-477F9E7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24300"/>
            <a:ext cx="464548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1BF173-A69D-4EC7-9ACB-526EF35A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1138s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E14D47-B28D-4668-B75A-D1BACA3F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814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FedSW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237A37-78ED-4A9F-9590-FD980073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29100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3358E5-C1A3-4828-98A0-30EAFB2B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29100"/>
            <a:ext cx="35310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9145F5-9BAC-49B8-8A30-74F293F2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81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865s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31024A-5E64-4324-B3B8-0009B16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1143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56746C-A83B-499B-9F72-D17FD682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194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Non-IID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9A242F-8015-4E5D-9C59-6EB9CC1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670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FedAvg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5C8DE6-6605-44D9-A4FC-C944A04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619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C29021-6305-4C59-87A1-4C2CC77B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558721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519830-EB26-493A-8F1E-D9D910B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67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4043s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CD84D7-0441-4011-8551-1382D2F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FedAsync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370ED3-69FF-43AA-BC40-8E8F0103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1619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B95DF8-6A8A-480A-93B8-92B1DA56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487317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C18791-A6E5-4A77-AEFE-2EA08534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71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1264s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1C7B23-2CC5-40A1-84FD-64089D4B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FedBuff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5E5247-136D-4182-9E65-08C6709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619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7C520A-7A2A-484D-926F-D5BB3179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920659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D0D3EC-A426-4DC8-B039-207DEF2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766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2388s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7007BA-B6BB-4194-B66D-03908730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814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FedSW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52F86-9DDB-4AB8-936F-79DA60E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1619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B80C08-686E-4BFA-BC68-7E28C50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682784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5F6421-0E46-48ED-A837-D8FC4B8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81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00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1771s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C877D4-B218-4B53-915B-767E172B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Mixed topology: asynchronous FL reduces time to target.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EFEF02-DB07-4425-94F9-81E525A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05f4f722149aa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81F11F-33B6-4F04-A68D-FAFC9578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S1: target time and slow-device influence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FF5029-C8C9-43B9-B9CE-CDE2CC2F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1316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E3392-FA24-4DCD-95BE-88C19AA9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2318D-BA34-4E82-8460-453C1DE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2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Improves Time to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E29A0-AD11-49F0-AF60-3D4F2D8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584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C72AE-76D8-4493-9010-52B8A79A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E44BC-476C-4EDD-8FE7-C5B181D1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3CA6C-D88F-46AE-A69D-F9A00148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6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improves target time; the ablation links correction strength to speedup.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C8A0D-96A3-4BAC-BDE5-71D1891C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B0DEC-43B6-43BB-A5B0-2419F643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66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6A0DE-5A19-48B1-BA68-94BCC27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695325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7972B-7740-4E9F-BEA6-955F1295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581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4A23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F04A23"/>
                </a:solidFill>
                <a:latin typeface="Latin Modern Roman 12 Regular"/>
                <a:ea typeface="Latin Modern Roman 12 Regular"/>
                <a:cs typeface="Latin Modern Roman 12 Regular"/>
              </a:rPr>
              <a:t>A1/A2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44E36-C0A6-4C56-B906-19583B41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71675"/>
            <a:ext cx="962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050" b="1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CIFAR-10/Fashion-MNIST  |  IID/non-IID  |  async submodel FL  |  target time + gamma sweep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42A44-9F0D-47AE-BFE4-FE3702D7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286375" cy="3181350"/>
          </a:xfrm>
          <a:prstGeom xmlns:a="http://schemas.openxmlformats.org/drawingml/2006/main" prst="roundRect">
            <a:avLst>
              <a:gd name="adj" fmla="val 2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7BA9D-3D0B-43FF-87ED-58C794C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Time to task-specific target (min)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B5E65-139B-49B7-94E2-142DAB29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3525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71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A2569-DDB2-4F3C-B7A8-1F68FBD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10" b="1">
                <a:solidFill>
                  <a:srgbClr val="FFFFFF"/>
                </a:solidFill>
                <a:latin typeface="Latin Modern Roman 12 Regular"/>
                <a:ea typeface="Latin Modern Roman 12 Regular"/>
                <a:cs typeface="Latin Modern Roman 12 Regular"/>
              </a:rPr>
              <a:t>Task /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DFDA9-4E2F-4D53-B421-316332B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EB7A5-F7D0-408A-8B53-B11A02E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90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1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HeteroFL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E90CA-9157-404C-8DF3-C220FDBC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0B772-1462-44B3-B4C4-044AD441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76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Async-HeteroFL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07B84-92AA-4787-BB20-CD1E4A7A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051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10A3D-34A3-4719-B0BC-42D170D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1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gamma=1.5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B80C9-8958-4112-B9CE-9D22BAF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3525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4AF4F-4006-4E56-8DBC-415F1C42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 IID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55915-3663-4CAE-98D2-4930B9D5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86100"/>
            <a:ext cx="1066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C7947-2C61-49F7-BDA3-D5A7DE8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24.2 ± 2.9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1CF27-58F5-4849-82F1-436E562E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86100"/>
            <a:ext cx="12954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6DD65-3919-41C2-9DC3-C66FE9CF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33.9 ± 16.0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D7488-AB24-4499-BCD1-3939F5E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1143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412ED-26CE-431A-AC62-4D21A8C2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13.7 ± 2.1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AE332-9A2D-4B31-B949-6C7061B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3525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AB369-CA90-4ED2-9439-BED79E6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CIFAR-10 non-IID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24C7AF-630D-4E99-B6F8-2B16D1CC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1066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78C4C-DEC0-4EDE-BD87-0887C02F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rPr>
              <a:t>51.6 ± 19.2†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BE7231-2FBC-4ADF-B155-68C0DF81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12954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43C1CB-8C7C-4183-94F1-E7A5300E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38.2 ± 9.1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02582E-37E0-41CB-A825-7F4CBECA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1143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C273AC-B633-42E1-92FA-6FC3ACE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16.3 ± 0.3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430B3F-EBC4-4076-AA75-8A46CB59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3525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7FDCC0-022E-4862-98A4-2383CCC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Fashion-MNIST IID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CD78EC-8783-4EBA-9B8D-2AF2CED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1066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FC3EA8-D999-48C6-A986-06D3838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81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12.9 ± 1.1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22161B-B5E5-45BE-AD3A-1F72BD4B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86200"/>
            <a:ext cx="12954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E77EE6-0AB7-480C-AB26-9E29A663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11.8 ± 1.4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187782-9B67-417E-84B0-352C1931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1143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66F9DE-936A-4AC7-91D3-F19928E1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6.0 ± 0.7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A1635E-DDCD-4F76-A7C8-5C2400DB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3525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EE1BD8-5495-4A8C-8832-9148219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40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Fashion-MNIST non-IID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5A5941-5D21-44C8-9E6E-735E040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1066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DE3F71-5AED-47AF-8DA6-2A96C749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81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rPr>
              <a:t>22.6 ± 2.8†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43BA3F-0BC2-4BC5-9002-1C9B986A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86250"/>
            <a:ext cx="12954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1AA94B-EB40-49B2-A38F-8313842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F59E0B"/>
                </a:solidFill>
                <a:latin typeface="Latin Modern Roman 12 Regular"/>
                <a:ea typeface="Latin Modern Roman 12 Regular"/>
                <a:cs typeface="Latin Modern Roman 12 Regular"/>
              </a:rPr>
              <a:t>20.5 ± 6.4†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868520-90AF-4278-8555-DA19A4A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1143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C61FB9-F8C1-49A8-88B6-945C632C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815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885" b="1">
                <a:solidFill>
                  <a:srgbClr val="43A896"/>
                </a:solidFill>
                <a:latin typeface="Latin Modern Roman 12 Regular"/>
                <a:ea typeface="Latin Modern Roman 12 Regular"/>
                <a:cs typeface="Latin Modern Roman 12 Regular"/>
              </a:rPr>
              <a:t>11.0 ± 2.3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D9D8BD-42E2-4058-A31C-383C1E3A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Among capacity-matched methods, FedCover reaches target fastest in all four settings.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29D7F2-A91E-4104-A4AF-58C64EA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788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† target not reached in all seeds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96D826-E599-4D20-9FF6-FDB3355E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0300"/>
            <a:ext cx="5286375" cy="3181350"/>
          </a:xfrm>
          <a:prstGeom xmlns:a="http://schemas.openxmlformats.org/drawingml/2006/main" prst="roundRect">
            <a:avLst>
              <a:gd name="adj" fmla="val 2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D04D62-DC06-460B-B73A-847D2970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57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Correction-Strength Ablation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8b57145a6475f">
            <a:extLst>
              <a:ext uri="{96DAC541-7B7A-43D3-8B79-37D633B846F1}">
                <asvg:svgBlip xmlns:asvg="http://schemas.microsoft.com/office/drawing/2016/SVG/main" r:embed="R2b0ba2e17c1548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3114568"/>
            <a:ext cx="5124450" cy="1600414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68DD1A-595E-4E0C-AC7B-7CFF521D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19700"/>
            <a:ext cx="479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Speedup generally grows with correction strength, supporting coverage correction as the mechanism.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7B926F-CF5D-4F8A-8630-EB20218C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0567c36a3401f"/>
          <a:stretch xmlns:a="http://schemas.openxmlformats.org/drawingml/2006/main"/>
        </p:blipFill>
        <p:spPr>
          <a:xfrm xmlns:a="http://schemas.openxmlformats.org/drawingml/2006/main">
            <a:off x="703898" y="6429615"/>
            <a:ext cx="195263" cy="228119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BA28C4-EF21-4C6F-98D1-86CF508A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A1-A2: FedCover target-time 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0CFD5C-A0B2-4607-8E33-2680787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975" b="0">
                <a:solidFill>
                  <a:srgbClr val="5B6472"/>
                </a:solidFill>
                <a:latin typeface="Latin Modern Roman 12 Regular"/>
                <a:ea typeface="Latin Modern Roman 12 Regular"/>
                <a:cs typeface="Latin Modern Roman 12 Regula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71316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1D1E5-455C-4967-AB25-1E3117F4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45AF8-89FB-4416-84AE-DC30AFC4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2400" b="1">
                <a:solidFill>
                  <a:srgbClr val="FFFFFF"/>
                </a:solidFill>
                <a:latin typeface="Latin Modern Roman 12 Regular"/>
                <a:ea typeface="Latin Modern Roman 12 Regular"/>
                <a:cs typeface="Latin Modern Roman 12 Regular"/>
              </a:rPr>
              <a:t>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34B7F-3FED-4B04-96A8-199F1AC5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"/>
            <a:ext cx="100965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75C8-5378-4619-88C7-7FD29D02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56EF5-C1FB-43BB-8876-AC252512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28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Heterogeneous FL must be evaluated through both model performance and deployment behaviour.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A4EA2-AAD8-4970-9545-6B024DC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71628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2B8D0-3D1D-4EFD-9B82-01D85027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8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32C07-710B-46B8-A962-E4948935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Deployment-aware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98BE8-A161-4C59-8B82-4799778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1450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63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Compute and straggler-induced heterogeneity create trade-offs between wall-clock time, participation, submodel quality, and fairness.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2FB51-DDE9-4200-968F-42A93FA3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1628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D2AFE-77C7-443D-9ED6-62181067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6E0F8-F563-4664-91C3-7C86BC3B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fedctl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17F7E-307E-4558-BCE9-305D563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63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Repeatable Flower-to-Nomad runs preserve run/deploy configs, typed placement, network profiles, logs, metrics, and artefacts.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DD9A1-D470-4746-9BF9-67A1682A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71628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A2EB0-6259-4B57-BF45-31AC4DD7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ED3E1-BA6D-4028-9416-C447F3B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350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FedCover contribution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DDA7C-8564-4D37-B4FA-5B3706C2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63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Async submodel FL is feasible, but stale partial replies make parameter coverage an aggregation variable; capped inverse coverage improves time to target.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48FE2-B21A-4843-8736-A0E072E7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2381250" cy="29718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0DBC9-13BF-4A48-A21F-44512F46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575" b="1">
                <a:solidFill>
                  <a:srgbClr val="071F46"/>
                </a:solidFill>
                <a:latin typeface="Latin Modern Roman 12 Regular"/>
                <a:ea typeface="Latin Modern Roman 12 Regular"/>
                <a:cs typeface="Latin Modern Roman 12 Regular"/>
              </a:rPr>
              <a:t>Future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68BC2-5E4B-4609-90DE-4182D428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1FEDA-69B7-4BF9-8C6F-5E346F77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Broader workloads, devices, and runtimes.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599FE-8A3E-4CB5-85AD-197D366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28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95F17-0B7C-440F-9A97-4EEC5CD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52725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Representation-aware async training.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1BCE0-8835-4738-ABB3-F936E9D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343AC-7FD8-43DC-BC2F-6DDA91A2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Hardware-aware sparse submodel execution.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6761D-75C0-459A-8ADA-E439080D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24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A7BAE-2670-442B-8ECE-FAF55D2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48075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defRPr>
            </a:pPr>
            <a:r>
              <a:rPr sz="1102" b="0">
                <a:solidFill>
                  <a:srgbClr val="111827"/>
                </a:solidFill>
                <a:latin typeface="Latin Modern Roman 12 Regular"/>
                <a:ea typeface="Latin Modern Roman 12 Regular"/>
                <a:cs typeface="Latin Modern Roman 12 Regular"/>
              </a:rPr>
              <a:t>Trace-driven straggler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F626B-DF7E-42FD-9ECB-ACCB411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00b6b7da04196"/>
          <a:stretch xmlns:a="http://schemas.openxmlformats.org/drawingml/2006/main"/>
        </p:blipFill>
        <p:spPr>
          <a:xfrm xmlns:a="http://schemas.openxmlformats.org/drawingml/2006/main">
            <a:off x="2637445" y="5486400"/>
            <a:ext cx="554410" cy="6477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9a88553994085"/>
          <a:stretch xmlns:a="http://schemas.openxmlformats.org/drawingml/2006/main"/>
        </p:blipFill>
        <p:spPr>
          <a:xfrm xmlns:a="http://schemas.openxmlformats.org/drawingml/2006/main">
            <a:off x="4343171" y="5486400"/>
            <a:ext cx="762458" cy="6477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ae137bd894e4e"/>
          <a:stretch xmlns:a="http://schemas.openxmlformats.org/drawingml/2006/main"/>
        </p:blipFill>
        <p:spPr>
          <a:xfrm xmlns:a="http://schemas.openxmlformats.org/drawingml/2006/main">
            <a:off x="6166498" y="5486400"/>
            <a:ext cx="735305" cy="6477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85afdbfe14451"/>
          <a:stretch xmlns:a="http://schemas.openxmlformats.org/drawingml/2006/main"/>
        </p:blipFill>
        <p:spPr>
          <a:xfrm xmlns:a="http://schemas.openxmlformats.org/drawingml/2006/main">
            <a:off x="8020369" y="5486400"/>
            <a:ext cx="647063" cy="64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78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2026-06-12T11:39:00.9870000Z</dcterms:created>
  <dcterms:modified xsi:type="dcterms:W3CDTF">2026-06-12T11:39:00.9880000Z</dcterms:modified>
</coreProperties>
</file>