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30f9b587121402d" /><Relationship Type="http://schemas.openxmlformats.org/officeDocument/2006/relationships/extended-properties" Target="/docProps/app.xml" Id="R78c20d16d9fe42d4" /><Relationship Type="http://schemas.openxmlformats.org/officeDocument/2006/relationships/officeDocument" Target="/ppt/presentation.xml" Id="Rc80ef94df036401d" /></Relationships>
</file>

<file path=ppt/presentation.xml><?xml version="1.0" encoding="utf-8"?>
<p:presentation xmlns:p="http://schemas.openxmlformats.org/presentationml/2006/main">
  <p:sldMasterIdLst>
    <p:sldMasterId xmlns:r="http://schemas.openxmlformats.org/officeDocument/2006/relationships" id="2147483648" r:id="Rdd7551eae3d8449a"/>
  </p:sldMasterIdLst>
  <p:notesMasterIdLst>
    <p:notesMasterId xmlns:r="http://schemas.openxmlformats.org/officeDocument/2006/relationships" r:id="Rf7cd9aa19aa54168"/>
  </p:notesMasterIdLst>
  <p:sldIdLst>
    <p:sldId xmlns:r="http://schemas.openxmlformats.org/officeDocument/2006/relationships" id="256" r:id="R57fdb615fbd54f01"/>
    <p:sldId xmlns:r="http://schemas.openxmlformats.org/officeDocument/2006/relationships" id="257" r:id="R11cf5d9194554151"/>
    <p:sldId xmlns:r="http://schemas.openxmlformats.org/officeDocument/2006/relationships" id="258" r:id="R5fffff3a8deb46e6"/>
    <p:sldId xmlns:r="http://schemas.openxmlformats.org/officeDocument/2006/relationships" id="259" r:id="R445b11fb45e44fc8"/>
    <p:sldId xmlns:r="http://schemas.openxmlformats.org/officeDocument/2006/relationships" id="260" r:id="R4c6081a0b8494424"/>
    <p:sldId xmlns:r="http://schemas.openxmlformats.org/officeDocument/2006/relationships" id="261" r:id="R06df745c6c0c4ac0"/>
    <p:sldId xmlns:r="http://schemas.openxmlformats.org/officeDocument/2006/relationships" id="262" r:id="R526ca71f14c74b58"/>
    <p:sldId xmlns:r="http://schemas.openxmlformats.org/officeDocument/2006/relationships" id="263" r:id="R86667f22052944e5"/>
    <p:sldId xmlns:r="http://schemas.openxmlformats.org/officeDocument/2006/relationships" id="264" r:id="R0ba8dd89ec2d4509"/>
    <p:sldId xmlns:r="http://schemas.openxmlformats.org/officeDocument/2006/relationships" id="265" r:id="R4c7b4a4ff70b4c3b"/>
    <p:sldId xmlns:r="http://schemas.openxmlformats.org/officeDocument/2006/relationships" id="266" r:id="R500b94f527734d89"/>
    <p:sldId xmlns:r="http://schemas.openxmlformats.org/officeDocument/2006/relationships" id="267" r:id="R51dffa48253246aa"/>
    <p:sldId xmlns:r="http://schemas.openxmlformats.org/officeDocument/2006/relationships" id="268" r:id="Rf45215555f604029"/>
    <p:sldId xmlns:r="http://schemas.openxmlformats.org/officeDocument/2006/relationships" id="269" r:id="Rcd249eaa943b4654"/>
    <p:sldId xmlns:r="http://schemas.openxmlformats.org/officeDocument/2006/relationships" id="270" r:id="R78ea4fe643be43a5"/>
    <p:sldId xmlns:r="http://schemas.openxmlformats.org/officeDocument/2006/relationships" id="271" r:id="R22d57ca07d424364"/>
    <p:sldId xmlns:r="http://schemas.openxmlformats.org/officeDocument/2006/relationships" id="272" r:id="R4d659fb7f00e448e"/>
    <p:sldId xmlns:r="http://schemas.openxmlformats.org/officeDocument/2006/relationships" id="273" r:id="Re06318796543416e"/>
    <p:sldId xmlns:r="http://schemas.openxmlformats.org/officeDocument/2006/relationships" id="274" r:id="Rc867c2af0b434fdd"/>
    <p:sldId xmlns:r="http://schemas.openxmlformats.org/officeDocument/2006/relationships" id="275" r:id="R6d175c48b767412d"/>
    <p:sldId xmlns:r="http://schemas.openxmlformats.org/officeDocument/2006/relationships" id="276" r:id="R9b3293ca05784be3"/>
    <p:sldId xmlns:r="http://schemas.openxmlformats.org/officeDocument/2006/relationships" id="277" r:id="R2c84b924b20148ef"/>
    <p:sldId xmlns:r="http://schemas.openxmlformats.org/officeDocument/2006/relationships" id="278" r:id="Rf62e4da03a5d43e4"/>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30ea734442e43d2" /><Relationship Type="http://schemas.openxmlformats.org/officeDocument/2006/relationships/slideMaster" Target="/ppt/slideMasters/slideMaster1.xml" Id="Rdd7551eae3d8449a" /><Relationship Type="http://schemas.openxmlformats.org/officeDocument/2006/relationships/notesMaster" Target="/ppt/notesMasters/notesMaster1.xml" Id="Rf7cd9aa19aa54168" /><Relationship Type="http://schemas.openxmlformats.org/officeDocument/2006/relationships/presProps" Target="/ppt/presProps.xml" Id="Rf0fab806e99d4e37" /><Relationship Type="http://schemas.openxmlformats.org/officeDocument/2006/relationships/viewProps" Target="/ppt/viewProps.xml" Id="R7cb570d516884d59" /><Relationship Type="http://schemas.openxmlformats.org/officeDocument/2006/relationships/tableStyles" Target="/ppt/tableStyles.xml" Id="R6c1ef2ff948f4a53" /><Relationship Type="http://schemas.openxmlformats.org/officeDocument/2006/relationships/slide" Target="/ppt/slides/slide1.xml" Id="R57fdb615fbd54f01" /><Relationship Type="http://schemas.openxmlformats.org/officeDocument/2006/relationships/slide" Target="/ppt/slides/slide2.xml" Id="R11cf5d9194554151" /><Relationship Type="http://schemas.openxmlformats.org/officeDocument/2006/relationships/slide" Target="/ppt/slides/slide3.xml" Id="R5fffff3a8deb46e6" /><Relationship Type="http://schemas.openxmlformats.org/officeDocument/2006/relationships/slide" Target="/ppt/slides/slide4.xml" Id="R445b11fb45e44fc8" /><Relationship Type="http://schemas.openxmlformats.org/officeDocument/2006/relationships/slide" Target="/ppt/slides/slide5.xml" Id="R4c6081a0b8494424" /><Relationship Type="http://schemas.openxmlformats.org/officeDocument/2006/relationships/slide" Target="/ppt/slides/slide6.xml" Id="R06df745c6c0c4ac0" /><Relationship Type="http://schemas.openxmlformats.org/officeDocument/2006/relationships/slide" Target="/ppt/slides/slide7.xml" Id="R526ca71f14c74b58" /><Relationship Type="http://schemas.openxmlformats.org/officeDocument/2006/relationships/slide" Target="/ppt/slides/slide8.xml" Id="R86667f22052944e5" /><Relationship Type="http://schemas.openxmlformats.org/officeDocument/2006/relationships/slide" Target="/ppt/slides/slide9.xml" Id="R0ba8dd89ec2d4509" /><Relationship Type="http://schemas.openxmlformats.org/officeDocument/2006/relationships/slide" Target="/ppt/slides/slide10.xml" Id="R4c7b4a4ff70b4c3b" /><Relationship Type="http://schemas.openxmlformats.org/officeDocument/2006/relationships/slide" Target="/ppt/slides/slide11.xml" Id="R500b94f527734d89" /><Relationship Type="http://schemas.openxmlformats.org/officeDocument/2006/relationships/slide" Target="/ppt/slides/slide12.xml" Id="R51dffa48253246aa" /><Relationship Type="http://schemas.openxmlformats.org/officeDocument/2006/relationships/slide" Target="/ppt/slides/slide13.xml" Id="Rf45215555f604029" /><Relationship Type="http://schemas.openxmlformats.org/officeDocument/2006/relationships/slide" Target="/ppt/slides/slide14.xml" Id="Rcd249eaa943b4654" /><Relationship Type="http://schemas.openxmlformats.org/officeDocument/2006/relationships/slide" Target="/ppt/slides/slide15.xml" Id="R78ea4fe643be43a5" /><Relationship Type="http://schemas.openxmlformats.org/officeDocument/2006/relationships/slide" Target="/ppt/slides/slide16.xml" Id="R22d57ca07d424364" /><Relationship Type="http://schemas.openxmlformats.org/officeDocument/2006/relationships/slide" Target="/ppt/slides/slide17.xml" Id="R4d659fb7f00e448e" /><Relationship Type="http://schemas.openxmlformats.org/officeDocument/2006/relationships/slide" Target="/ppt/slides/slide18.xml" Id="Re06318796543416e" /><Relationship Type="http://schemas.openxmlformats.org/officeDocument/2006/relationships/slide" Target="/ppt/slides/slide19.xml" Id="Rc867c2af0b434fdd" /><Relationship Type="http://schemas.openxmlformats.org/officeDocument/2006/relationships/slide" Target="/ppt/slides/slide20.xml" Id="R6d175c48b767412d" /><Relationship Type="http://schemas.openxmlformats.org/officeDocument/2006/relationships/slide" Target="/ppt/slides/slide21.xml" Id="R9b3293ca05784be3" /><Relationship Type="http://schemas.openxmlformats.org/officeDocument/2006/relationships/slide" Target="/ppt/slides/slide22.xml" Id="R2c84b924b20148ef" /><Relationship Type="http://schemas.openxmlformats.org/officeDocument/2006/relationships/slide" Target="/ppt/slides/slide23.xml" Id="Rf62e4da03a5d43e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d14843a18b649b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17bad9abfba4b2a" /><Relationship Type="http://schemas.openxmlformats.org/officeDocument/2006/relationships/notesMaster" Target="/ppt/notesMasters/notesMaster1.xml" Id="R5b0a8e3725b542a0" /></Relationships>
</file>

<file path=ppt/notesSlides/_rels/notesSlide2.xml.rels>&#65279;<?xml version="1.0" encoding="utf-8"?><Relationships xmlns="http://schemas.openxmlformats.org/package/2006/relationships"><Relationship Type="http://schemas.openxmlformats.org/officeDocument/2006/relationships/slide" Target="/ppt/slides/slide2.xml" Id="R238b89f530d6498c" /><Relationship Type="http://schemas.openxmlformats.org/officeDocument/2006/relationships/notesMaster" Target="/ppt/notesMasters/notesMaster1.xml" Id="R5e12929797f44d6b" /></Relationships>
</file>

<file path=ppt/notesSlides/_rels/notesSlide3.xml.rels>&#65279;<?xml version="1.0" encoding="utf-8"?><Relationships xmlns="http://schemas.openxmlformats.org/package/2006/relationships"><Relationship Type="http://schemas.openxmlformats.org/officeDocument/2006/relationships/slide" Target="/ppt/slides/slide3.xml" Id="R809837a573364a8e" /><Relationship Type="http://schemas.openxmlformats.org/officeDocument/2006/relationships/notesMaster" Target="/ppt/notesMasters/notesMaster1.xml" Id="R43b7413e475c4bbe" /></Relationships>
</file>

<file path=ppt/notesSlides/_rels/notesSlide4.xml.rels>&#65279;<?xml version="1.0" encoding="utf-8"?><Relationships xmlns="http://schemas.openxmlformats.org/package/2006/relationships"><Relationship Type="http://schemas.openxmlformats.org/officeDocument/2006/relationships/slide" Target="/ppt/slides/slide4.xml" Id="R0cb08f1e133044e7" /><Relationship Type="http://schemas.openxmlformats.org/officeDocument/2006/relationships/notesMaster" Target="/ppt/notesMasters/notesMaster1.xml" Id="R006d71a28039442d" /></Relationships>
</file>

<file path=ppt/notesSlides/_rels/notesSlide5.xml.rels>&#65279;<?xml version="1.0" encoding="utf-8"?><Relationships xmlns="http://schemas.openxmlformats.org/package/2006/relationships"><Relationship Type="http://schemas.openxmlformats.org/officeDocument/2006/relationships/slide" Target="/ppt/slides/slide5.xml" Id="R1fbe4696e2944500" /><Relationship Type="http://schemas.openxmlformats.org/officeDocument/2006/relationships/notesMaster" Target="/ppt/notesMasters/notesMaster1.xml" Id="Rb2879c8c1e424825" /></Relationships>
</file>

<file path=ppt/notesSlides/_rels/notesSlide6.xml.rels>&#65279;<?xml version="1.0" encoding="utf-8"?><Relationships xmlns="http://schemas.openxmlformats.org/package/2006/relationships"><Relationship Type="http://schemas.openxmlformats.org/officeDocument/2006/relationships/slide" Target="/ppt/slides/slide6.xml" Id="Rc875174d16fa4cb1" /><Relationship Type="http://schemas.openxmlformats.org/officeDocument/2006/relationships/notesMaster" Target="/ppt/notesMasters/notesMaster1.xml" Id="Ra1895f66d916443a" /></Relationships>
</file>

<file path=ppt/notesSlides/_rels/notesSlide7.xml.rels>&#65279;<?xml version="1.0" encoding="utf-8"?><Relationships xmlns="http://schemas.openxmlformats.org/package/2006/relationships"><Relationship Type="http://schemas.openxmlformats.org/officeDocument/2006/relationships/slide" Target="/ppt/slides/slide7.xml" Id="R5dc4440c564948bf" /><Relationship Type="http://schemas.openxmlformats.org/officeDocument/2006/relationships/notesMaster" Target="/ppt/notesMasters/notesMaster1.xml" Id="R67193a30cfc44e5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aef067e538f4a50" /><Relationship Type="http://schemas.openxmlformats.org/officeDocument/2006/relationships/notesMaster" Target="/ppt/notesMasters/notesMaster1.xml" Id="Rfcc3453657174c9d" /></Relationships>
</file>

<file path=ppt/notesSlides/_rels/notesSlide9.xml.rels>&#65279;<?xml version="1.0" encoding="utf-8"?><Relationships xmlns="http://schemas.openxmlformats.org/package/2006/relationships"><Relationship Type="http://schemas.openxmlformats.org/officeDocument/2006/relationships/slide" Target="/ppt/slides/slide9.xml" Id="R9163c8d9be954751" /><Relationship Type="http://schemas.openxmlformats.org/officeDocument/2006/relationships/notesMaster" Target="/ppt/notesMasters/notesMaster1.xml" Id="R5da09e711f194ee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9b9d91d7237449c" /><Relationship Type="http://schemas.openxmlformats.org/officeDocument/2006/relationships/notesMaster" Target="/ppt/notesMasters/notesMaster1.xml" Id="R02efe42d34ef4d9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4f6c44d769f49ed" /><Relationship Type="http://schemas.openxmlformats.org/officeDocument/2006/relationships/notesMaster" Target="/ppt/notesMasters/notesMaster1.xml" Id="R0ade474777824c4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13a8e7bce8549e8" /><Relationship Type="http://schemas.openxmlformats.org/officeDocument/2006/relationships/notesMaster" Target="/ppt/notesMasters/notesMaster1.xml" Id="R710b85e58be540a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8bb698fc3c3426e" /><Relationship Type="http://schemas.openxmlformats.org/officeDocument/2006/relationships/notesMaster" Target="/ppt/notesMasters/notesMaster1.xml" Id="R3d58dbc821ef473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fbd35112e2b4253" /><Relationship Type="http://schemas.openxmlformats.org/officeDocument/2006/relationships/notesMaster" Target="/ppt/notesMasters/notesMaster1.xml" Id="R394bd149677e4d0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5a7da976c7f4b1b" /><Relationship Type="http://schemas.openxmlformats.org/officeDocument/2006/relationships/notesMaster" Target="/ppt/notesMasters/notesMaster1.xml" Id="R8b28eae8a83c45a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a3fed7fb5a94492" /><Relationship Type="http://schemas.openxmlformats.org/officeDocument/2006/relationships/notesMaster" Target="/ppt/notesMasters/notesMaster1.xml" Id="R3cef7a511f2f4a0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7525a7a5f184372" /><Relationship Type="http://schemas.openxmlformats.org/officeDocument/2006/relationships/notesMaster" Target="/ppt/notesMasters/notesMaster1.xml" Id="R3334fdc232b749a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49809fa0c0b46df" /><Relationship Type="http://schemas.openxmlformats.org/officeDocument/2006/relationships/notesMaster" Target="/ppt/notesMasters/notesMaster1.xml" Id="R0775c872e99942d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edca40095f04309" /><Relationship Type="http://schemas.openxmlformats.org/officeDocument/2006/relationships/notesMaster" Target="/ppt/notesMasters/notesMaster1.xml" Id="R1cdbe4b0201342e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61679ffc9fb4628" /><Relationship Type="http://schemas.openxmlformats.org/officeDocument/2006/relationships/notesMaster" Target="/ppt/notesMasters/notesMaster1.xml" Id="R7599cfa0f8bb4e7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f8129a28a2d4f82" /><Relationship Type="http://schemas.openxmlformats.org/officeDocument/2006/relationships/notesMaster" Target="/ppt/notesMasters/notesMaster1.xml" Id="R0b177bec87764af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3decc52ff9140f8" /><Relationship Type="http://schemas.openxmlformats.org/officeDocument/2006/relationships/notesMaster" Target="/ppt/notesMasters/notesMaster1.xml" Id="Rcce56c6a49c94ad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e7247bc2e974d7c" /><Relationship Type="http://schemas.openxmlformats.org/officeDocument/2006/relationships/notesMaster" Target="/ppt/notesMasters/notesMaster1.xml" Id="Rae605749ddb4489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0:20]</a:t>
            </a:r>
          </a:p>
          <a:p xmlns:a="http://schemas.openxmlformats.org/drawingml/2006/main">
            <a:r>
              <a:t>Motivation first: deployed FL clients differ in compute, timing, and influence, not just data. I built fedctl to evaluate this on real hardware. Using fedctl, I study compute and straggler heterogeneity across submodel FL and asynchronous FL. Then, at their intersection, I propose FedCover: a coverage-aware aggregation algorithm for asynchronous submodel FL.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0:45]</a:t>
            </a:r>
          </a:p>
          <a:p xmlns:a="http://schemas.openxmlformats.org/drawingml/2006/main">
            <a:r>
              <a:t>The motivating failure mode is simple. A heterogeneous FL method can look good in final accuracy while failing in the deployment setting it is supposed to help. [emphasize] Homogeneous hardware removes unequal completion times. Simplified delay models add waiting time, but they do not capture processor speed, memory pressure, or runtime bottlenecks. Simulation can also hide that slow clients are excluded, or that fast clients dominate the aggregate. So the question is not just, did we reach a score? It is: who participated, how long did it take, and which client updates actually shaped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0:40]</a:t>
            </a:r>
          </a:p>
          <a:p xmlns:a="http://schemas.openxmlformats.org/drawingml/2006/main">
            <a:r>
              <a:t>That leads to the two pressures and their intersection on this slide. Compute heterogeneity is about local speed and memory: weaker clients may need smaller models or more time. Straggler-induced heterogeneity is about completion time and staleness: when does waiting for slow clients hurt, and when does asynchrony help? The third case combines the two: asynchronous submodel FL, where updates arrive at different times and cover different parts of the model. This map is the structure of the talk: each axis gets methods, metrics, and 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0:35]</a:t>
            </a:r>
          </a:p>
          <a:p xmlns:a="http://schemas.openxmlformats.org/drawingml/2006/main">
            <a:r>
              <a:t>Before the system results, let me anchor the method families. [show figure] On the left, submodel FL changes what a weak client trains: HeteroFL uses fixed nested submodels, FedRolex rotates the active slice, and FIARSE selects importance-aware sparse masks. On the right, asynchronous FL changes when an update counts: immediate updates, buffered updates, or stale-weighted buffered updates. The key observation is that these two families interact. Once updates are both stale and partial, parameter coverage becomes part of the aggregation problem.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0:55]</a:t>
            </a:r>
          </a:p>
          <a:p xmlns:a="http://schemas.openxmlformats.org/drawingml/2006/main">
            <a:r>
              <a:t>This is the intuition behind FedCover. [show figure] The left panel shows the mismatch: an asynchronous buffer can contain several accepted replies, but not every reply covers every parameter block. If we simply average the buffer, some parameters receive a much weaker effective update than others. I will not read the equations, but there are three quantities. First, each reply has a buffer weight from the stale-weighted async rule. Second, each parameter has a coverage mass: how much of that accepted buffer actually touches it. Third, FedCover applies a capped inverse-coverage gain. [emphasize] It only rescales deltas that are present; it does not impute missing updates.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0:40]</a:t>
            </a:r>
          </a:p>
          <a:p xmlns:a="http://schemas.openxmlformats.org/drawingml/2006/main">
            <a:r>
              <a:t>To test these questions, I needed the deployment itself to be reproducible. This is where fedctl fits. A user starts with a normal Flower project; fedctl packages it, submits it to a queue, renders the Nomad jobs, and preserves the execution context. [show figure] The important point is not that this launches jobs. The important point is that the run record keeps the effective configs, placement, logs, W&amp;B metrics, Nomad state, and artifacts. That makes deployment behaviour inspectable evidence rather than background noise.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0:30]</a:t>
            </a:r>
          </a:p>
          <a:p xmlns:a="http://schemas.openxmlformats.org/drawingml/2006/main">
            <a:r>
              <a:t>This slide shows the key control surface. Typed placement decides which logical clients run on rpi4 or rpi5 devices, and the resulting metrics are device-labelled. Network impairment is also a deployment-side profile, applied through tc/netem before the normal Flower runtime starts. [emphasize] The learning code does not change. That separation is what lets me treat hardware and network conditions as experimental variables.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0:35]</a:t>
            </a:r>
          </a:p>
          <a:p xmlns:a="http://schemas.openxmlformats.org/drawingml/2006/main">
            <a:r>
              <a:t>Now to the evidence. [show table] Read this table as a deployment choice, not as a leaderboard. Case A is fast because it excludes the weak rpi4 clients and only uses five of fifteen data partitions. Case B includes all clients with full models, but it takes 137.5 minutes. The reduced-rate cases keep all partitions while making the rpi4 clients feasible. HeteroFL and FedRolex recover time; FIARSE recovers more quality. The point is that weak-client inclusion is itself an experimental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0:30]</a:t>
            </a:r>
          </a:p>
          <a:p xmlns:a="http://schemas.openxmlformats.org/drawingml/2006/main">
            <a:r>
              <a:t>The next result asks whether there is one best submodel method. [show figure] The answer is no. The x-axis is speedup over FedAvg; the y-axis is the change in global score. FIARSE gives stronger deployable submodel quality, especially for smaller client models. HeteroFL and FedRolex more clearly improve wall-clock time on the image tasks. So the claim is deliberately narrower: these methods expose a quality-speed frontier, not a single winner.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0:35]</a:t>
            </a:r>
          </a:p>
          <a:p xmlns:a="http://schemas.openxmlformats.org/drawingml/2006/main">
            <a:r>
              <a:t>This slide asks what a weak client actually receives. For this diagnostic, I take the final server model, extract each rate-specific submodel, and evaluate it on each client's local evaluation partition, not just on a central test set. [show figure] The CIFAR-10 table is the main non-IID comparison: FIARSE keeps the smaller submodels near the 60 percent band, while HeteroFL and FedRolex lose more local utility at low rates. The distributions on the right show the same issue at client level: CIFAR-10 has broader, left-shifted low-rate behaviour for the nested methods, and California Housing still has weak lower tails. [emphasize] So the point is client-side utility: a submodel method is not enough if the small models deployed to weak clients are not usable.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0:40]</a:t>
            </a:r>
          </a:p>
          <a:p xmlns:a="http://schemas.openxmlformats.org/drawingml/2006/main">
            <a:r>
              <a:t>For stragglers, the control is the most important part of the slide. [show figure] In the all-rpi5 condition, where clients are much more similar, synchronous FedAvg remains a strong baseline. So asynchrony is not a free improvement. In the mixed rpi4/rpi5 condition, the slow devices stretch synchronous rounds, and FedAsync reaches the 60 percent target fastest. But representation is separate from speed: FedStaleWeight gives much higher rpi4 aggregate weight than FedAsync. That is the trade-off.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0:30]</a:t>
            </a:r>
          </a:p>
          <a:p xmlns:a="http://schemas.openxmlformats.org/drawingml/2006/main">
            <a:r>
              <a:t>This slide is a limitation checkpoint. The network stressor mainly increases wall-clock time and changes arrival order. The fairness result is more revealing. FedStaleWeight raises applied rpi4 aggregate weight to about 31 percent, but accepted-update share is still only 15.7 percent, and rpi4-held class accuracy remains weak. [emphasize] Weighting can change influence after an update arrives. It cannot make slow clients arrive more often, and it cannot solve device-correlated skew by itself.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0:45]</a:t>
            </a:r>
          </a:p>
          <a:p xmlns:a="http://schemas.openxmlformats.org/drawingml/2006/main">
            <a:r>
              <a:t>Now we combine submodels and asynchrony. [show table] The table is the main result: Async-HeteroFL is feasible, but target attainment is fragile. FedCover improves it directly: CIFAR-10 drops from 33.9 to 13.7 minutes in IID, and 38.2 to 16.3 in non-IID. Fashion-MNIST follows the same pattern. The plot on the right is the mechanism check: after warm-up, every gamma setting gives positive speedup, and gamma 1.5 is strongest under non-IID data. So coverage correction improves target time, not just early training dynamics.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0:30]</a:t>
            </a:r>
          </a:p>
          <a:p xmlns:a="http://schemas.openxmlformats.org/drawingml/2006/main">
            <a:r>
              <a:t>I will close with three takeaways. [pause] First, heterogeneous FL needs deployment-aware evaluation: time, participation, submodel quality, and fairness can move separately from final accuracy. Second, fedctl makes those deployment conditions repeatable and inspectable for Flower-on-Nomad experiments. Third, FedCover shows that in asynchronous submodel FL, parameter coverage is an aggregation variable, not just a bookkeeping detail. The next step is to broaden the workloads, add trace replay, and connect these systems controls to representation-aware training.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divider. Use only when asked for detailed systems or diagnostic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for questions about the physical testbed, run/deploy config split, and why deployment conditions are controlled variables.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for questions about how fedctl shares the cluster and gates capacity before Nomad work starts.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for questions about reproducibility. Run config is Flower-facing; deploy config is fedctl execution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for how rpi4/rpi5 placement becomes evaluation metadata.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for netem directionality, selector resolution, and wrapper enforcement.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for local submodel quality and timing diagnostics.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for representation questions: weighting changes influence after arrival, not participation frequency.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for gamma-specific questions. The kappa labels are mean observed coverage gain.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57b9d6ce2aa463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55aaadde7ee4b84" /><Relationship Type="http://schemas.openxmlformats.org/officeDocument/2006/relationships/slideLayout" Target="/ppt/slideLayouts/slideLayout1.xml" Id="R7bac7c9b19da439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ac7c9b19da439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6c4fc16f89749ef" /><Relationship Type="http://schemas.openxmlformats.org/officeDocument/2006/relationships/image" Target="/ppt/media/image.png" Id="R84da5df4cf434118" /><Relationship Type="http://schemas.openxmlformats.org/officeDocument/2006/relationships/image" Target="/ppt/media/image2.png" Id="R7ae98e7c527346a0" /><Relationship Type="http://schemas.openxmlformats.org/officeDocument/2006/relationships/image" Target="/ppt/media/image3.png" Id="R53450b6c07064deb" /><Relationship Type="http://schemas.openxmlformats.org/officeDocument/2006/relationships/image" Target="/ppt/media/image4.png" Id="R509f17372f3e462b" /><Relationship Type="http://schemas.openxmlformats.org/officeDocument/2006/relationships/image" Target="/ppt/media/image5.png" Id="R4da37c9193394406" /><Relationship Type="http://schemas.openxmlformats.org/officeDocument/2006/relationships/notesSlide" Target="/ppt/notesSlides/notesSlide1.xml" Id="Rb8b35ea52e1345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2a89bc07faf4240" /><Relationship Type="http://schemas.openxmlformats.org/officeDocument/2006/relationships/image" Target="/ppt/media/image6.png" Id="Rf8a57eeda7334f49" /><Relationship Type="http://schemas.openxmlformats.org/officeDocument/2006/relationships/notesSlide" Target="/ppt/notesSlides/notesSlide2.xml" Id="R7327732e22b541c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c582783a99346d3" /><Relationship Type="http://schemas.openxmlformats.org/officeDocument/2006/relationships/image" Target="/ppt/media/image7.png" Id="R48703ec0aea54258" /><Relationship Type="http://schemas.openxmlformats.org/officeDocument/2006/relationships/notesSlide" Target="/ppt/notesSlides/notesSlide3.xml" Id="R5bb55b5cd371458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a80e77df12d4801" /><Relationship Type="http://schemas.openxmlformats.org/officeDocument/2006/relationships/image" Target="/ppt/media/image8.png" Id="Rb0b83d8ffc0f4aa8" /><Relationship Type="http://schemas.openxmlformats.org/officeDocument/2006/relationships/image" Target="/ppt/media/image.svg" Id="Ra75fe494ed9c4656" /><Relationship Type="http://schemas.openxmlformats.org/officeDocument/2006/relationships/image" Target="/ppt/media/image9.png" Id="Rec5189d629df4443" /><Relationship Type="http://schemas.openxmlformats.org/officeDocument/2006/relationships/image" Target="/ppt/media/image2.svg" Id="R27211a93d03b4a41" /><Relationship Type="http://schemas.openxmlformats.org/officeDocument/2006/relationships/image" Target="/ppt/media/image10.png" Id="R8974322edf574bb3" /><Relationship Type="http://schemas.openxmlformats.org/officeDocument/2006/relationships/notesSlide" Target="/ppt/notesSlides/notesSlide4.xml" Id="R5bff30f5100b45e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b1251ca0ed04d5f" /><Relationship Type="http://schemas.openxmlformats.org/officeDocument/2006/relationships/image" Target="/ppt/media/image11.png" Id="Ref6893971893415f" /><Relationship Type="http://schemas.openxmlformats.org/officeDocument/2006/relationships/image" Target="/ppt/media/image3.svg" Id="R3640417f667d4403" /><Relationship Type="http://schemas.openxmlformats.org/officeDocument/2006/relationships/image" Target="/ppt/media/image12.png" Id="R2a6d25f8b8f6485c" /><Relationship Type="http://schemas.openxmlformats.org/officeDocument/2006/relationships/image" Target="/ppt/media/image4.svg" Id="Re9402333bf1d414d" /><Relationship Type="http://schemas.openxmlformats.org/officeDocument/2006/relationships/image" Target="/ppt/media/image13.png" Id="R2b2172078cf74741" /><Relationship Type="http://schemas.openxmlformats.org/officeDocument/2006/relationships/image" Target="/ppt/media/image5.svg" Id="R8bcf77e757b14989" /><Relationship Type="http://schemas.openxmlformats.org/officeDocument/2006/relationships/image" Target="/ppt/media/image14.png" Id="R1154b382e107433a" /><Relationship Type="http://schemas.openxmlformats.org/officeDocument/2006/relationships/image" Target="/ppt/media/image6.svg" Id="R54594b75d7f34d3e" /><Relationship Type="http://schemas.openxmlformats.org/officeDocument/2006/relationships/image" Target="/ppt/media/image15.png" Id="Rb3d83197fa004307" /><Relationship Type="http://schemas.openxmlformats.org/officeDocument/2006/relationships/image" Target="/ppt/media/image7.svg" Id="R92dd04bef58d4278" /><Relationship Type="http://schemas.openxmlformats.org/officeDocument/2006/relationships/image" Target="/ppt/media/image16.png" Id="R651f8399904240ba" /><Relationship Type="http://schemas.openxmlformats.org/officeDocument/2006/relationships/notesSlide" Target="/ppt/notesSlides/notesSlide5.xml" Id="R3d9b0267d3084ed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f5206cb228c4bbc" /><Relationship Type="http://schemas.openxmlformats.org/officeDocument/2006/relationships/image" Target="/ppt/media/image17.png" Id="Rfec001c178654ff7" /><Relationship Type="http://schemas.openxmlformats.org/officeDocument/2006/relationships/image" Target="/ppt/media/image8.svg" Id="Rf2d768f8fa144d5d" /><Relationship Type="http://schemas.openxmlformats.org/officeDocument/2006/relationships/image" Target="/ppt/media/image18.png" Id="R73d25e95f43548dd" /><Relationship Type="http://schemas.openxmlformats.org/officeDocument/2006/relationships/image" Target="/ppt/media/image19.png" Id="Rb310c0a4823540ec" /><Relationship Type="http://schemas.openxmlformats.org/officeDocument/2006/relationships/notesSlide" Target="/ppt/notesSlides/notesSlide6.xml" Id="Rb79b22e0b563444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8aeba1cda0646cd" /><Relationship Type="http://schemas.openxmlformats.org/officeDocument/2006/relationships/image" Target="/ppt/media/image20.png" Id="Ra36bd5a86c2c4095" /><Relationship Type="http://schemas.openxmlformats.org/officeDocument/2006/relationships/notesSlide" Target="/ppt/notesSlides/notesSlide7.xml" Id="Raaf73c04d86f42d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bda8f7ac1cb4564" /><Relationship Type="http://schemas.openxmlformats.org/officeDocument/2006/relationships/image" Target="/ppt/media/image21.png" Id="R97715979ba7a4154" /><Relationship Type="http://schemas.openxmlformats.org/officeDocument/2006/relationships/notesSlide" Target="/ppt/notesSlides/notesSlide8.xml" Id="R43e592f065cb46f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29d280064e14b0a" /><Relationship Type="http://schemas.openxmlformats.org/officeDocument/2006/relationships/image" Target="/ppt/media/image22.png" Id="R7eab7447f2754de1" /><Relationship Type="http://schemas.openxmlformats.org/officeDocument/2006/relationships/image" Target="/ppt/media/image23.png" Id="R123488a36881478e" /><Relationship Type="http://schemas.openxmlformats.org/officeDocument/2006/relationships/image" Target="/ppt/media/image9.svg" Id="Rdb79c3e8d10c44f7" /><Relationship Type="http://schemas.openxmlformats.org/officeDocument/2006/relationships/image" Target="/ppt/media/image24.png" Id="Rac76ac4bf9cb47a4" /><Relationship Type="http://schemas.openxmlformats.org/officeDocument/2006/relationships/notesSlide" Target="/ppt/notesSlides/notesSlide9.xml" Id="Reeba0588e6ec47e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9f7d1fae9184327" /><Relationship Type="http://schemas.openxmlformats.org/officeDocument/2006/relationships/image" Target="/ppt/media/image25.png" Id="R873a1beee5014d29" /><Relationship Type="http://schemas.openxmlformats.org/officeDocument/2006/relationships/image" Target="/ppt/media/image10.svg" Id="R12c3e0d66b444964" /><Relationship Type="http://schemas.openxmlformats.org/officeDocument/2006/relationships/image" Target="/ppt/media/image26.png" Id="Reed69a36f86d4315" /><Relationship Type="http://schemas.openxmlformats.org/officeDocument/2006/relationships/image" Target="/ppt/media/image11.svg" Id="Rc8c615fb4f504f59" /><Relationship Type="http://schemas.openxmlformats.org/officeDocument/2006/relationships/image" Target="/ppt/media/image27.png" Id="Rc3906b4552564e1f" /><Relationship Type="http://schemas.openxmlformats.org/officeDocument/2006/relationships/notesSlide" Target="/ppt/notesSlides/notesSlide10.xml" Id="Rdcc71252e65f444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b11a2e367bb494e" /><Relationship Type="http://schemas.openxmlformats.org/officeDocument/2006/relationships/image" Target="/ppt/media/image28.png" Id="R947882b86770422d" /><Relationship Type="http://schemas.openxmlformats.org/officeDocument/2006/relationships/notesSlide" Target="/ppt/notesSlides/notesSlide11.xml" Id="Rb33d1bef51ae4ef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5ead0a1711a4cb3" /><Relationship Type="http://schemas.openxmlformats.org/officeDocument/2006/relationships/image" Target="/ppt/media/image29.png" Id="R7dc0615c15fc4d2f" /><Relationship Type="http://schemas.openxmlformats.org/officeDocument/2006/relationships/image" Target="/ppt/media/image12.svg" Id="R66b280a1b0904f59" /><Relationship Type="http://schemas.openxmlformats.org/officeDocument/2006/relationships/image" Target="/ppt/media/image30.png" Id="R4b3ac47f10604e9e" /><Relationship Type="http://schemas.openxmlformats.org/officeDocument/2006/relationships/notesSlide" Target="/ppt/notesSlides/notesSlide12.xml" Id="Rc6d6ac76dec8421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9acb23f4b72481e" /><Relationship Type="http://schemas.openxmlformats.org/officeDocument/2006/relationships/image" Target="/ppt/media/image31.png" Id="R1db4fdb305b54b36" /><Relationship Type="http://schemas.openxmlformats.org/officeDocument/2006/relationships/image" Target="/ppt/media/image13.svg" Id="R15256db9a62e41f3" /><Relationship Type="http://schemas.openxmlformats.org/officeDocument/2006/relationships/image" Target="/ppt/media/image32.png" Id="Rc8de42b1ff854853" /><Relationship Type="http://schemas.openxmlformats.org/officeDocument/2006/relationships/notesSlide" Target="/ppt/notesSlides/notesSlide13.xml" Id="R2745168afd8c44e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993bf1118d84e16" /><Relationship Type="http://schemas.openxmlformats.org/officeDocument/2006/relationships/image" Target="/ppt/media/image33.png" Id="R765d28b7fb4e4a2f" /><Relationship Type="http://schemas.openxmlformats.org/officeDocument/2006/relationships/image" Target="/ppt/media/image34.png" Id="R99ba46fbcde14d58" /><Relationship Type="http://schemas.openxmlformats.org/officeDocument/2006/relationships/image" Target="/ppt/media/image35.png" Id="R6dcbf5b9418e4c84" /><Relationship Type="http://schemas.openxmlformats.org/officeDocument/2006/relationships/image" Target="/ppt/media/image36.png" Id="R3216348d27924ec8" /><Relationship Type="http://schemas.openxmlformats.org/officeDocument/2006/relationships/notesSlide" Target="/ppt/notesSlides/notesSlide14.xml" Id="R06ccc4b7a0d84b2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b2937e983ea4905" /><Relationship Type="http://schemas.openxmlformats.org/officeDocument/2006/relationships/image" Target="/ppt/media/image37.png" Id="R6aaf309525004aa9" /><Relationship Type="http://schemas.openxmlformats.org/officeDocument/2006/relationships/notesSlide" Target="/ppt/notesSlides/notesSlide15.xml" Id="Re1068decca2b473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914cd5182294548" /><Relationship Type="http://schemas.openxmlformats.org/officeDocument/2006/relationships/image" Target="/ppt/media/image38.png" Id="Rf8a93d5b487a4b0d" /><Relationship Type="http://schemas.openxmlformats.org/officeDocument/2006/relationships/notesSlide" Target="/ppt/notesSlides/notesSlide16.xml" Id="Rce13bd1444ce455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eeeeeddbdd745a6" /><Relationship Type="http://schemas.openxmlformats.org/officeDocument/2006/relationships/image" Target="/ppt/media/image39.png" Id="R86576951de324bd7" /><Relationship Type="http://schemas.openxmlformats.org/officeDocument/2006/relationships/image" Target="/ppt/media/image14.svg" Id="R0bf38d712b384c68" /><Relationship Type="http://schemas.openxmlformats.org/officeDocument/2006/relationships/image" Target="/ppt/media/image40.png" Id="R9ba60f2a630d4edd" /><Relationship Type="http://schemas.openxmlformats.org/officeDocument/2006/relationships/notesSlide" Target="/ppt/notesSlides/notesSlide17.xml" Id="R842910fbb9ab45b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067808c0c1c416c" /><Relationship Type="http://schemas.openxmlformats.org/officeDocument/2006/relationships/image" Target="/ppt/media/image41.png" Id="R5a694e14b905461c" /><Relationship Type="http://schemas.openxmlformats.org/officeDocument/2006/relationships/notesSlide" Target="/ppt/notesSlides/notesSlide18.xml" Id="R2c013f6e729c4bc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79847842b6149f6" /><Relationship Type="http://schemas.openxmlformats.org/officeDocument/2006/relationships/image" Target="/ppt/media/image42.png" Id="Rad45cc074fdb429e" /><Relationship Type="http://schemas.openxmlformats.org/officeDocument/2006/relationships/image" Target="/ppt/media/image15.svg" Id="R2c28c17af1764fab" /><Relationship Type="http://schemas.openxmlformats.org/officeDocument/2006/relationships/image" Target="/ppt/media/image43.png" Id="Re08643f7ffde4294" /><Relationship Type="http://schemas.openxmlformats.org/officeDocument/2006/relationships/notesSlide" Target="/ppt/notesSlides/notesSlide19.xml" Id="Rb051b52c844c449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129cea3dace4eb1" /><Relationship Type="http://schemas.openxmlformats.org/officeDocument/2006/relationships/image" Target="/ppt/media/image44.png" Id="R8cc2171266c8430f" /><Relationship Type="http://schemas.openxmlformats.org/officeDocument/2006/relationships/image" Target="/ppt/media/image16.svg" Id="R9224070cfc7340eb" /><Relationship Type="http://schemas.openxmlformats.org/officeDocument/2006/relationships/image" Target="/ppt/media/image45.png" Id="R91122ba77ef2405b" /><Relationship Type="http://schemas.openxmlformats.org/officeDocument/2006/relationships/notesSlide" Target="/ppt/notesSlides/notesSlide20.xml" Id="Rac08ea2446084c8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048fccf76c94774" /><Relationship Type="http://schemas.openxmlformats.org/officeDocument/2006/relationships/image" Target="/ppt/media/image46.png" Id="Rf07c1764d96044ea" /><Relationship Type="http://schemas.openxmlformats.org/officeDocument/2006/relationships/image" Target="/ppt/media/image17.svg" Id="R504086a602d44f75" /><Relationship Type="http://schemas.openxmlformats.org/officeDocument/2006/relationships/image" Target="/ppt/media/image47.png" Id="Ra9de0df69d634320" /><Relationship Type="http://schemas.openxmlformats.org/officeDocument/2006/relationships/image" Target="/ppt/media/image18.svg" Id="R3cc1f66565e24191" /><Relationship Type="http://schemas.openxmlformats.org/officeDocument/2006/relationships/image" Target="/ppt/media/image48.png" Id="Re4056337b86647bc" /><Relationship Type="http://schemas.openxmlformats.org/officeDocument/2006/relationships/notesSlide" Target="/ppt/notesSlides/notesSlide21.xml" Id="R72bef29fc421438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f62b41877864b69" /><Relationship Type="http://schemas.openxmlformats.org/officeDocument/2006/relationships/image" Target="/ppt/media/image49.png" Id="Rf1c441964f04473c" /><Relationship Type="http://schemas.openxmlformats.org/officeDocument/2006/relationships/image" Target="/ppt/media/image19.svg" Id="R3246a7b7d602467a" /><Relationship Type="http://schemas.openxmlformats.org/officeDocument/2006/relationships/image" Target="/ppt/media/image50.png" Id="Rfaeccb9262f64cef" /><Relationship Type="http://schemas.openxmlformats.org/officeDocument/2006/relationships/notesSlide" Target="/ppt/notesSlides/notesSlide22.xml" Id="R01fa9153db41421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3cea3dd456b4f50" /><Relationship Type="http://schemas.openxmlformats.org/officeDocument/2006/relationships/image" Target="/ppt/media/image51.png" Id="Ra5e49a9ac2f2428e" /><Relationship Type="http://schemas.openxmlformats.org/officeDocument/2006/relationships/image" Target="/ppt/media/image20.svg" Id="Ra2e466d4dbc24123" /><Relationship Type="http://schemas.openxmlformats.org/officeDocument/2006/relationships/image" Target="/ppt/media/image52.png" Id="R11456565078d4fed" /><Relationship Type="http://schemas.openxmlformats.org/officeDocument/2006/relationships/notesSlide" Target="/ppt/notesSlides/notesSlide23.xml" Id="R2b3f7268f71740d1" /></Relationships>
</file>

<file path=ppt/slides/slide1.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C78D0AD-BD71-4575-81E4-EF093D5464F2}"/>
              </a:ext>
            </a:extLst>
          </p:cNvPr>
          <p:cNvSpPr>
            <a:spLocks xmlns:a="http://schemas.openxmlformats.org/drawingml/2006/main" noGrp="1"/>
          </p:cNvSpPr>
          <p:nvPr/>
        </p:nvSpPr>
        <p:spPr>
          <a:xfrm xmlns:a="http://schemas.openxmlformats.org/drawingml/2006/main">
            <a:off x="0" y="0"/>
            <a:ext cx="12192000" cy="1047750"/>
          </a:xfrm>
          <a:prstGeom xmlns:a="http://schemas.openxmlformats.org/drawingml/2006/main" prst="rect">
            <a:avLst/>
          </a:prstGeom>
          <a:solidFill xmlns:a="http://schemas.openxmlformats.org/drawingml/2006/main">
            <a:srgbClr val="071F4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6831A90-D0C1-4A1C-BE70-481689F40263}"/>
              </a:ext>
            </a:extLst>
          </p:cNvPr>
          <p:cNvSpPr>
            <a:spLocks xmlns:a="http://schemas.openxmlformats.org/drawingml/2006/main" noGrp="1"/>
          </p:cNvSpPr>
          <p:nvPr/>
        </p:nvSpPr>
        <p:spPr>
          <a:xfrm xmlns:a="http://schemas.openxmlformats.org/drawingml/2006/main">
            <a:off x="0" y="1047750"/>
            <a:ext cx="12192000" cy="76200"/>
          </a:xfrm>
          <a:prstGeom xmlns:a="http://schemas.openxmlformats.org/drawingml/2006/main" prst="rect">
            <a:avLst/>
          </a:prstGeom>
          <a:solidFill xmlns:a="http://schemas.openxmlformats.org/drawingml/2006/main">
            <a:srgbClr val="F3C432"/>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DF454559-DBE8-44DF-8613-B66DB491005D}"/>
              </a:ext>
            </a:extLst>
          </p:cNvPr>
          <p:cNvSpPr>
            <a:spLocks xmlns:a="http://schemas.openxmlformats.org/drawingml/2006/main" noGrp="1"/>
          </p:cNvSpPr>
          <p:nvPr/>
        </p:nvSpPr>
        <p:spPr>
          <a:xfrm xmlns:a="http://schemas.openxmlformats.org/drawingml/2006/main">
            <a:off x="723900" y="1466850"/>
            <a:ext cx="4953000" cy="2095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43A896"/>
                </a:solidFill>
                <a:latin typeface="LM Roman 12"/>
                <a:ea typeface="LM Roman 12"/>
                <a:cs typeface="LM Roman 12"/>
              </a:defRPr>
            </a:pPr>
            <a:r>
              <a:rPr sz="1050" b="1">
                <a:solidFill>
                  <a:srgbClr val="43A896"/>
                </a:solidFill>
                <a:latin typeface="LM Roman 12"/>
                <a:ea typeface="LM Roman 12"/>
                <a:cs typeface="LM Roman 12"/>
              </a:rPr>
              <a:t>PART III DISSERTATION PRESENTATION</a:t>
            </a:r>
          </a:p>
        </p:txBody>
      </p:sp>
      <p:sp>
        <p:nvSpPr>
          <p:cNvPr id="4" name="">
            <a:extLst xmlns:a="http://schemas.openxmlformats.org/drawingml/2006/main">
              <a:ext uri="{FF2B5EF4-FFF2-40B4-BE49-F238E27FC236}">
                <a16:creationId xmlns:a16="http://schemas.microsoft.com/office/drawing/2014/main" id="{88579DF3-8C74-4FF8-B258-6C923A283098}"/>
              </a:ext>
            </a:extLst>
          </p:cNvPr>
          <p:cNvSpPr>
            <a:spLocks xmlns:a="http://schemas.openxmlformats.org/drawingml/2006/main" noGrp="1"/>
          </p:cNvSpPr>
          <p:nvPr/>
        </p:nvSpPr>
        <p:spPr>
          <a:xfrm xmlns:a="http://schemas.openxmlformats.org/drawingml/2006/main">
            <a:off x="704850" y="1847850"/>
            <a:ext cx="7477125" cy="1476375"/>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225" b="1">
                <a:solidFill>
                  <a:srgbClr val="071F46"/>
                </a:solidFill>
                <a:latin typeface="LM Roman 12"/>
                <a:ea typeface="LM Roman 12"/>
                <a:cs typeface="LM Roman 12"/>
              </a:defRPr>
            </a:pPr>
            <a:r>
              <a:rPr sz="3225" b="1">
                <a:solidFill>
                  <a:srgbClr val="071F46"/>
                </a:solidFill>
                <a:latin typeface="LM Roman 12"/>
                <a:ea typeface="LM Roman 12"/>
                <a:cs typeface="LM Roman 12"/>
              </a:rPr>
              <a:t>Fedctl: A Heterogeneous Testbed for Realistic Federated Learning</a:t>
            </a:r>
          </a:p>
        </p:txBody>
      </p:sp>
      <p:sp>
        <p:nvSpPr>
          <p:cNvPr id="5" name="">
            <a:extLst xmlns:a="http://schemas.openxmlformats.org/drawingml/2006/main">
              <a:ext uri="{FF2B5EF4-FFF2-40B4-BE49-F238E27FC236}">
                <a16:creationId xmlns:a16="http://schemas.microsoft.com/office/drawing/2014/main" id="{B0CFBEFD-DF4C-4333-9B1E-774C40916E1B}"/>
              </a:ext>
            </a:extLst>
          </p:cNvPr>
          <p:cNvSpPr>
            <a:spLocks xmlns:a="http://schemas.openxmlformats.org/drawingml/2006/main" noGrp="1"/>
          </p:cNvSpPr>
          <p:nvPr/>
        </p:nvSpPr>
        <p:spPr>
          <a:xfrm xmlns:a="http://schemas.openxmlformats.org/drawingml/2006/main">
            <a:off x="733425" y="3562350"/>
            <a:ext cx="2952750" cy="3238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827"/>
                </a:solidFill>
                <a:latin typeface="LM Roman 12"/>
                <a:ea typeface="LM Roman 12"/>
                <a:cs typeface="LM Roman 12"/>
              </a:defRPr>
            </a:pPr>
            <a:r>
              <a:rPr sz="1800" b="1">
                <a:solidFill>
                  <a:srgbClr val="111827"/>
                </a:solidFill>
                <a:latin typeface="LM Roman 12"/>
                <a:ea typeface="LM Roman 12"/>
                <a:cs typeface="LM Roman 12"/>
              </a:rPr>
              <a:t>Haoran Jie</a:t>
            </a:r>
          </a:p>
        </p:txBody>
      </p:sp>
      <p:sp>
        <p:nvSpPr>
          <p:cNvPr id="6" name="">
            <a:extLst xmlns:a="http://schemas.openxmlformats.org/drawingml/2006/main">
              <a:ext uri="{FF2B5EF4-FFF2-40B4-BE49-F238E27FC236}">
                <a16:creationId xmlns:a16="http://schemas.microsoft.com/office/drawing/2014/main" id="{B10A5EA3-9A63-419A-8BBA-1417679410F3}"/>
              </a:ext>
            </a:extLst>
          </p:cNvPr>
          <p:cNvSpPr>
            <a:spLocks xmlns:a="http://schemas.openxmlformats.org/drawingml/2006/main" noGrp="1"/>
          </p:cNvSpPr>
          <p:nvPr/>
        </p:nvSpPr>
        <p:spPr>
          <a:xfrm xmlns:a="http://schemas.openxmlformats.org/drawingml/2006/main">
            <a:off x="733425" y="3924300"/>
            <a:ext cx="6858000" cy="2667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5B6472"/>
                </a:solidFill>
                <a:latin typeface="LM Roman 12"/>
                <a:ea typeface="LM Roman 12"/>
                <a:cs typeface="LM Roman 12"/>
              </a:defRPr>
            </a:pPr>
            <a:r>
              <a:rPr sz="1275" b="0">
                <a:solidFill>
                  <a:srgbClr val="5B6472"/>
                </a:solidFill>
                <a:latin typeface="LM Roman 12"/>
                <a:ea typeface="LM Roman 12"/>
                <a:cs typeface="LM Roman 12"/>
              </a:rPr>
              <a:t>Department of Computer Science and Technology | University of Cambridge | June 2026</a:t>
            </a:r>
          </a:p>
        </p:txBody>
      </p:sp>
      <p:sp>
        <p:nvSpPr>
          <p:cNvPr id="7" name="">
            <a:extLst xmlns:a="http://schemas.openxmlformats.org/drawingml/2006/main">
              <a:ext uri="{FF2B5EF4-FFF2-40B4-BE49-F238E27FC236}">
                <a16:creationId xmlns:a16="http://schemas.microsoft.com/office/drawing/2014/main" id="{A7D362DA-37B7-475C-8390-99A291674096}"/>
              </a:ext>
            </a:extLst>
          </p:cNvPr>
          <p:cNvSpPr>
            <a:spLocks xmlns:a="http://schemas.openxmlformats.org/drawingml/2006/main" noGrp="1"/>
          </p:cNvSpPr>
          <p:nvPr/>
        </p:nvSpPr>
        <p:spPr>
          <a:xfrm xmlns:a="http://schemas.openxmlformats.org/drawingml/2006/main">
            <a:off x="733425" y="4229100"/>
            <a:ext cx="2476500" cy="2095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43A896"/>
                </a:solidFill>
                <a:latin typeface="LM Roman 12"/>
                <a:ea typeface="LM Roman 12"/>
                <a:cs typeface="LM Roman 12"/>
              </a:defRPr>
            </a:pPr>
            <a:r>
              <a:rPr sz="1050" b="1">
                <a:solidFill>
                  <a:srgbClr val="43A896"/>
                </a:solidFill>
                <a:latin typeface="LM Roman 12"/>
                <a:ea typeface="LM Roman 12"/>
                <a:cs typeface="LM Roman 12"/>
              </a:rPr>
              <a:t>fedctl.cl.cam.ac.uk</a:t>
            </a:r>
          </a:p>
        </p:txBody>
      </p:sp>
      <p:sp>
        <p:nvSpPr>
          <p:cNvPr id="8" name="">
            <a:extLst xmlns:a="http://schemas.openxmlformats.org/drawingml/2006/main">
              <a:ext uri="{FF2B5EF4-FFF2-40B4-BE49-F238E27FC236}">
                <a16:creationId xmlns:a16="http://schemas.microsoft.com/office/drawing/2014/main" id="{111A3E12-3FAB-4AE2-8250-A476B8FB6E11}"/>
              </a:ext>
            </a:extLst>
          </p:cNvPr>
          <p:cNvSpPr>
            <a:spLocks xmlns:a="http://schemas.openxmlformats.org/drawingml/2006/main" noGrp="1"/>
          </p:cNvSpPr>
          <p:nvPr/>
        </p:nvSpPr>
        <p:spPr>
          <a:xfrm xmlns:a="http://schemas.openxmlformats.org/drawingml/2006/main">
            <a:off x="8858250" y="1695450"/>
            <a:ext cx="219075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5DCE8"/>
            </a:solid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4da5df4cf434118"/>
          <a:stretch xmlns:a="http://schemas.openxmlformats.org/drawingml/2006/main"/>
        </p:blipFill>
        <p:spPr>
          <a:xfrm xmlns:a="http://schemas.openxmlformats.org/drawingml/2006/main">
            <a:off x="9191644" y="2085975"/>
            <a:ext cx="1524915" cy="12954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72AC0DE0-1793-48C0-B3A1-3902D01AB8F3}"/>
              </a:ext>
            </a:extLst>
          </p:cNvPr>
          <p:cNvSpPr>
            <a:spLocks xmlns:a="http://schemas.openxmlformats.org/drawingml/2006/main" noGrp="1"/>
          </p:cNvSpPr>
          <p:nvPr/>
        </p:nvSpPr>
        <p:spPr>
          <a:xfrm xmlns:a="http://schemas.openxmlformats.org/drawingml/2006/main">
            <a:off x="8572500" y="4095750"/>
            <a:ext cx="2762250" cy="4953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071F46"/>
                </a:solidFill>
                <a:latin typeface="LM Roman 12"/>
                <a:ea typeface="LM Roman 12"/>
                <a:cs typeface="LM Roman 12"/>
              </a:defRPr>
            </a:pPr>
            <a:r>
              <a:rPr sz="1350" b="1">
                <a:solidFill>
                  <a:srgbClr val="071F46"/>
                </a:solidFill>
                <a:latin typeface="LM Roman 12"/>
                <a:ea typeface="LM Roman 12"/>
                <a:cs typeface="LM Roman 12"/>
              </a:rPr>
              <a:t>Deployment-aware evaluation of heterogeneous FL</a:t>
            </a:r>
          </a:p>
        </p:txBody>
      </p:sp>
      <p:sp>
        <p:nvSpPr>
          <p:cNvPr id="11" name="">
            <a:extLst xmlns:a="http://schemas.openxmlformats.org/drawingml/2006/main">
              <a:ext uri="{FF2B5EF4-FFF2-40B4-BE49-F238E27FC236}">
                <a16:creationId xmlns:a16="http://schemas.microsoft.com/office/drawing/2014/main" id="{3F94226B-0A36-4E94-A7B5-F352583BF232}"/>
              </a:ext>
            </a:extLst>
          </p:cNvPr>
          <p:cNvSpPr>
            <a:spLocks xmlns:a="http://schemas.openxmlformats.org/drawingml/2006/main" noGrp="1"/>
          </p:cNvSpPr>
          <p:nvPr/>
        </p:nvSpPr>
        <p:spPr>
          <a:xfrm xmlns:a="http://schemas.openxmlformats.org/drawingml/2006/main">
            <a:off x="666750" y="5219700"/>
            <a:ext cx="10858500" cy="9525"/>
          </a:xfrm>
          <a:prstGeom xmlns:a="http://schemas.openxmlformats.org/drawingml/2006/main" prst="rect">
            <a:avLst/>
          </a:prstGeom>
          <a:solidFill xmlns:a="http://schemas.openxmlformats.org/drawingml/2006/main">
            <a:srgbClr val="E6EBF3"/>
          </a:solidFill>
          <a:ln xmlns:a="http://schemas.openxmlformats.org/drawingml/2006/main" w="0">
            <a:solidFill>
              <a:srgbClr val="000000">
                <a:alpha val="0"/>
              </a:srgbClr>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ae98e7c527346a0"/>
          <a:stretch xmlns:a="http://schemas.openxmlformats.org/drawingml/2006/main"/>
        </p:blipFill>
        <p:spPr>
          <a:xfrm xmlns:a="http://schemas.openxmlformats.org/drawingml/2006/main">
            <a:off x="2637445" y="5486400"/>
            <a:ext cx="554410" cy="64770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3450b6c07064deb"/>
          <a:stretch xmlns:a="http://schemas.openxmlformats.org/drawingml/2006/main"/>
        </p:blipFill>
        <p:spPr>
          <a:xfrm xmlns:a="http://schemas.openxmlformats.org/drawingml/2006/main">
            <a:off x="4343171" y="5486400"/>
            <a:ext cx="762458" cy="647700"/>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09f17372f3e462b"/>
          <a:stretch xmlns:a="http://schemas.openxmlformats.org/drawingml/2006/main"/>
        </p:blipFill>
        <p:spPr>
          <a:xfrm xmlns:a="http://schemas.openxmlformats.org/drawingml/2006/main">
            <a:off x="6166498" y="5486400"/>
            <a:ext cx="735305" cy="64770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da37c9193394406"/>
          <a:stretch xmlns:a="http://schemas.openxmlformats.org/drawingml/2006/main"/>
        </p:blipFill>
        <p:spPr>
          <a:xfrm xmlns:a="http://schemas.openxmlformats.org/drawingml/2006/main">
            <a:off x="8020369" y="5486400"/>
            <a:ext cx="647063" cy="647700"/>
          </a:xfrm>
          <a:prstGeom xmlns:a="http://schemas.openxmlformats.org/drawingml/2006/main" prst="rect">
            <a:avLst/>
          </a:prstGeom>
        </p:spPr>
      </p:pic>
    </p:spTree>
    <p:extLst>
      <p:ext uri="{BB962C8B-B14F-4D97-AF65-F5344CB8AC3E}">
        <p14:creationId xmlns:p14="http://schemas.microsoft.com/office/powerpoint/2010/main" val="349703355"/>
      </p:ext>
    </p:extLst>
  </p:cSld>
</p:sld>
</file>

<file path=ppt/slides/slide2.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AFF315E-3F12-4229-9BE5-19386C84F4FF}"/>
              </a:ext>
            </a:extLst>
          </p:cNvPr>
          <p:cNvSpPr>
            <a:spLocks xmlns:a="http://schemas.openxmlformats.org/drawingml/2006/main" noGrp="1"/>
          </p:cNvSpPr>
          <p:nvPr/>
        </p:nvSpPr>
        <p:spPr>
          <a:xfrm xmlns:a="http://schemas.openxmlformats.org/drawingml/2006/main">
            <a:off x="666750" y="342900"/>
            <a:ext cx="4953000" cy="1905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43A896"/>
                </a:solidFill>
                <a:latin typeface="LM Roman 12"/>
                <a:ea typeface="LM Roman 12"/>
                <a:cs typeface="LM Roman 12"/>
              </a:defRPr>
            </a:pPr>
            <a:r>
              <a:rPr sz="975" b="1">
                <a:solidFill>
                  <a:srgbClr val="43A896"/>
                </a:solidFill>
                <a:latin typeface="LM Roman 12"/>
                <a:ea typeface="LM Roman 12"/>
                <a:cs typeface="LM Roman 12"/>
              </a:rPr>
              <a:t>SIGNIFICANCE AND RATIONALE</a:t>
            </a:r>
          </a:p>
        </p:txBody>
      </p:sp>
      <p:sp>
        <p:nvSpPr>
          <p:cNvPr id="2" name="">
            <a:extLst xmlns:a="http://schemas.openxmlformats.org/drawingml/2006/main">
              <a:ext uri="{FF2B5EF4-FFF2-40B4-BE49-F238E27FC236}">
                <a16:creationId xmlns:a16="http://schemas.microsoft.com/office/drawing/2014/main" id="{C2D1053F-1CA9-4D90-AFEF-FE65415E8A04}"/>
              </a:ext>
            </a:extLst>
          </p:cNvPr>
          <p:cNvSpPr>
            <a:spLocks xmlns:a="http://schemas.openxmlformats.org/drawingml/2006/main" noGrp="1"/>
          </p:cNvSpPr>
          <p:nvPr/>
        </p:nvSpPr>
        <p:spPr>
          <a:xfrm xmlns:a="http://schemas.openxmlformats.org/drawingml/2006/main">
            <a:off x="666750" y="590550"/>
            <a:ext cx="9239250" cy="6477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71F46"/>
                </a:solidFill>
                <a:latin typeface="LM Roman 12"/>
                <a:ea typeface="LM Roman 12"/>
                <a:cs typeface="LM Roman 12"/>
              </a:defRPr>
            </a:pPr>
            <a:r>
              <a:rPr sz="2250" b="1">
                <a:solidFill>
                  <a:srgbClr val="071F46"/>
                </a:solidFill>
                <a:latin typeface="LM Roman 12"/>
                <a:ea typeface="LM Roman 12"/>
                <a:cs typeface="LM Roman 12"/>
              </a:rPr>
              <a:t>Heterogeneous FL Needs Deployment-Aware Evaluation</a:t>
            </a:r>
          </a:p>
        </p:txBody>
      </p:sp>
      <p:sp>
        <p:nvSpPr>
          <p:cNvPr id="3" name="">
            <a:extLst xmlns:a="http://schemas.openxmlformats.org/drawingml/2006/main">
              <a:ext uri="{FF2B5EF4-FFF2-40B4-BE49-F238E27FC236}">
                <a16:creationId xmlns:a16="http://schemas.microsoft.com/office/drawing/2014/main" id="{AAEE2DB7-95CB-494F-A628-283612CC8987}"/>
              </a:ext>
            </a:extLst>
          </p:cNvPr>
          <p:cNvSpPr>
            <a:spLocks xmlns:a="http://schemas.openxmlformats.org/drawingml/2006/main" noGrp="1"/>
          </p:cNvSpPr>
          <p:nvPr/>
        </p:nvSpPr>
        <p:spPr>
          <a:xfrm xmlns:a="http://schemas.openxmlformats.org/drawingml/2006/main">
            <a:off x="666750" y="1005840"/>
            <a:ext cx="1143000" cy="47625"/>
          </a:xfrm>
          <a:prstGeom xmlns:a="http://schemas.openxmlformats.org/drawingml/2006/main" prst="rect">
            <a:avLst/>
          </a:prstGeom>
          <a:solidFill xmlns:a="http://schemas.openxmlformats.org/drawingml/2006/main">
            <a:srgbClr val="F3C43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6642C9E9-A563-4B62-95AE-A89384EC3C62}"/>
              </a:ext>
            </a:extLst>
          </p:cNvPr>
          <p:cNvSpPr>
            <a:spLocks xmlns:a="http://schemas.openxmlformats.org/drawingml/2006/main" noGrp="1"/>
          </p:cNvSpPr>
          <p:nvPr/>
        </p:nvSpPr>
        <p:spPr>
          <a:xfrm xmlns:a="http://schemas.openxmlformats.org/drawingml/2006/main">
            <a:off x="666750" y="1371600"/>
            <a:ext cx="10858500" cy="609600"/>
          </a:xfrm>
          <a:prstGeom xmlns:a="http://schemas.openxmlformats.org/drawingml/2006/main" prst="roundRect">
            <a:avLst>
              <a:gd name="adj" fmla="val 10938"/>
            </a:avLst>
          </a:prstGeom>
          <a:solidFill xmlns:a="http://schemas.openxmlformats.org/drawingml/2006/main">
            <a:srgbClr val="EEF7F5"/>
          </a:solidFill>
          <a:ln xmlns:a="http://schemas.openxmlformats.org/drawingml/2006/main" w="9525">
            <a:solidFill>
              <a:srgbClr val="D5DCE8"/>
            </a:solidFill>
            <a:prstDash val="solid"/>
          </a:ln>
        </p:spPr>
      </p:sp>
      <p:sp>
        <p:nvSpPr>
          <p:cNvPr id="5" name="">
            <a:extLst xmlns:a="http://schemas.openxmlformats.org/drawingml/2006/main">
              <a:ext uri="{FF2B5EF4-FFF2-40B4-BE49-F238E27FC236}">
                <a16:creationId xmlns:a16="http://schemas.microsoft.com/office/drawing/2014/main" id="{E018B5F8-644A-4B28-AFC2-E396EF41E647}"/>
              </a:ext>
            </a:extLst>
          </p:cNvPr>
          <p:cNvSpPr>
            <a:spLocks xmlns:a="http://schemas.openxmlformats.org/drawingml/2006/main" noGrp="1"/>
          </p:cNvSpPr>
          <p:nvPr/>
        </p:nvSpPr>
        <p:spPr>
          <a:xfrm xmlns:a="http://schemas.openxmlformats.org/drawingml/2006/main">
            <a:off x="666750" y="1371600"/>
            <a:ext cx="76200" cy="609600"/>
          </a:xfrm>
          <a:prstGeom xmlns:a="http://schemas.openxmlformats.org/drawingml/2006/main" prst="roundRect">
            <a:avLst>
              <a:gd name="adj" fmla="val 50000"/>
            </a:avLst>
          </a:prstGeom>
          <a:solidFill xmlns:a="http://schemas.openxmlformats.org/drawingml/2006/main">
            <a:srgbClr val="43A896"/>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35861932-0C08-41A2-A655-447BEB377608}"/>
              </a:ext>
            </a:extLst>
          </p:cNvPr>
          <p:cNvSpPr>
            <a:spLocks xmlns:a="http://schemas.openxmlformats.org/drawingml/2006/main" noGrp="1"/>
          </p:cNvSpPr>
          <p:nvPr/>
        </p:nvSpPr>
        <p:spPr>
          <a:xfrm xmlns:a="http://schemas.openxmlformats.org/drawingml/2006/main">
            <a:off x="895350" y="1428750"/>
            <a:ext cx="10458450" cy="5143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71F46"/>
                </a:solidFill>
                <a:latin typeface="LM Roman 12"/>
                <a:ea typeface="LM Roman 12"/>
                <a:cs typeface="LM Roman 12"/>
              </a:defRPr>
            </a:pPr>
            <a:r>
              <a:rPr sz="1650" b="1">
                <a:solidFill>
                  <a:srgbClr val="071F46"/>
                </a:solidFill>
                <a:latin typeface="LM Roman 12"/>
                <a:ea typeface="LM Roman 12"/>
                <a:cs typeface="LM Roman 12"/>
              </a:rPr>
              <a:t>Model performance alone is not enough: device capability, timing, influence, submodel quality, and parameter coverage shape heterogeneous FL outcomes.</a:t>
            </a:r>
          </a:p>
        </p:txBody>
      </p:sp>
      <p:sp>
        <p:nvSpPr>
          <p:cNvPr id="7" name="">
            <a:extLst xmlns:a="http://schemas.openxmlformats.org/drawingml/2006/main">
              <a:ext uri="{FF2B5EF4-FFF2-40B4-BE49-F238E27FC236}">
                <a16:creationId xmlns:a16="http://schemas.microsoft.com/office/drawing/2014/main" id="{8C20BEF6-B1E5-4DD6-A7A1-6DE6E1C611EF}"/>
              </a:ext>
            </a:extLst>
          </p:cNvPr>
          <p:cNvSpPr>
            <a:spLocks xmlns:a="http://schemas.openxmlformats.org/drawingml/2006/main" noGrp="1"/>
          </p:cNvSpPr>
          <p:nvPr/>
        </p:nvSpPr>
        <p:spPr>
          <a:xfrm xmlns:a="http://schemas.openxmlformats.org/drawingml/2006/main">
            <a:off x="819150" y="2324100"/>
            <a:ext cx="4000500" cy="3238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071F46"/>
                </a:solidFill>
                <a:latin typeface="LM Roman 12"/>
                <a:ea typeface="LM Roman 12"/>
                <a:cs typeface="LM Roman 12"/>
              </a:defRPr>
            </a:pPr>
            <a:r>
              <a:rPr sz="1950" b="1">
                <a:solidFill>
                  <a:srgbClr val="071F46"/>
                </a:solidFill>
                <a:latin typeface="LM Roman 12"/>
                <a:ea typeface="LM Roman 12"/>
                <a:cs typeface="LM Roman 12"/>
              </a:rPr>
              <a:t>What abstraction hides</a:t>
            </a:r>
          </a:p>
        </p:txBody>
      </p:sp>
      <p:sp>
        <p:nvSpPr>
          <p:cNvPr id="8" name="">
            <a:extLst xmlns:a="http://schemas.openxmlformats.org/drawingml/2006/main">
              <a:ext uri="{FF2B5EF4-FFF2-40B4-BE49-F238E27FC236}">
                <a16:creationId xmlns:a16="http://schemas.microsoft.com/office/drawing/2014/main" id="{72388492-7974-4149-AEE2-4463D40AC73A}"/>
              </a:ext>
            </a:extLst>
          </p:cNvPr>
          <p:cNvSpPr>
            <a:spLocks xmlns:a="http://schemas.openxmlformats.org/drawingml/2006/main" noGrp="1"/>
          </p:cNvSpPr>
          <p:nvPr/>
        </p:nvSpPr>
        <p:spPr>
          <a:xfrm xmlns:a="http://schemas.openxmlformats.org/drawingml/2006/main">
            <a:off x="876300" y="2876550"/>
            <a:ext cx="76200" cy="76200"/>
          </a:xfrm>
          <a:prstGeom xmlns:a="http://schemas.openxmlformats.org/drawingml/2006/main" prst="roundRect">
            <a:avLst>
              <a:gd name="adj" fmla="val 50000"/>
            </a:avLst>
          </a:prstGeom>
          <a:solidFill xmlns:a="http://schemas.openxmlformats.org/drawingml/2006/main">
            <a:srgbClr val="F3C432"/>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EF785C39-7FC2-43B8-B7B6-A6D256E93FB9}"/>
              </a:ext>
            </a:extLst>
          </p:cNvPr>
          <p:cNvSpPr>
            <a:spLocks xmlns:a="http://schemas.openxmlformats.org/drawingml/2006/main" noGrp="1"/>
          </p:cNvSpPr>
          <p:nvPr/>
        </p:nvSpPr>
        <p:spPr>
          <a:xfrm xmlns:a="http://schemas.openxmlformats.org/drawingml/2006/main">
            <a:off x="1085850" y="2800350"/>
            <a:ext cx="5314950" cy="5334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111827"/>
                </a:solidFill>
                <a:latin typeface="LM Roman 12"/>
                <a:ea typeface="LM Roman 12"/>
                <a:cs typeface="LM Roman 12"/>
              </a:defRPr>
            </a:pPr>
            <a:r>
              <a:rPr sz="1425" b="0">
                <a:solidFill>
                  <a:srgbClr val="111827"/>
                </a:solidFill>
                <a:latin typeface="LM Roman 12"/>
                <a:ea typeface="LM Roman 12"/>
                <a:cs typeface="LM Roman 12"/>
              </a:rPr>
              <a:t>Homogeneous hardware removes unequal completion times.</a:t>
            </a:r>
          </a:p>
        </p:txBody>
      </p:sp>
      <p:sp>
        <p:nvSpPr>
          <p:cNvPr id="10" name="">
            <a:extLst xmlns:a="http://schemas.openxmlformats.org/drawingml/2006/main">
              <a:ext uri="{FF2B5EF4-FFF2-40B4-BE49-F238E27FC236}">
                <a16:creationId xmlns:a16="http://schemas.microsoft.com/office/drawing/2014/main" id="{B786FA7B-86EB-4D4C-8AB0-9AF42EEB31F6}"/>
              </a:ext>
            </a:extLst>
          </p:cNvPr>
          <p:cNvSpPr>
            <a:spLocks xmlns:a="http://schemas.openxmlformats.org/drawingml/2006/main" noGrp="1"/>
          </p:cNvSpPr>
          <p:nvPr/>
        </p:nvSpPr>
        <p:spPr>
          <a:xfrm xmlns:a="http://schemas.openxmlformats.org/drawingml/2006/main">
            <a:off x="876300" y="3429000"/>
            <a:ext cx="76200" cy="76200"/>
          </a:xfrm>
          <a:prstGeom xmlns:a="http://schemas.openxmlformats.org/drawingml/2006/main" prst="roundRect">
            <a:avLst>
              <a:gd name="adj" fmla="val 50000"/>
            </a:avLst>
          </a:prstGeom>
          <a:solidFill xmlns:a="http://schemas.openxmlformats.org/drawingml/2006/main">
            <a:srgbClr val="F3C432"/>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0659F24E-1B3D-4B23-A184-6826B163E6F4}"/>
              </a:ext>
            </a:extLst>
          </p:cNvPr>
          <p:cNvSpPr>
            <a:spLocks xmlns:a="http://schemas.openxmlformats.org/drawingml/2006/main" noGrp="1"/>
          </p:cNvSpPr>
          <p:nvPr/>
        </p:nvSpPr>
        <p:spPr>
          <a:xfrm xmlns:a="http://schemas.openxmlformats.org/drawingml/2006/main">
            <a:off x="1085850" y="3352800"/>
            <a:ext cx="5314950" cy="5334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111827"/>
                </a:solidFill>
                <a:latin typeface="LM Roman 12"/>
                <a:ea typeface="LM Roman 12"/>
                <a:cs typeface="LM Roman 12"/>
              </a:defRPr>
            </a:pPr>
            <a:r>
              <a:rPr sz="1425" b="0">
                <a:solidFill>
                  <a:srgbClr val="111827"/>
                </a:solidFill>
                <a:latin typeface="LM Roman 12"/>
                <a:ea typeface="LM Roman 12"/>
                <a:cs typeface="LM Roman 12"/>
              </a:rPr>
              <a:t>Simplified delay models add waiting time but miss processor speed, memory pressure, and runtime bottlenecks.</a:t>
            </a:r>
          </a:p>
        </p:txBody>
      </p:sp>
      <p:sp>
        <p:nvSpPr>
          <p:cNvPr id="12" name="">
            <a:extLst xmlns:a="http://schemas.openxmlformats.org/drawingml/2006/main">
              <a:ext uri="{FF2B5EF4-FFF2-40B4-BE49-F238E27FC236}">
                <a16:creationId xmlns:a16="http://schemas.microsoft.com/office/drawing/2014/main" id="{A1C8357C-2FCA-459C-A236-22748A55B66C}"/>
              </a:ext>
            </a:extLst>
          </p:cNvPr>
          <p:cNvSpPr>
            <a:spLocks xmlns:a="http://schemas.openxmlformats.org/drawingml/2006/main" noGrp="1"/>
          </p:cNvSpPr>
          <p:nvPr/>
        </p:nvSpPr>
        <p:spPr>
          <a:xfrm xmlns:a="http://schemas.openxmlformats.org/drawingml/2006/main">
            <a:off x="876300" y="3981450"/>
            <a:ext cx="76200" cy="76200"/>
          </a:xfrm>
          <a:prstGeom xmlns:a="http://schemas.openxmlformats.org/drawingml/2006/main" prst="roundRect">
            <a:avLst>
              <a:gd name="adj" fmla="val 50000"/>
            </a:avLst>
          </a:prstGeom>
          <a:solidFill xmlns:a="http://schemas.openxmlformats.org/drawingml/2006/main">
            <a:srgbClr val="F3C43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CE9A6B0A-796F-4876-A22B-D689F4F297C6}"/>
              </a:ext>
            </a:extLst>
          </p:cNvPr>
          <p:cNvSpPr>
            <a:spLocks xmlns:a="http://schemas.openxmlformats.org/drawingml/2006/main" noGrp="1"/>
          </p:cNvSpPr>
          <p:nvPr/>
        </p:nvSpPr>
        <p:spPr>
          <a:xfrm xmlns:a="http://schemas.openxmlformats.org/drawingml/2006/main">
            <a:off x="1085850" y="3905250"/>
            <a:ext cx="5314950" cy="5334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111827"/>
                </a:solidFill>
                <a:latin typeface="LM Roman 12"/>
                <a:ea typeface="LM Roman 12"/>
                <a:cs typeface="LM Roman 12"/>
              </a:defRPr>
            </a:pPr>
            <a:r>
              <a:rPr sz="1425" b="0">
                <a:solidFill>
                  <a:srgbClr val="111827"/>
                </a:solidFill>
                <a:latin typeface="LM Roman 12"/>
                <a:ea typeface="LM Roman 12"/>
                <a:cs typeface="LM Roman 12"/>
              </a:rPr>
              <a:t>Simulation can hide slow-device exclusion and fast-device over-representation.</a:t>
            </a:r>
          </a:p>
        </p:txBody>
      </p:sp>
      <p:sp>
        <p:nvSpPr>
          <p:cNvPr id="14" name="">
            <a:extLst xmlns:a="http://schemas.openxmlformats.org/drawingml/2006/main">
              <a:ext uri="{FF2B5EF4-FFF2-40B4-BE49-F238E27FC236}">
                <a16:creationId xmlns:a16="http://schemas.microsoft.com/office/drawing/2014/main" id="{994D0F86-D9E0-4317-BF81-3A7BAAC513B3}"/>
              </a:ext>
            </a:extLst>
          </p:cNvPr>
          <p:cNvSpPr>
            <a:spLocks xmlns:a="http://schemas.openxmlformats.org/drawingml/2006/main" noGrp="1"/>
          </p:cNvSpPr>
          <p:nvPr/>
        </p:nvSpPr>
        <p:spPr>
          <a:xfrm xmlns:a="http://schemas.openxmlformats.org/drawingml/2006/main">
            <a:off x="876300" y="4533900"/>
            <a:ext cx="76200" cy="76200"/>
          </a:xfrm>
          <a:prstGeom xmlns:a="http://schemas.openxmlformats.org/drawingml/2006/main" prst="roundRect">
            <a:avLst>
              <a:gd name="adj" fmla="val 50000"/>
            </a:avLst>
          </a:prstGeom>
          <a:solidFill xmlns:a="http://schemas.openxmlformats.org/drawingml/2006/main">
            <a:srgbClr val="F3C432"/>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D7F3CA4B-314A-401F-8CB4-4E2280646E2A}"/>
              </a:ext>
            </a:extLst>
          </p:cNvPr>
          <p:cNvSpPr>
            <a:spLocks xmlns:a="http://schemas.openxmlformats.org/drawingml/2006/main" noGrp="1"/>
          </p:cNvSpPr>
          <p:nvPr/>
        </p:nvSpPr>
        <p:spPr>
          <a:xfrm xmlns:a="http://schemas.openxmlformats.org/drawingml/2006/main">
            <a:off x="1085850" y="4457700"/>
            <a:ext cx="5314950" cy="5334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111827"/>
                </a:solidFill>
                <a:latin typeface="LM Roman 12"/>
                <a:ea typeface="LM Roman 12"/>
                <a:cs typeface="LM Roman 12"/>
              </a:defRPr>
            </a:pPr>
            <a:r>
              <a:rPr sz="1425" b="0">
                <a:solidFill>
                  <a:srgbClr val="111827"/>
                </a:solidFill>
                <a:latin typeface="LM Roman 12"/>
                <a:ea typeface="LM Roman 12"/>
                <a:cs typeface="LM Roman 12"/>
              </a:rPr>
              <a:t>Final accuracy does not show whether smaller client models are actually usable.</a:t>
            </a:r>
          </a:p>
        </p:txBody>
      </p:sp>
      <p:sp>
        <p:nvSpPr>
          <p:cNvPr id="16" name="">
            <a:extLst xmlns:a="http://schemas.openxmlformats.org/drawingml/2006/main">
              <a:ext uri="{FF2B5EF4-FFF2-40B4-BE49-F238E27FC236}">
                <a16:creationId xmlns:a16="http://schemas.microsoft.com/office/drawing/2014/main" id="{9F0AAE38-7D09-4842-83FF-32F824A88F81}"/>
              </a:ext>
            </a:extLst>
          </p:cNvPr>
          <p:cNvSpPr>
            <a:spLocks xmlns:a="http://schemas.openxmlformats.org/drawingml/2006/main" noGrp="1"/>
          </p:cNvSpPr>
          <p:nvPr/>
        </p:nvSpPr>
        <p:spPr>
          <a:xfrm xmlns:a="http://schemas.openxmlformats.org/drawingml/2006/main">
            <a:off x="6572250" y="2343150"/>
            <a:ext cx="3714750" cy="1104900"/>
          </a:xfrm>
          <a:prstGeom xmlns:a="http://schemas.openxmlformats.org/drawingml/2006/main" prst="roundRect">
            <a:avLst>
              <a:gd name="adj" fmla="val 6034"/>
            </a:avLst>
          </a:prstGeom>
          <a:solidFill xmlns:a="http://schemas.openxmlformats.org/drawingml/2006/main">
            <a:srgbClr val="FFFFFF"/>
          </a:solidFill>
          <a:ln xmlns:a="http://schemas.openxmlformats.org/drawingml/2006/main" w="9525">
            <a:solidFill>
              <a:srgbClr val="D5DCE8"/>
            </a:solidFill>
            <a:prstDash val="solid"/>
          </a:ln>
        </p:spPr>
      </p:sp>
      <p:sp>
        <p:nvSpPr>
          <p:cNvPr id="17" name="">
            <a:extLst xmlns:a="http://schemas.openxmlformats.org/drawingml/2006/main">
              <a:ext uri="{FF2B5EF4-FFF2-40B4-BE49-F238E27FC236}">
                <a16:creationId xmlns:a16="http://schemas.microsoft.com/office/drawing/2014/main" id="{D340123D-2D6B-4067-A8BA-74F40AD5C9F0}"/>
              </a:ext>
            </a:extLst>
          </p:cNvPr>
          <p:cNvSpPr>
            <a:spLocks xmlns:a="http://schemas.openxmlformats.org/drawingml/2006/main" noGrp="1"/>
          </p:cNvSpPr>
          <p:nvPr/>
        </p:nvSpPr>
        <p:spPr>
          <a:xfrm xmlns:a="http://schemas.openxmlformats.org/drawingml/2006/main">
            <a:off x="6572250" y="2343150"/>
            <a:ext cx="76200" cy="1104900"/>
          </a:xfrm>
          <a:prstGeom xmlns:a="http://schemas.openxmlformats.org/drawingml/2006/main" prst="roundRect">
            <a:avLst>
              <a:gd name="adj" fmla="val 50000"/>
            </a:avLst>
          </a:prstGeom>
          <a:solidFill xmlns:a="http://schemas.openxmlformats.org/drawingml/2006/main">
            <a:srgbClr val="43A896"/>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2BAB3D9C-8B37-4FB0-A2BA-8452F4C534BE}"/>
              </a:ext>
            </a:extLst>
          </p:cNvPr>
          <p:cNvSpPr>
            <a:spLocks xmlns:a="http://schemas.openxmlformats.org/drawingml/2006/main" noGrp="1"/>
          </p:cNvSpPr>
          <p:nvPr/>
        </p:nvSpPr>
        <p:spPr>
          <a:xfrm xmlns:a="http://schemas.openxmlformats.org/drawingml/2006/main">
            <a:off x="6781800" y="2476500"/>
            <a:ext cx="3371850" cy="3619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071F46"/>
                </a:solidFill>
                <a:latin typeface="LM Roman 12"/>
                <a:ea typeface="LM Roman 12"/>
                <a:cs typeface="LM Roman 12"/>
              </a:defRPr>
            </a:pPr>
            <a:r>
              <a:rPr sz="2175" b="1">
                <a:solidFill>
                  <a:srgbClr val="071F46"/>
                </a:solidFill>
                <a:latin typeface="LM Roman 12"/>
                <a:ea typeface="LM Roman 12"/>
                <a:cs typeface="LM Roman 12"/>
              </a:rPr>
              <a:t>real hardware</a:t>
            </a:r>
          </a:p>
        </p:txBody>
      </p:sp>
      <p:sp>
        <p:nvSpPr>
          <p:cNvPr id="19" name="">
            <a:extLst xmlns:a="http://schemas.openxmlformats.org/drawingml/2006/main">
              <a:ext uri="{FF2B5EF4-FFF2-40B4-BE49-F238E27FC236}">
                <a16:creationId xmlns:a16="http://schemas.microsoft.com/office/drawing/2014/main" id="{195E4705-9498-4E0F-952A-F91BE4D91032}"/>
              </a:ext>
            </a:extLst>
          </p:cNvPr>
          <p:cNvSpPr>
            <a:spLocks xmlns:a="http://schemas.openxmlformats.org/drawingml/2006/main" noGrp="1"/>
          </p:cNvSpPr>
          <p:nvPr/>
        </p:nvSpPr>
        <p:spPr>
          <a:xfrm xmlns:a="http://schemas.openxmlformats.org/drawingml/2006/main">
            <a:off x="6781800" y="2895600"/>
            <a:ext cx="3371850" cy="4000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B6472"/>
                </a:solidFill>
                <a:latin typeface="LM Roman 12"/>
                <a:ea typeface="LM Roman 12"/>
                <a:cs typeface="LM Roman 12"/>
              </a:defRPr>
            </a:pPr>
            <a:r>
              <a:rPr sz="1200" b="0">
                <a:solidFill>
                  <a:srgbClr val="5B6472"/>
                </a:solidFill>
                <a:latin typeface="LM Roman 12"/>
                <a:ea typeface="LM Roman 12"/>
                <a:cs typeface="LM Roman 12"/>
              </a:rPr>
              <a:t>device class, memory, and measured local timing</a:t>
            </a:r>
          </a:p>
        </p:txBody>
      </p:sp>
      <p:sp>
        <p:nvSpPr>
          <p:cNvPr id="20" name="">
            <a:extLst xmlns:a="http://schemas.openxmlformats.org/drawingml/2006/main">
              <a:ext uri="{FF2B5EF4-FFF2-40B4-BE49-F238E27FC236}">
                <a16:creationId xmlns:a16="http://schemas.microsoft.com/office/drawing/2014/main" id="{4CABE73F-C864-44C3-BAFF-706E5653874B}"/>
              </a:ext>
            </a:extLst>
          </p:cNvPr>
          <p:cNvSpPr>
            <a:spLocks xmlns:a="http://schemas.openxmlformats.org/drawingml/2006/main" noGrp="1"/>
          </p:cNvSpPr>
          <p:nvPr/>
        </p:nvSpPr>
        <p:spPr>
          <a:xfrm xmlns:a="http://schemas.openxmlformats.org/drawingml/2006/main">
            <a:off x="6572250" y="3448050"/>
            <a:ext cx="3714750" cy="1104900"/>
          </a:xfrm>
          <a:prstGeom xmlns:a="http://schemas.openxmlformats.org/drawingml/2006/main" prst="roundRect">
            <a:avLst>
              <a:gd name="adj" fmla="val 6034"/>
            </a:avLst>
          </a:prstGeom>
          <a:solidFill xmlns:a="http://schemas.openxmlformats.org/drawingml/2006/main">
            <a:srgbClr val="FFFFFF"/>
          </a:solidFill>
          <a:ln xmlns:a="http://schemas.openxmlformats.org/drawingml/2006/main" w="9525">
            <a:solidFill>
              <a:srgbClr val="D5DCE8"/>
            </a:solidFill>
            <a:prstDash val="solid"/>
          </a:ln>
        </p:spPr>
      </p:sp>
      <p:sp>
        <p:nvSpPr>
          <p:cNvPr id="21" name="">
            <a:extLst xmlns:a="http://schemas.openxmlformats.org/drawingml/2006/main">
              <a:ext uri="{FF2B5EF4-FFF2-40B4-BE49-F238E27FC236}">
                <a16:creationId xmlns:a16="http://schemas.microsoft.com/office/drawing/2014/main" id="{DD11401B-8527-4FBE-BB2D-D0671E0CE2EA}"/>
              </a:ext>
            </a:extLst>
          </p:cNvPr>
          <p:cNvSpPr>
            <a:spLocks xmlns:a="http://schemas.openxmlformats.org/drawingml/2006/main" noGrp="1"/>
          </p:cNvSpPr>
          <p:nvPr/>
        </p:nvSpPr>
        <p:spPr>
          <a:xfrm xmlns:a="http://schemas.openxmlformats.org/drawingml/2006/main">
            <a:off x="6572250" y="3448050"/>
            <a:ext cx="76200" cy="1104900"/>
          </a:xfrm>
          <a:prstGeom xmlns:a="http://schemas.openxmlformats.org/drawingml/2006/main" prst="roundRect">
            <a:avLst>
              <a:gd name="adj" fmla="val 50000"/>
            </a:avLst>
          </a:prstGeom>
          <a:solidFill xmlns:a="http://schemas.openxmlformats.org/drawingml/2006/main">
            <a:srgbClr val="F04A23"/>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454E3EB8-DF77-4AB0-87C1-10052DAE3471}"/>
              </a:ext>
            </a:extLst>
          </p:cNvPr>
          <p:cNvSpPr>
            <a:spLocks xmlns:a="http://schemas.openxmlformats.org/drawingml/2006/main" noGrp="1"/>
          </p:cNvSpPr>
          <p:nvPr/>
        </p:nvSpPr>
        <p:spPr>
          <a:xfrm xmlns:a="http://schemas.openxmlformats.org/drawingml/2006/main">
            <a:off x="6781800" y="3581400"/>
            <a:ext cx="3371850" cy="3619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071F46"/>
                </a:solidFill>
                <a:latin typeface="LM Roman 12"/>
                <a:ea typeface="LM Roman 12"/>
                <a:cs typeface="LM Roman 12"/>
              </a:defRPr>
            </a:pPr>
            <a:r>
              <a:rPr sz="2175" b="1">
                <a:solidFill>
                  <a:srgbClr val="071F46"/>
                </a:solidFill>
                <a:latin typeface="LM Roman 12"/>
                <a:ea typeface="LM Roman 12"/>
                <a:cs typeface="LM Roman 12"/>
              </a:rPr>
              <a:t>real time</a:t>
            </a:r>
          </a:p>
        </p:txBody>
      </p:sp>
      <p:sp>
        <p:nvSpPr>
          <p:cNvPr id="23" name="">
            <a:extLst xmlns:a="http://schemas.openxmlformats.org/drawingml/2006/main">
              <a:ext uri="{FF2B5EF4-FFF2-40B4-BE49-F238E27FC236}">
                <a16:creationId xmlns:a16="http://schemas.microsoft.com/office/drawing/2014/main" id="{177072A3-00D3-46CF-9F03-27FEE85AF2E9}"/>
              </a:ext>
            </a:extLst>
          </p:cNvPr>
          <p:cNvSpPr>
            <a:spLocks xmlns:a="http://schemas.openxmlformats.org/drawingml/2006/main" noGrp="1"/>
          </p:cNvSpPr>
          <p:nvPr/>
        </p:nvSpPr>
        <p:spPr>
          <a:xfrm xmlns:a="http://schemas.openxmlformats.org/drawingml/2006/main">
            <a:off x="6781800" y="4000500"/>
            <a:ext cx="3371850" cy="4000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B6472"/>
                </a:solidFill>
                <a:latin typeface="LM Roman 12"/>
                <a:ea typeface="LM Roman 12"/>
                <a:cs typeface="LM Roman 12"/>
              </a:defRPr>
            </a:pPr>
            <a:r>
              <a:rPr sz="1200" b="0">
                <a:solidFill>
                  <a:srgbClr val="5B6472"/>
                </a:solidFill>
                <a:latin typeface="LM Roman 12"/>
                <a:ea typeface="LM Roman 12"/>
                <a:cs typeface="LM Roman 12"/>
              </a:rPr>
              <a:t>wall-clock, trips, staleness, and queue-visible progress</a:t>
            </a:r>
          </a:p>
        </p:txBody>
      </p:sp>
      <p:sp>
        <p:nvSpPr>
          <p:cNvPr id="24" name="">
            <a:extLst xmlns:a="http://schemas.openxmlformats.org/drawingml/2006/main">
              <a:ext uri="{FF2B5EF4-FFF2-40B4-BE49-F238E27FC236}">
                <a16:creationId xmlns:a16="http://schemas.microsoft.com/office/drawing/2014/main" id="{3027AE7F-B6FD-416D-8D93-75792AB3B341}"/>
              </a:ext>
            </a:extLst>
          </p:cNvPr>
          <p:cNvSpPr>
            <a:spLocks xmlns:a="http://schemas.openxmlformats.org/drawingml/2006/main" noGrp="1"/>
          </p:cNvSpPr>
          <p:nvPr/>
        </p:nvSpPr>
        <p:spPr>
          <a:xfrm xmlns:a="http://schemas.openxmlformats.org/drawingml/2006/main">
            <a:off x="6572250" y="4552950"/>
            <a:ext cx="3714750" cy="1104900"/>
          </a:xfrm>
          <a:prstGeom xmlns:a="http://schemas.openxmlformats.org/drawingml/2006/main" prst="roundRect">
            <a:avLst>
              <a:gd name="adj" fmla="val 6034"/>
            </a:avLst>
          </a:prstGeom>
          <a:solidFill xmlns:a="http://schemas.openxmlformats.org/drawingml/2006/main">
            <a:srgbClr val="FFFFFF"/>
          </a:solidFill>
          <a:ln xmlns:a="http://schemas.openxmlformats.org/drawingml/2006/main" w="9525">
            <a:solidFill>
              <a:srgbClr val="D5DCE8"/>
            </a:solidFill>
            <a:prstDash val="solid"/>
          </a:ln>
        </p:spPr>
      </p:sp>
      <p:sp>
        <p:nvSpPr>
          <p:cNvPr id="25" name="">
            <a:extLst xmlns:a="http://schemas.openxmlformats.org/drawingml/2006/main">
              <a:ext uri="{FF2B5EF4-FFF2-40B4-BE49-F238E27FC236}">
                <a16:creationId xmlns:a16="http://schemas.microsoft.com/office/drawing/2014/main" id="{71746B4D-EEEB-4A9B-9DD0-5A2794436F0B}"/>
              </a:ext>
            </a:extLst>
          </p:cNvPr>
          <p:cNvSpPr>
            <a:spLocks xmlns:a="http://schemas.openxmlformats.org/drawingml/2006/main" noGrp="1"/>
          </p:cNvSpPr>
          <p:nvPr/>
        </p:nvSpPr>
        <p:spPr>
          <a:xfrm xmlns:a="http://schemas.openxmlformats.org/drawingml/2006/main">
            <a:off x="6572250" y="4552950"/>
            <a:ext cx="76200" cy="1104900"/>
          </a:xfrm>
          <a:prstGeom xmlns:a="http://schemas.openxmlformats.org/drawingml/2006/main" prst="roundRect">
            <a:avLst>
              <a:gd name="adj" fmla="val 50000"/>
            </a:avLst>
          </a:prstGeom>
          <a:solidFill xmlns:a="http://schemas.openxmlformats.org/drawingml/2006/main">
            <a:srgbClr val="F3C432"/>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54700CCA-F465-44AF-B0F1-7B471014F13D}"/>
              </a:ext>
            </a:extLst>
          </p:cNvPr>
          <p:cNvSpPr>
            <a:spLocks xmlns:a="http://schemas.openxmlformats.org/drawingml/2006/main" noGrp="1"/>
          </p:cNvSpPr>
          <p:nvPr/>
        </p:nvSpPr>
        <p:spPr>
          <a:xfrm xmlns:a="http://schemas.openxmlformats.org/drawingml/2006/main">
            <a:off x="6781800" y="4686300"/>
            <a:ext cx="3371850" cy="3619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071F46"/>
                </a:solidFill>
                <a:latin typeface="LM Roman 12"/>
                <a:ea typeface="LM Roman 12"/>
                <a:cs typeface="LM Roman 12"/>
              </a:defRPr>
            </a:pPr>
            <a:r>
              <a:rPr sz="2175" b="1">
                <a:solidFill>
                  <a:srgbClr val="071F46"/>
                </a:solidFill>
                <a:latin typeface="LM Roman 12"/>
                <a:ea typeface="LM Roman 12"/>
                <a:cs typeface="LM Roman 12"/>
              </a:rPr>
              <a:t>real influence</a:t>
            </a:r>
          </a:p>
        </p:txBody>
      </p:sp>
      <p:sp>
        <p:nvSpPr>
          <p:cNvPr id="27" name="">
            <a:extLst xmlns:a="http://schemas.openxmlformats.org/drawingml/2006/main">
              <a:ext uri="{FF2B5EF4-FFF2-40B4-BE49-F238E27FC236}">
                <a16:creationId xmlns:a16="http://schemas.microsoft.com/office/drawing/2014/main" id="{C5C1C454-5E69-4563-A165-65EE2CF2D410}"/>
              </a:ext>
            </a:extLst>
          </p:cNvPr>
          <p:cNvSpPr>
            <a:spLocks xmlns:a="http://schemas.openxmlformats.org/drawingml/2006/main" noGrp="1"/>
          </p:cNvSpPr>
          <p:nvPr/>
        </p:nvSpPr>
        <p:spPr>
          <a:xfrm xmlns:a="http://schemas.openxmlformats.org/drawingml/2006/main">
            <a:off x="6781800" y="5105400"/>
            <a:ext cx="3371850" cy="4000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B6472"/>
                </a:solidFill>
                <a:latin typeface="LM Roman 12"/>
                <a:ea typeface="LM Roman 12"/>
                <a:cs typeface="LM Roman 12"/>
              </a:defRPr>
            </a:pPr>
            <a:r>
              <a:rPr sz="1200" b="0">
                <a:solidFill>
                  <a:srgbClr val="5B6472"/>
                </a:solidFill>
                <a:latin typeface="LM Roman 12"/>
                <a:ea typeface="LM Roman 12"/>
                <a:cs typeface="LM Roman 12"/>
              </a:rPr>
              <a:t>update share, aggregate weight, and submodel coverage</a:t>
            </a:r>
          </a:p>
        </p:txBody>
      </p:sp>
      <p:sp>
        <p:nvSpPr>
          <p:cNvPr id="28" name="">
            <a:extLst xmlns:a="http://schemas.openxmlformats.org/drawingml/2006/main">
              <a:ext uri="{FF2B5EF4-FFF2-40B4-BE49-F238E27FC236}">
                <a16:creationId xmlns:a16="http://schemas.microsoft.com/office/drawing/2014/main" id="{A264D41C-BCCF-4E0C-BF8C-2800ABEAA477}"/>
              </a:ext>
            </a:extLst>
          </p:cNvPr>
          <p:cNvSpPr>
            <a:spLocks xmlns:a="http://schemas.openxmlformats.org/drawingml/2006/main" noGrp="1"/>
          </p:cNvSpPr>
          <p:nvPr/>
        </p:nvSpPr>
        <p:spPr>
          <a:xfrm xmlns:a="http://schemas.openxmlformats.org/drawingml/2006/main">
            <a:off x="666750" y="6296025"/>
            <a:ext cx="10858500" cy="9525"/>
          </a:xfrm>
          <a:prstGeom xmlns:a="http://schemas.openxmlformats.org/drawingml/2006/main" prst="rect">
            <a:avLst/>
          </a:prstGeom>
          <a:solidFill xmlns:a="http://schemas.openxmlformats.org/drawingml/2006/main">
            <a:srgbClr val="E6EBF3"/>
          </a:solidFill>
          <a:ln xmlns:a="http://schemas.openxmlformats.org/drawingml/2006/main" w="0">
            <a:solidFill>
              <a:srgbClr val="000000">
                <a:alpha val="0"/>
              </a:srgbClr>
            </a:solidFill>
            <a:prstDash val="solid"/>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f8a57eeda7334f49"/>
          <a:stretch xmlns:a="http://schemas.openxmlformats.org/drawingml/2006/main"/>
        </p:blipFill>
        <p:spPr>
          <a:xfrm xmlns:a="http://schemas.openxmlformats.org/drawingml/2006/main">
            <a:off x="666977" y="6429375"/>
            <a:ext cx="269103" cy="228600"/>
          </a:xfrm>
          <a:prstGeom xmlns:a="http://schemas.openxmlformats.org/drawingml/2006/main" prst="rect">
            <a:avLst/>
          </a:prstGeom>
        </p:spPr>
      </p:pic>
      <p:sp>
        <p:nvSpPr>
          <p:cNvPr id="30" name="">
            <a:extLst xmlns:a="http://schemas.openxmlformats.org/drawingml/2006/main">
              <a:ext uri="{FF2B5EF4-FFF2-40B4-BE49-F238E27FC236}">
                <a16:creationId xmlns:a16="http://schemas.microsoft.com/office/drawing/2014/main" id="{E28B8FCB-5334-49A2-957C-B9FC41AEBAC6}"/>
              </a:ext>
            </a:extLst>
          </p:cNvPr>
          <p:cNvSpPr>
            <a:spLocks xmlns:a="http://schemas.openxmlformats.org/drawingml/2006/main" noGrp="1"/>
          </p:cNvSpPr>
          <p:nvPr/>
        </p:nvSpPr>
        <p:spPr>
          <a:xfrm xmlns:a="http://schemas.openxmlformats.org/drawingml/2006/main">
            <a:off x="990600" y="6457950"/>
            <a:ext cx="400050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significance: deployment behavior is part of the experiment</a:t>
            </a:r>
          </a:p>
        </p:txBody>
      </p:sp>
      <p:sp>
        <p:nvSpPr>
          <p:cNvPr id="31" name="">
            <a:extLst xmlns:a="http://schemas.openxmlformats.org/drawingml/2006/main">
              <a:ext uri="{FF2B5EF4-FFF2-40B4-BE49-F238E27FC236}">
                <a16:creationId xmlns:a16="http://schemas.microsoft.com/office/drawing/2014/main" id="{10984AE3-38CA-4EA5-8133-4CC062BBCFCA}"/>
              </a:ext>
            </a:extLst>
          </p:cNvPr>
          <p:cNvSpPr>
            <a:spLocks xmlns:a="http://schemas.openxmlformats.org/drawingml/2006/main" noGrp="1"/>
          </p:cNvSpPr>
          <p:nvPr/>
        </p:nvSpPr>
        <p:spPr>
          <a:xfrm xmlns:a="http://schemas.openxmlformats.org/drawingml/2006/main">
            <a:off x="11049000" y="6457950"/>
            <a:ext cx="47625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02</a:t>
            </a:r>
          </a:p>
        </p:txBody>
      </p:sp>
    </p:spTree>
    <p:extLst>
      <p:ext uri="{BB962C8B-B14F-4D97-AF65-F5344CB8AC3E}">
        <p14:creationId xmlns:p14="http://schemas.microsoft.com/office/powerpoint/2010/main" val="1948282833"/>
      </p:ext>
    </p:extLst>
  </p:cSld>
</p:sld>
</file>

<file path=ppt/slides/slide3.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D005493-F20A-47A7-A429-1A10F1178357}"/>
              </a:ext>
            </a:extLst>
          </p:cNvPr>
          <p:cNvSpPr>
            <a:spLocks xmlns:a="http://schemas.openxmlformats.org/drawingml/2006/main" noGrp="1"/>
          </p:cNvSpPr>
          <p:nvPr/>
        </p:nvSpPr>
        <p:spPr>
          <a:xfrm xmlns:a="http://schemas.openxmlformats.org/drawingml/2006/main">
            <a:off x="666750" y="342900"/>
            <a:ext cx="4953000" cy="1905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43A896"/>
                </a:solidFill>
                <a:latin typeface="LM Roman 12"/>
                <a:ea typeface="LM Roman 12"/>
                <a:cs typeface="LM Roman 12"/>
              </a:defRPr>
            </a:pPr>
            <a:r>
              <a:rPr sz="975" b="1">
                <a:solidFill>
                  <a:srgbClr val="43A896"/>
                </a:solidFill>
                <a:latin typeface="LM Roman 12"/>
                <a:ea typeface="LM Roman 12"/>
                <a:cs typeface="LM Roman 12"/>
              </a:rPr>
              <a:t>EVALUATION MAP</a:t>
            </a:r>
          </a:p>
        </p:txBody>
      </p:sp>
      <p:sp>
        <p:nvSpPr>
          <p:cNvPr id="2" name="">
            <a:extLst xmlns:a="http://schemas.openxmlformats.org/drawingml/2006/main">
              <a:ext uri="{FF2B5EF4-FFF2-40B4-BE49-F238E27FC236}">
                <a16:creationId xmlns:a16="http://schemas.microsoft.com/office/drawing/2014/main" id="{F07D12D6-ADC4-48A1-AD3E-80C593E9CDF2}"/>
              </a:ext>
            </a:extLst>
          </p:cNvPr>
          <p:cNvSpPr>
            <a:spLocks xmlns:a="http://schemas.openxmlformats.org/drawingml/2006/main" noGrp="1"/>
          </p:cNvSpPr>
          <p:nvPr/>
        </p:nvSpPr>
        <p:spPr>
          <a:xfrm xmlns:a="http://schemas.openxmlformats.org/drawingml/2006/main">
            <a:off x="666750" y="590550"/>
            <a:ext cx="9239250" cy="6477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71F46"/>
                </a:solidFill>
                <a:latin typeface="LM Roman 12"/>
                <a:ea typeface="LM Roman 12"/>
                <a:cs typeface="LM Roman 12"/>
              </a:defRPr>
            </a:pPr>
            <a:r>
              <a:rPr sz="2250" b="1">
                <a:solidFill>
                  <a:srgbClr val="071F46"/>
                </a:solidFill>
                <a:latin typeface="LM Roman 12"/>
                <a:ea typeface="LM Roman 12"/>
                <a:cs typeface="LM Roman 12"/>
              </a:rPr>
              <a:t>Two Pressures and Their Intersection</a:t>
            </a:r>
          </a:p>
        </p:txBody>
      </p:sp>
      <p:sp>
        <p:nvSpPr>
          <p:cNvPr id="3" name="">
            <a:extLst xmlns:a="http://schemas.openxmlformats.org/drawingml/2006/main">
              <a:ext uri="{FF2B5EF4-FFF2-40B4-BE49-F238E27FC236}">
                <a16:creationId xmlns:a16="http://schemas.microsoft.com/office/drawing/2014/main" id="{C91F790E-B9F0-4F7A-B37B-20F4386E3F0C}"/>
              </a:ext>
            </a:extLst>
          </p:cNvPr>
          <p:cNvSpPr>
            <a:spLocks xmlns:a="http://schemas.openxmlformats.org/drawingml/2006/main" noGrp="1"/>
          </p:cNvSpPr>
          <p:nvPr/>
        </p:nvSpPr>
        <p:spPr>
          <a:xfrm xmlns:a="http://schemas.openxmlformats.org/drawingml/2006/main">
            <a:off x="666750" y="1005840"/>
            <a:ext cx="1143000" cy="47625"/>
          </a:xfrm>
          <a:prstGeom xmlns:a="http://schemas.openxmlformats.org/drawingml/2006/main" prst="rect">
            <a:avLst/>
          </a:prstGeom>
          <a:solidFill xmlns:a="http://schemas.openxmlformats.org/drawingml/2006/main">
            <a:srgbClr val="F3C43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FBF7A3F8-8D98-4BD3-97D7-80497C7F96B1}"/>
              </a:ext>
            </a:extLst>
          </p:cNvPr>
          <p:cNvSpPr>
            <a:spLocks xmlns:a="http://schemas.openxmlformats.org/drawingml/2006/main" noGrp="1"/>
          </p:cNvSpPr>
          <p:nvPr/>
        </p:nvSpPr>
        <p:spPr>
          <a:xfrm xmlns:a="http://schemas.openxmlformats.org/drawingml/2006/main">
            <a:off x="666750" y="1409700"/>
            <a:ext cx="3333750" cy="4171950"/>
          </a:xfrm>
          <a:prstGeom xmlns:a="http://schemas.openxmlformats.org/drawingml/2006/main" prst="roundRect">
            <a:avLst>
              <a:gd name="adj" fmla="val 2000"/>
            </a:avLst>
          </a:prstGeom>
          <a:solidFill xmlns:a="http://schemas.openxmlformats.org/drawingml/2006/main">
            <a:srgbClr val="FFFFFF"/>
          </a:solidFill>
          <a:ln xmlns:a="http://schemas.openxmlformats.org/drawingml/2006/main" w="9525">
            <a:solidFill>
              <a:srgbClr val="D5DCE8"/>
            </a:solidFill>
            <a:prstDash val="solid"/>
          </a:ln>
        </p:spPr>
      </p:sp>
      <p:sp>
        <p:nvSpPr>
          <p:cNvPr id="5" name="">
            <a:extLst xmlns:a="http://schemas.openxmlformats.org/drawingml/2006/main">
              <a:ext uri="{FF2B5EF4-FFF2-40B4-BE49-F238E27FC236}">
                <a16:creationId xmlns:a16="http://schemas.microsoft.com/office/drawing/2014/main" id="{2B23C255-1464-4E9B-B705-E8DE42815533}"/>
              </a:ext>
            </a:extLst>
          </p:cNvPr>
          <p:cNvSpPr>
            <a:spLocks xmlns:a="http://schemas.openxmlformats.org/drawingml/2006/main" noGrp="1"/>
          </p:cNvSpPr>
          <p:nvPr/>
        </p:nvSpPr>
        <p:spPr>
          <a:xfrm xmlns:a="http://schemas.openxmlformats.org/drawingml/2006/main">
            <a:off x="666750" y="1409700"/>
            <a:ext cx="3333750" cy="76200"/>
          </a:xfrm>
          <a:prstGeom xmlns:a="http://schemas.openxmlformats.org/drawingml/2006/main" prst="roundRect">
            <a:avLst>
              <a:gd name="adj" fmla="val 50000"/>
            </a:avLst>
          </a:prstGeom>
          <a:solidFill xmlns:a="http://schemas.openxmlformats.org/drawingml/2006/main">
            <a:srgbClr val="43A896"/>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E548881A-7099-445A-B039-B08DB2B743CB}"/>
              </a:ext>
            </a:extLst>
          </p:cNvPr>
          <p:cNvSpPr>
            <a:spLocks xmlns:a="http://schemas.openxmlformats.org/drawingml/2006/main" noGrp="1"/>
          </p:cNvSpPr>
          <p:nvPr/>
        </p:nvSpPr>
        <p:spPr>
          <a:xfrm xmlns:a="http://schemas.openxmlformats.org/drawingml/2006/main">
            <a:off x="876300" y="1657350"/>
            <a:ext cx="723900" cy="228600"/>
          </a:xfrm>
          <a:prstGeom xmlns:a="http://schemas.openxmlformats.org/drawingml/2006/main" prst="roundRect">
            <a:avLst>
              <a:gd name="adj" fmla="val 20833"/>
            </a:avLst>
          </a:prstGeom>
          <a:solidFill xmlns:a="http://schemas.openxmlformats.org/drawingml/2006/main">
            <a:srgbClr val="F1F5F9"/>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14ADF993-0EDC-4549-BB2F-8CF123156B48}"/>
              </a:ext>
            </a:extLst>
          </p:cNvPr>
          <p:cNvSpPr>
            <a:spLocks xmlns:a="http://schemas.openxmlformats.org/drawingml/2006/main" noGrp="1"/>
          </p:cNvSpPr>
          <p:nvPr/>
        </p:nvSpPr>
        <p:spPr>
          <a:xfrm xmlns:a="http://schemas.openxmlformats.org/drawingml/2006/main">
            <a:off x="952500" y="1695450"/>
            <a:ext cx="571500" cy="1524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43A896"/>
                </a:solidFill>
                <a:latin typeface="LM Roman 12"/>
                <a:ea typeface="LM Roman 12"/>
                <a:cs typeface="LM Roman 12"/>
              </a:defRPr>
            </a:pPr>
            <a:r>
              <a:rPr sz="825" b="1">
                <a:solidFill>
                  <a:srgbClr val="43A896"/>
                </a:solidFill>
                <a:latin typeface="LM Roman 12"/>
                <a:ea typeface="LM Roman 12"/>
                <a:cs typeface="LM Roman 12"/>
              </a:rPr>
              <a:t>C1-C4</a:t>
            </a:r>
          </a:p>
        </p:txBody>
      </p:sp>
      <p:sp>
        <p:nvSpPr>
          <p:cNvPr id="8" name="">
            <a:extLst xmlns:a="http://schemas.openxmlformats.org/drawingml/2006/main">
              <a:ext uri="{FF2B5EF4-FFF2-40B4-BE49-F238E27FC236}">
                <a16:creationId xmlns:a16="http://schemas.microsoft.com/office/drawing/2014/main" id="{DB6232D2-A8E5-400D-8D28-DB3FAD73485B}"/>
              </a:ext>
            </a:extLst>
          </p:cNvPr>
          <p:cNvSpPr>
            <a:spLocks xmlns:a="http://schemas.openxmlformats.org/drawingml/2006/main" noGrp="1"/>
          </p:cNvSpPr>
          <p:nvPr/>
        </p:nvSpPr>
        <p:spPr>
          <a:xfrm xmlns:a="http://schemas.openxmlformats.org/drawingml/2006/main">
            <a:off x="876300" y="1962150"/>
            <a:ext cx="2857500" cy="5143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71F46"/>
                </a:solidFill>
                <a:latin typeface="LM Roman 12"/>
                <a:ea typeface="LM Roman 12"/>
                <a:cs typeface="LM Roman 12"/>
              </a:defRPr>
            </a:pPr>
            <a:r>
              <a:rPr sz="1575" b="1">
                <a:solidFill>
                  <a:srgbClr val="071F46"/>
                </a:solidFill>
                <a:latin typeface="LM Roman 12"/>
                <a:ea typeface="LM Roman 12"/>
                <a:cs typeface="LM Roman 12"/>
              </a:rPr>
              <a:t>Compute heterogeneity</a:t>
            </a:r>
          </a:p>
        </p:txBody>
      </p:sp>
      <p:sp>
        <p:nvSpPr>
          <p:cNvPr id="9" name="">
            <a:extLst xmlns:a="http://schemas.openxmlformats.org/drawingml/2006/main">
              <a:ext uri="{FF2B5EF4-FFF2-40B4-BE49-F238E27FC236}">
                <a16:creationId xmlns:a16="http://schemas.microsoft.com/office/drawing/2014/main" id="{8709E5D9-5325-4F65-B993-6ED2FF606FB7}"/>
              </a:ext>
            </a:extLst>
          </p:cNvPr>
          <p:cNvSpPr>
            <a:spLocks xmlns:a="http://schemas.openxmlformats.org/drawingml/2006/main" noGrp="1"/>
          </p:cNvSpPr>
          <p:nvPr/>
        </p:nvSpPr>
        <p:spPr>
          <a:xfrm xmlns:a="http://schemas.openxmlformats.org/drawingml/2006/main">
            <a:off x="876300" y="2571750"/>
            <a:ext cx="952500" cy="1905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02" b="1">
                <a:solidFill>
                  <a:srgbClr val="43A896"/>
                </a:solidFill>
                <a:latin typeface="LM Roman 12"/>
                <a:ea typeface="LM Roman 12"/>
                <a:cs typeface="LM Roman 12"/>
              </a:defRPr>
            </a:pPr>
            <a:r>
              <a:rPr sz="1102" b="1">
                <a:solidFill>
                  <a:srgbClr val="43A896"/>
                </a:solidFill>
                <a:latin typeface="LM Roman 12"/>
                <a:ea typeface="LM Roman 12"/>
                <a:cs typeface="LM Roman 12"/>
              </a:rPr>
              <a:t>Definition</a:t>
            </a:r>
          </a:p>
        </p:txBody>
      </p:sp>
      <p:sp>
        <p:nvSpPr>
          <p:cNvPr id="10" name="">
            <a:extLst xmlns:a="http://schemas.openxmlformats.org/drawingml/2006/main">
              <a:ext uri="{FF2B5EF4-FFF2-40B4-BE49-F238E27FC236}">
                <a16:creationId xmlns:a16="http://schemas.microsoft.com/office/drawing/2014/main" id="{058E6BB8-FC1F-4579-B83D-96274448F0C6}"/>
              </a:ext>
            </a:extLst>
          </p:cNvPr>
          <p:cNvSpPr>
            <a:spLocks xmlns:a="http://schemas.openxmlformats.org/drawingml/2006/main" noGrp="1"/>
          </p:cNvSpPr>
          <p:nvPr/>
        </p:nvSpPr>
        <p:spPr>
          <a:xfrm xmlns:a="http://schemas.openxmlformats.org/drawingml/2006/main">
            <a:off x="876300" y="2800350"/>
            <a:ext cx="2857500" cy="6667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02" b="0">
                <a:solidFill>
                  <a:srgbClr val="111827"/>
                </a:solidFill>
                <a:latin typeface="LM Roman 12"/>
                <a:ea typeface="LM Roman 12"/>
                <a:cs typeface="LM Roman 12"/>
              </a:defRPr>
            </a:pPr>
            <a:r>
              <a:rPr sz="1102" b="0">
                <a:solidFill>
                  <a:srgbClr val="111827"/>
                </a:solidFill>
                <a:latin typeface="LM Roman 12"/>
                <a:ea typeface="LM Roman 12"/>
                <a:cs typeface="LM Roman 12"/>
              </a:rPr>
              <a:t>Clients differ in local speed and memory, so weak devices may need smaller deployable models or longer training time.</a:t>
            </a:r>
          </a:p>
        </p:txBody>
      </p:sp>
      <p:sp>
        <p:nvSpPr>
          <p:cNvPr id="11" name="">
            <a:extLst xmlns:a="http://schemas.openxmlformats.org/drawingml/2006/main">
              <a:ext uri="{FF2B5EF4-FFF2-40B4-BE49-F238E27FC236}">
                <a16:creationId xmlns:a16="http://schemas.microsoft.com/office/drawing/2014/main" id="{1A3A62FF-3957-4ADE-9139-CFA96F2D6477}"/>
              </a:ext>
            </a:extLst>
          </p:cNvPr>
          <p:cNvSpPr>
            <a:spLocks xmlns:a="http://schemas.openxmlformats.org/drawingml/2006/main" noGrp="1"/>
          </p:cNvSpPr>
          <p:nvPr/>
        </p:nvSpPr>
        <p:spPr>
          <a:xfrm xmlns:a="http://schemas.openxmlformats.org/drawingml/2006/main">
            <a:off x="876300" y="3486150"/>
            <a:ext cx="952500" cy="1905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02" b="1">
                <a:solidFill>
                  <a:srgbClr val="43A896"/>
                </a:solidFill>
                <a:latin typeface="LM Roman 12"/>
                <a:ea typeface="LM Roman 12"/>
                <a:cs typeface="LM Roman 12"/>
              </a:defRPr>
            </a:pPr>
            <a:r>
              <a:rPr sz="1102" b="1">
                <a:solidFill>
                  <a:srgbClr val="43A896"/>
                </a:solidFill>
                <a:latin typeface="LM Roman 12"/>
                <a:ea typeface="LM Roman 12"/>
                <a:cs typeface="LM Roman 12"/>
              </a:rPr>
              <a:t>Methods</a:t>
            </a:r>
          </a:p>
        </p:txBody>
      </p:sp>
      <p:sp>
        <p:nvSpPr>
          <p:cNvPr id="12" name="">
            <a:extLst xmlns:a="http://schemas.openxmlformats.org/drawingml/2006/main">
              <a:ext uri="{FF2B5EF4-FFF2-40B4-BE49-F238E27FC236}">
                <a16:creationId xmlns:a16="http://schemas.microsoft.com/office/drawing/2014/main" id="{6237730A-B10C-4DD5-9C12-7B880493138C}"/>
              </a:ext>
            </a:extLst>
          </p:cNvPr>
          <p:cNvSpPr>
            <a:spLocks xmlns:a="http://schemas.openxmlformats.org/drawingml/2006/main" noGrp="1"/>
          </p:cNvSpPr>
          <p:nvPr/>
        </p:nvSpPr>
        <p:spPr>
          <a:xfrm xmlns:a="http://schemas.openxmlformats.org/drawingml/2006/main">
            <a:off x="876300" y="3714750"/>
            <a:ext cx="2857500" cy="4572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02" b="0">
                <a:solidFill>
                  <a:srgbClr val="111827"/>
                </a:solidFill>
                <a:latin typeface="LM Roman 12"/>
                <a:ea typeface="LM Roman 12"/>
                <a:cs typeface="LM Roman 12"/>
              </a:defRPr>
            </a:pPr>
            <a:r>
              <a:rPr sz="1102" b="0">
                <a:solidFill>
                  <a:srgbClr val="111827"/>
                </a:solidFill>
                <a:latin typeface="LM Roman 12"/>
                <a:ea typeface="LM Roman 12"/>
                <a:cs typeface="LM Roman 12"/>
              </a:rPr>
              <a:t>FedAvg, HeteroFL, FedRolex, FIARSE</a:t>
            </a:r>
          </a:p>
        </p:txBody>
      </p:sp>
      <p:sp>
        <p:nvSpPr>
          <p:cNvPr id="13" name="">
            <a:extLst xmlns:a="http://schemas.openxmlformats.org/drawingml/2006/main">
              <a:ext uri="{FF2B5EF4-FFF2-40B4-BE49-F238E27FC236}">
                <a16:creationId xmlns:a16="http://schemas.microsoft.com/office/drawing/2014/main" id="{DC3B63EC-2FEC-4DBD-9684-A027B81D3A47}"/>
              </a:ext>
            </a:extLst>
          </p:cNvPr>
          <p:cNvSpPr>
            <a:spLocks xmlns:a="http://schemas.openxmlformats.org/drawingml/2006/main" noGrp="1"/>
          </p:cNvSpPr>
          <p:nvPr/>
        </p:nvSpPr>
        <p:spPr>
          <a:xfrm xmlns:a="http://schemas.openxmlformats.org/drawingml/2006/main">
            <a:off x="876300" y="4171950"/>
            <a:ext cx="952500" cy="1905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02" b="1">
                <a:solidFill>
                  <a:srgbClr val="43A896"/>
                </a:solidFill>
                <a:latin typeface="LM Roman 12"/>
                <a:ea typeface="LM Roman 12"/>
                <a:cs typeface="LM Roman 12"/>
              </a:defRPr>
            </a:pPr>
            <a:r>
              <a:rPr sz="1102" b="1">
                <a:solidFill>
                  <a:srgbClr val="43A896"/>
                </a:solidFill>
                <a:latin typeface="LM Roman 12"/>
                <a:ea typeface="LM Roman 12"/>
                <a:cs typeface="LM Roman 12"/>
              </a:rPr>
              <a:t>Controls</a:t>
            </a:r>
          </a:p>
        </p:txBody>
      </p:sp>
      <p:sp>
        <p:nvSpPr>
          <p:cNvPr id="14" name="">
            <a:extLst xmlns:a="http://schemas.openxmlformats.org/drawingml/2006/main">
              <a:ext uri="{FF2B5EF4-FFF2-40B4-BE49-F238E27FC236}">
                <a16:creationId xmlns:a16="http://schemas.microsoft.com/office/drawing/2014/main" id="{6C92151C-F0DD-488A-9B81-5A14A4302541}"/>
              </a:ext>
            </a:extLst>
          </p:cNvPr>
          <p:cNvSpPr>
            <a:spLocks xmlns:a="http://schemas.openxmlformats.org/drawingml/2006/main" noGrp="1"/>
          </p:cNvSpPr>
          <p:nvPr/>
        </p:nvSpPr>
        <p:spPr>
          <a:xfrm xmlns:a="http://schemas.openxmlformats.org/drawingml/2006/main">
            <a:off x="876300" y="4400550"/>
            <a:ext cx="2857500" cy="4191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02" b="0">
                <a:solidFill>
                  <a:srgbClr val="111827"/>
                </a:solidFill>
                <a:latin typeface="LM Roman 12"/>
                <a:ea typeface="LM Roman 12"/>
                <a:cs typeface="LM Roman 12"/>
              </a:defRPr>
            </a:pPr>
            <a:r>
              <a:rPr sz="1102" b="0">
                <a:solidFill>
                  <a:srgbClr val="111827"/>
                </a:solidFill>
                <a:latin typeface="LM Roman 12"/>
                <a:ea typeface="LM Roman 12"/>
                <a:cs typeface="LM Roman 12"/>
              </a:rPr>
              <a:t>weak-client inclusion; 20-node mixed testbed; model-rate sweeps</a:t>
            </a:r>
          </a:p>
        </p:txBody>
      </p:sp>
      <p:sp>
        <p:nvSpPr>
          <p:cNvPr id="15" name="">
            <a:extLst xmlns:a="http://schemas.openxmlformats.org/drawingml/2006/main">
              <a:ext uri="{FF2B5EF4-FFF2-40B4-BE49-F238E27FC236}">
                <a16:creationId xmlns:a16="http://schemas.microsoft.com/office/drawing/2014/main" id="{AC2E1C96-9132-4E44-8D71-3E3877F51B2E}"/>
              </a:ext>
            </a:extLst>
          </p:cNvPr>
          <p:cNvSpPr>
            <a:spLocks xmlns:a="http://schemas.openxmlformats.org/drawingml/2006/main" noGrp="1"/>
          </p:cNvSpPr>
          <p:nvPr/>
        </p:nvSpPr>
        <p:spPr>
          <a:xfrm xmlns:a="http://schemas.openxmlformats.org/drawingml/2006/main">
            <a:off x="876300" y="4838700"/>
            <a:ext cx="952500" cy="1905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02" b="1">
                <a:solidFill>
                  <a:srgbClr val="43A896"/>
                </a:solidFill>
                <a:latin typeface="LM Roman 12"/>
                <a:ea typeface="LM Roman 12"/>
                <a:cs typeface="LM Roman 12"/>
              </a:defRPr>
            </a:pPr>
            <a:r>
              <a:rPr sz="1102" b="1">
                <a:solidFill>
                  <a:srgbClr val="43A896"/>
                </a:solidFill>
                <a:latin typeface="LM Roman 12"/>
                <a:ea typeface="LM Roman 12"/>
                <a:cs typeface="LM Roman 12"/>
              </a:rPr>
              <a:t>Metrics</a:t>
            </a:r>
          </a:p>
        </p:txBody>
      </p:sp>
      <p:sp>
        <p:nvSpPr>
          <p:cNvPr id="16" name="">
            <a:extLst xmlns:a="http://schemas.openxmlformats.org/drawingml/2006/main">
              <a:ext uri="{FF2B5EF4-FFF2-40B4-BE49-F238E27FC236}">
                <a16:creationId xmlns:a16="http://schemas.microsoft.com/office/drawing/2014/main" id="{621FC50A-F180-4C86-B09B-BD85BB5D6A5E}"/>
              </a:ext>
            </a:extLst>
          </p:cNvPr>
          <p:cNvSpPr>
            <a:spLocks xmlns:a="http://schemas.openxmlformats.org/drawingml/2006/main" noGrp="1"/>
          </p:cNvSpPr>
          <p:nvPr/>
        </p:nvSpPr>
        <p:spPr>
          <a:xfrm xmlns:a="http://schemas.openxmlformats.org/drawingml/2006/main">
            <a:off x="876300" y="5067300"/>
            <a:ext cx="2857500" cy="3619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02" b="0">
                <a:solidFill>
                  <a:srgbClr val="111827"/>
                </a:solidFill>
                <a:latin typeface="LM Roman 12"/>
                <a:ea typeface="LM Roman 12"/>
                <a:cs typeface="LM Roman 12"/>
              </a:defRPr>
            </a:pPr>
            <a:r>
              <a:rPr sz="1102" b="0">
                <a:solidFill>
                  <a:srgbClr val="111827"/>
                </a:solidFill>
                <a:latin typeface="LM Roman 12"/>
                <a:ea typeface="LM Roman 12"/>
                <a:cs typeface="LM Roman 12"/>
              </a:rPr>
              <a:t>global score, runtime, train-round latency, local submodel quality</a:t>
            </a:r>
          </a:p>
        </p:txBody>
      </p:sp>
      <p:sp>
        <p:nvSpPr>
          <p:cNvPr id="17" name="">
            <a:extLst xmlns:a="http://schemas.openxmlformats.org/drawingml/2006/main">
              <a:ext uri="{FF2B5EF4-FFF2-40B4-BE49-F238E27FC236}">
                <a16:creationId xmlns:a16="http://schemas.microsoft.com/office/drawing/2014/main" id="{2121C25A-18E8-42F7-9D37-F6F48DE2BE03}"/>
              </a:ext>
            </a:extLst>
          </p:cNvPr>
          <p:cNvSpPr>
            <a:spLocks xmlns:a="http://schemas.openxmlformats.org/drawingml/2006/main" noGrp="1"/>
          </p:cNvSpPr>
          <p:nvPr/>
        </p:nvSpPr>
        <p:spPr>
          <a:xfrm xmlns:a="http://schemas.openxmlformats.org/drawingml/2006/main">
            <a:off x="4333875" y="1409700"/>
            <a:ext cx="3333750" cy="4171950"/>
          </a:xfrm>
          <a:prstGeom xmlns:a="http://schemas.openxmlformats.org/drawingml/2006/main" prst="roundRect">
            <a:avLst>
              <a:gd name="adj" fmla="val 2000"/>
            </a:avLst>
          </a:prstGeom>
          <a:solidFill xmlns:a="http://schemas.openxmlformats.org/drawingml/2006/main">
            <a:srgbClr val="FFFFFF"/>
          </a:solidFill>
          <a:ln xmlns:a="http://schemas.openxmlformats.org/drawingml/2006/main" w="9525">
            <a:solidFill>
              <a:srgbClr val="D5DCE8"/>
            </a:solidFill>
            <a:prstDash val="solid"/>
          </a:ln>
        </p:spPr>
      </p:sp>
      <p:sp>
        <p:nvSpPr>
          <p:cNvPr id="18" name="">
            <a:extLst xmlns:a="http://schemas.openxmlformats.org/drawingml/2006/main">
              <a:ext uri="{FF2B5EF4-FFF2-40B4-BE49-F238E27FC236}">
                <a16:creationId xmlns:a16="http://schemas.microsoft.com/office/drawing/2014/main" id="{88CC77C1-7167-4800-B3D7-FD1577AF4CC6}"/>
              </a:ext>
            </a:extLst>
          </p:cNvPr>
          <p:cNvSpPr>
            <a:spLocks xmlns:a="http://schemas.openxmlformats.org/drawingml/2006/main" noGrp="1"/>
          </p:cNvSpPr>
          <p:nvPr/>
        </p:nvSpPr>
        <p:spPr>
          <a:xfrm xmlns:a="http://schemas.openxmlformats.org/drawingml/2006/main">
            <a:off x="4333875" y="1409700"/>
            <a:ext cx="3333750" cy="7620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4302A2C6-E2F7-4B3C-BD21-71C954BC115F}"/>
              </a:ext>
            </a:extLst>
          </p:cNvPr>
          <p:cNvSpPr>
            <a:spLocks xmlns:a="http://schemas.openxmlformats.org/drawingml/2006/main" noGrp="1"/>
          </p:cNvSpPr>
          <p:nvPr/>
        </p:nvSpPr>
        <p:spPr>
          <a:xfrm xmlns:a="http://schemas.openxmlformats.org/drawingml/2006/main">
            <a:off x="4543425" y="1657350"/>
            <a:ext cx="723900" cy="228600"/>
          </a:xfrm>
          <a:prstGeom xmlns:a="http://schemas.openxmlformats.org/drawingml/2006/main" prst="roundRect">
            <a:avLst>
              <a:gd name="adj" fmla="val 20833"/>
            </a:avLst>
          </a:prstGeom>
          <a:solidFill xmlns:a="http://schemas.openxmlformats.org/drawingml/2006/main">
            <a:srgbClr val="F1F5F9"/>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14438A4C-00A8-4DE0-9566-A6D33020B8CD}"/>
              </a:ext>
            </a:extLst>
          </p:cNvPr>
          <p:cNvSpPr>
            <a:spLocks xmlns:a="http://schemas.openxmlformats.org/drawingml/2006/main" noGrp="1"/>
          </p:cNvSpPr>
          <p:nvPr/>
        </p:nvSpPr>
        <p:spPr>
          <a:xfrm xmlns:a="http://schemas.openxmlformats.org/drawingml/2006/main">
            <a:off x="4619625" y="1695450"/>
            <a:ext cx="571500" cy="1524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F59E0B"/>
                </a:solidFill>
                <a:latin typeface="LM Roman 12"/>
                <a:ea typeface="LM Roman 12"/>
                <a:cs typeface="LM Roman 12"/>
              </a:defRPr>
            </a:pPr>
            <a:r>
              <a:rPr sz="825" b="1">
                <a:solidFill>
                  <a:srgbClr val="F59E0B"/>
                </a:solidFill>
                <a:latin typeface="LM Roman 12"/>
                <a:ea typeface="LM Roman 12"/>
                <a:cs typeface="LM Roman 12"/>
              </a:rPr>
              <a:t>S1-S3</a:t>
            </a:r>
          </a:p>
        </p:txBody>
      </p:sp>
      <p:sp>
        <p:nvSpPr>
          <p:cNvPr id="21" name="">
            <a:extLst xmlns:a="http://schemas.openxmlformats.org/drawingml/2006/main">
              <a:ext uri="{FF2B5EF4-FFF2-40B4-BE49-F238E27FC236}">
                <a16:creationId xmlns:a16="http://schemas.microsoft.com/office/drawing/2014/main" id="{7270C877-58F3-47E2-9DC2-C473A1EB4411}"/>
              </a:ext>
            </a:extLst>
          </p:cNvPr>
          <p:cNvSpPr>
            <a:spLocks xmlns:a="http://schemas.openxmlformats.org/drawingml/2006/main" noGrp="1"/>
          </p:cNvSpPr>
          <p:nvPr/>
        </p:nvSpPr>
        <p:spPr>
          <a:xfrm xmlns:a="http://schemas.openxmlformats.org/drawingml/2006/main">
            <a:off x="4543425" y="1962150"/>
            <a:ext cx="2857500" cy="5143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71F46"/>
                </a:solidFill>
                <a:latin typeface="LM Roman 12"/>
                <a:ea typeface="LM Roman 12"/>
                <a:cs typeface="LM Roman 12"/>
              </a:defRPr>
            </a:pPr>
            <a:r>
              <a:rPr sz="1575" b="1">
                <a:solidFill>
                  <a:srgbClr val="071F46"/>
                </a:solidFill>
                <a:latin typeface="LM Roman 12"/>
                <a:ea typeface="LM Roman 12"/>
                <a:cs typeface="LM Roman 12"/>
              </a:rPr>
              <a:t>Straggler-induced heterogeneity</a:t>
            </a:r>
          </a:p>
        </p:txBody>
      </p:sp>
      <p:sp>
        <p:nvSpPr>
          <p:cNvPr id="22" name="">
            <a:extLst xmlns:a="http://schemas.openxmlformats.org/drawingml/2006/main">
              <a:ext uri="{FF2B5EF4-FFF2-40B4-BE49-F238E27FC236}">
                <a16:creationId xmlns:a16="http://schemas.microsoft.com/office/drawing/2014/main" id="{8B88F982-C8F2-490B-BA8E-5EA19BE34F36}"/>
              </a:ext>
            </a:extLst>
          </p:cNvPr>
          <p:cNvSpPr>
            <a:spLocks xmlns:a="http://schemas.openxmlformats.org/drawingml/2006/main" noGrp="1"/>
          </p:cNvSpPr>
          <p:nvPr/>
        </p:nvSpPr>
        <p:spPr>
          <a:xfrm xmlns:a="http://schemas.openxmlformats.org/drawingml/2006/main">
            <a:off x="4543425" y="2571750"/>
            <a:ext cx="952500" cy="1905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02" b="1">
                <a:solidFill>
                  <a:srgbClr val="F59E0B"/>
                </a:solidFill>
                <a:latin typeface="LM Roman 12"/>
                <a:ea typeface="LM Roman 12"/>
                <a:cs typeface="LM Roman 12"/>
              </a:defRPr>
            </a:pPr>
            <a:r>
              <a:rPr sz="1102" b="1">
                <a:solidFill>
                  <a:srgbClr val="F59E0B"/>
                </a:solidFill>
                <a:latin typeface="LM Roman 12"/>
                <a:ea typeface="LM Roman 12"/>
                <a:cs typeface="LM Roman 12"/>
              </a:rPr>
              <a:t>Definition</a:t>
            </a:r>
          </a:p>
        </p:txBody>
      </p:sp>
      <p:sp>
        <p:nvSpPr>
          <p:cNvPr id="23" name="">
            <a:extLst xmlns:a="http://schemas.openxmlformats.org/drawingml/2006/main">
              <a:ext uri="{FF2B5EF4-FFF2-40B4-BE49-F238E27FC236}">
                <a16:creationId xmlns:a16="http://schemas.microsoft.com/office/drawing/2014/main" id="{1CB25FBE-EBB6-4F57-AE37-4AE9212F7C13}"/>
              </a:ext>
            </a:extLst>
          </p:cNvPr>
          <p:cNvSpPr>
            <a:spLocks xmlns:a="http://schemas.openxmlformats.org/drawingml/2006/main" noGrp="1"/>
          </p:cNvSpPr>
          <p:nvPr/>
        </p:nvSpPr>
        <p:spPr>
          <a:xfrm xmlns:a="http://schemas.openxmlformats.org/drawingml/2006/main">
            <a:off x="4543425" y="2800350"/>
            <a:ext cx="2857500" cy="6667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02" b="0">
                <a:solidFill>
                  <a:srgbClr val="111827"/>
                </a:solidFill>
                <a:latin typeface="LM Roman 12"/>
                <a:ea typeface="LM Roman 12"/>
                <a:cs typeface="LM Roman 12"/>
              </a:defRPr>
            </a:pPr>
            <a:r>
              <a:rPr sz="1102" b="0">
                <a:solidFill>
                  <a:srgbClr val="111827"/>
                </a:solidFill>
                <a:latin typeface="LM Roman 12"/>
                <a:ea typeface="LM Roman 12"/>
                <a:cs typeface="LM Roman 12"/>
              </a:rPr>
              <a:t>Clients complete at different times, so synchronous rounds wait and asynchronous aggregation can skew toward fast arrivals.</a:t>
            </a:r>
          </a:p>
        </p:txBody>
      </p:sp>
      <p:sp>
        <p:nvSpPr>
          <p:cNvPr id="24" name="">
            <a:extLst xmlns:a="http://schemas.openxmlformats.org/drawingml/2006/main">
              <a:ext uri="{FF2B5EF4-FFF2-40B4-BE49-F238E27FC236}">
                <a16:creationId xmlns:a16="http://schemas.microsoft.com/office/drawing/2014/main" id="{704A677A-E9DB-4835-9682-702CE556D9B7}"/>
              </a:ext>
            </a:extLst>
          </p:cNvPr>
          <p:cNvSpPr>
            <a:spLocks xmlns:a="http://schemas.openxmlformats.org/drawingml/2006/main" noGrp="1"/>
          </p:cNvSpPr>
          <p:nvPr/>
        </p:nvSpPr>
        <p:spPr>
          <a:xfrm xmlns:a="http://schemas.openxmlformats.org/drawingml/2006/main">
            <a:off x="4543425" y="3486150"/>
            <a:ext cx="952500" cy="1905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02" b="1">
                <a:solidFill>
                  <a:srgbClr val="F59E0B"/>
                </a:solidFill>
                <a:latin typeface="LM Roman 12"/>
                <a:ea typeface="LM Roman 12"/>
                <a:cs typeface="LM Roman 12"/>
              </a:defRPr>
            </a:pPr>
            <a:r>
              <a:rPr sz="1102" b="1">
                <a:solidFill>
                  <a:srgbClr val="F59E0B"/>
                </a:solidFill>
                <a:latin typeface="LM Roman 12"/>
                <a:ea typeface="LM Roman 12"/>
                <a:cs typeface="LM Roman 12"/>
              </a:rPr>
              <a:t>Methods</a:t>
            </a:r>
          </a:p>
        </p:txBody>
      </p:sp>
      <p:sp>
        <p:nvSpPr>
          <p:cNvPr id="25" name="">
            <a:extLst xmlns:a="http://schemas.openxmlformats.org/drawingml/2006/main">
              <a:ext uri="{FF2B5EF4-FFF2-40B4-BE49-F238E27FC236}">
                <a16:creationId xmlns:a16="http://schemas.microsoft.com/office/drawing/2014/main" id="{9362241C-9EF0-4636-A47A-AD9488D55D40}"/>
              </a:ext>
            </a:extLst>
          </p:cNvPr>
          <p:cNvSpPr>
            <a:spLocks xmlns:a="http://schemas.openxmlformats.org/drawingml/2006/main" noGrp="1"/>
          </p:cNvSpPr>
          <p:nvPr/>
        </p:nvSpPr>
        <p:spPr>
          <a:xfrm xmlns:a="http://schemas.openxmlformats.org/drawingml/2006/main">
            <a:off x="4543425" y="3714750"/>
            <a:ext cx="2857500" cy="4572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02" b="0">
                <a:solidFill>
                  <a:srgbClr val="111827"/>
                </a:solidFill>
                <a:latin typeface="LM Roman 12"/>
                <a:ea typeface="LM Roman 12"/>
                <a:cs typeface="LM Roman 12"/>
              </a:defRPr>
            </a:pPr>
            <a:r>
              <a:rPr sz="1102" b="0">
                <a:solidFill>
                  <a:srgbClr val="111827"/>
                </a:solidFill>
                <a:latin typeface="LM Roman 12"/>
                <a:ea typeface="LM Roman 12"/>
                <a:cs typeface="LM Roman 12"/>
              </a:rPr>
              <a:t>FedAvg, FedAsync, FedBuff, FedStaleWeight</a:t>
            </a:r>
          </a:p>
        </p:txBody>
      </p:sp>
      <p:sp>
        <p:nvSpPr>
          <p:cNvPr id="26" name="">
            <a:extLst xmlns:a="http://schemas.openxmlformats.org/drawingml/2006/main">
              <a:ext uri="{FF2B5EF4-FFF2-40B4-BE49-F238E27FC236}">
                <a16:creationId xmlns:a16="http://schemas.microsoft.com/office/drawing/2014/main" id="{E4D2F89D-F5F9-47FA-95F5-A722357AC470}"/>
              </a:ext>
            </a:extLst>
          </p:cNvPr>
          <p:cNvSpPr>
            <a:spLocks xmlns:a="http://schemas.openxmlformats.org/drawingml/2006/main" noGrp="1"/>
          </p:cNvSpPr>
          <p:nvPr/>
        </p:nvSpPr>
        <p:spPr>
          <a:xfrm xmlns:a="http://schemas.openxmlformats.org/drawingml/2006/main">
            <a:off x="4543425" y="4171950"/>
            <a:ext cx="952500" cy="1905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02" b="1">
                <a:solidFill>
                  <a:srgbClr val="F59E0B"/>
                </a:solidFill>
                <a:latin typeface="LM Roman 12"/>
                <a:ea typeface="LM Roman 12"/>
                <a:cs typeface="LM Roman 12"/>
              </a:defRPr>
            </a:pPr>
            <a:r>
              <a:rPr sz="1102" b="1">
                <a:solidFill>
                  <a:srgbClr val="F59E0B"/>
                </a:solidFill>
                <a:latin typeface="LM Roman 12"/>
                <a:ea typeface="LM Roman 12"/>
                <a:cs typeface="LM Roman 12"/>
              </a:rPr>
              <a:t>Controls</a:t>
            </a:r>
          </a:p>
        </p:txBody>
      </p:sp>
      <p:sp>
        <p:nvSpPr>
          <p:cNvPr id="27" name="">
            <a:extLst xmlns:a="http://schemas.openxmlformats.org/drawingml/2006/main">
              <a:ext uri="{FF2B5EF4-FFF2-40B4-BE49-F238E27FC236}">
                <a16:creationId xmlns:a16="http://schemas.microsoft.com/office/drawing/2014/main" id="{D09B1FAF-5314-4577-BFFD-57766D598CD8}"/>
              </a:ext>
            </a:extLst>
          </p:cNvPr>
          <p:cNvSpPr>
            <a:spLocks xmlns:a="http://schemas.openxmlformats.org/drawingml/2006/main" noGrp="1"/>
          </p:cNvSpPr>
          <p:nvPr/>
        </p:nvSpPr>
        <p:spPr>
          <a:xfrm xmlns:a="http://schemas.openxmlformats.org/drawingml/2006/main">
            <a:off x="4543425" y="4400550"/>
            <a:ext cx="2857500" cy="4191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02" b="0">
                <a:solidFill>
                  <a:srgbClr val="111827"/>
                </a:solidFill>
                <a:latin typeface="LM Roman 12"/>
                <a:ea typeface="LM Roman 12"/>
                <a:cs typeface="LM Roman 12"/>
              </a:defRPr>
            </a:pPr>
            <a:r>
              <a:rPr sz="1102" b="0">
                <a:solidFill>
                  <a:srgbClr val="111827"/>
                </a:solidFill>
                <a:latin typeface="LM Roman 12"/>
                <a:ea typeface="LM Roman 12"/>
                <a:cs typeface="LM Roman 12"/>
              </a:rPr>
              <a:t>all-rpi5 negative control; mixed topology; netem profiles; device-correlated skew</a:t>
            </a:r>
          </a:p>
        </p:txBody>
      </p:sp>
      <p:sp>
        <p:nvSpPr>
          <p:cNvPr id="28" name="">
            <a:extLst xmlns:a="http://schemas.openxmlformats.org/drawingml/2006/main">
              <a:ext uri="{FF2B5EF4-FFF2-40B4-BE49-F238E27FC236}">
                <a16:creationId xmlns:a16="http://schemas.microsoft.com/office/drawing/2014/main" id="{4B82B14A-A6EA-460B-918A-714D8CDD7BDF}"/>
              </a:ext>
            </a:extLst>
          </p:cNvPr>
          <p:cNvSpPr>
            <a:spLocks xmlns:a="http://schemas.openxmlformats.org/drawingml/2006/main" noGrp="1"/>
          </p:cNvSpPr>
          <p:nvPr/>
        </p:nvSpPr>
        <p:spPr>
          <a:xfrm xmlns:a="http://schemas.openxmlformats.org/drawingml/2006/main">
            <a:off x="4543425" y="4838700"/>
            <a:ext cx="952500" cy="1905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02" b="1">
                <a:solidFill>
                  <a:srgbClr val="F59E0B"/>
                </a:solidFill>
                <a:latin typeface="LM Roman 12"/>
                <a:ea typeface="LM Roman 12"/>
                <a:cs typeface="LM Roman 12"/>
              </a:defRPr>
            </a:pPr>
            <a:r>
              <a:rPr sz="1102" b="1">
                <a:solidFill>
                  <a:srgbClr val="F59E0B"/>
                </a:solidFill>
                <a:latin typeface="LM Roman 12"/>
                <a:ea typeface="LM Roman 12"/>
                <a:cs typeface="LM Roman 12"/>
              </a:rPr>
              <a:t>Metrics</a:t>
            </a:r>
          </a:p>
        </p:txBody>
      </p:sp>
      <p:sp>
        <p:nvSpPr>
          <p:cNvPr id="29" name="">
            <a:extLst xmlns:a="http://schemas.openxmlformats.org/drawingml/2006/main">
              <a:ext uri="{FF2B5EF4-FFF2-40B4-BE49-F238E27FC236}">
                <a16:creationId xmlns:a16="http://schemas.microsoft.com/office/drawing/2014/main" id="{04FD59F5-8685-4F62-8808-C70E037BD06E}"/>
              </a:ext>
            </a:extLst>
          </p:cNvPr>
          <p:cNvSpPr>
            <a:spLocks xmlns:a="http://schemas.openxmlformats.org/drawingml/2006/main" noGrp="1"/>
          </p:cNvSpPr>
          <p:nvPr/>
        </p:nvSpPr>
        <p:spPr>
          <a:xfrm xmlns:a="http://schemas.openxmlformats.org/drawingml/2006/main">
            <a:off x="4543425" y="5067300"/>
            <a:ext cx="2857500" cy="3619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02" b="0">
                <a:solidFill>
                  <a:srgbClr val="111827"/>
                </a:solidFill>
                <a:latin typeface="LM Roman 12"/>
                <a:ea typeface="LM Roman 12"/>
                <a:cs typeface="LM Roman 12"/>
              </a:defRPr>
            </a:pPr>
            <a:r>
              <a:rPr sz="1102" b="0">
                <a:solidFill>
                  <a:srgbClr val="111827"/>
                </a:solidFill>
                <a:latin typeface="LM Roman 12"/>
                <a:ea typeface="LM Roman 12"/>
                <a:cs typeface="LM Roman 12"/>
              </a:rPr>
              <a:t>time/trips to target, update share, aggregate weight share, staleness</a:t>
            </a:r>
          </a:p>
        </p:txBody>
      </p:sp>
      <p:sp>
        <p:nvSpPr>
          <p:cNvPr id="30" name="">
            <a:extLst xmlns:a="http://schemas.openxmlformats.org/drawingml/2006/main">
              <a:ext uri="{FF2B5EF4-FFF2-40B4-BE49-F238E27FC236}">
                <a16:creationId xmlns:a16="http://schemas.microsoft.com/office/drawing/2014/main" id="{633F5DD0-C2A5-47D8-90DF-BA0F53E52521}"/>
              </a:ext>
            </a:extLst>
          </p:cNvPr>
          <p:cNvSpPr>
            <a:spLocks xmlns:a="http://schemas.openxmlformats.org/drawingml/2006/main" noGrp="1"/>
          </p:cNvSpPr>
          <p:nvPr/>
        </p:nvSpPr>
        <p:spPr>
          <a:xfrm xmlns:a="http://schemas.openxmlformats.org/drawingml/2006/main">
            <a:off x="8001000" y="1409700"/>
            <a:ext cx="3333750" cy="4171950"/>
          </a:xfrm>
          <a:prstGeom xmlns:a="http://schemas.openxmlformats.org/drawingml/2006/main" prst="roundRect">
            <a:avLst>
              <a:gd name="adj" fmla="val 2000"/>
            </a:avLst>
          </a:prstGeom>
          <a:solidFill xmlns:a="http://schemas.openxmlformats.org/drawingml/2006/main">
            <a:srgbClr val="FFFFFF"/>
          </a:solidFill>
          <a:ln xmlns:a="http://schemas.openxmlformats.org/drawingml/2006/main" w="9525">
            <a:solidFill>
              <a:srgbClr val="D5DCE8"/>
            </a:solidFill>
            <a:prstDash val="solid"/>
          </a:ln>
        </p:spPr>
      </p:sp>
      <p:sp>
        <p:nvSpPr>
          <p:cNvPr id="31" name="">
            <a:extLst xmlns:a="http://schemas.openxmlformats.org/drawingml/2006/main">
              <a:ext uri="{FF2B5EF4-FFF2-40B4-BE49-F238E27FC236}">
                <a16:creationId xmlns:a16="http://schemas.microsoft.com/office/drawing/2014/main" id="{122F1CFB-7B7D-409E-B906-2B37E954C982}"/>
              </a:ext>
            </a:extLst>
          </p:cNvPr>
          <p:cNvSpPr>
            <a:spLocks xmlns:a="http://schemas.openxmlformats.org/drawingml/2006/main" noGrp="1"/>
          </p:cNvSpPr>
          <p:nvPr/>
        </p:nvSpPr>
        <p:spPr>
          <a:xfrm xmlns:a="http://schemas.openxmlformats.org/drawingml/2006/main">
            <a:off x="8001000" y="1409700"/>
            <a:ext cx="3333750" cy="76200"/>
          </a:xfrm>
          <a:prstGeom xmlns:a="http://schemas.openxmlformats.org/drawingml/2006/main" prst="roundRect">
            <a:avLst>
              <a:gd name="adj" fmla="val 50000"/>
            </a:avLst>
          </a:prstGeom>
          <a:solidFill xmlns:a="http://schemas.openxmlformats.org/drawingml/2006/main">
            <a:srgbClr val="F04A23"/>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9E312AC5-B388-4DD4-BAD3-567A7B4BC4AC}"/>
              </a:ext>
            </a:extLst>
          </p:cNvPr>
          <p:cNvSpPr>
            <a:spLocks xmlns:a="http://schemas.openxmlformats.org/drawingml/2006/main" noGrp="1"/>
          </p:cNvSpPr>
          <p:nvPr/>
        </p:nvSpPr>
        <p:spPr>
          <a:xfrm xmlns:a="http://schemas.openxmlformats.org/drawingml/2006/main">
            <a:off x="8210550" y="1657350"/>
            <a:ext cx="723900" cy="228600"/>
          </a:xfrm>
          <a:prstGeom xmlns:a="http://schemas.openxmlformats.org/drawingml/2006/main" prst="roundRect">
            <a:avLst>
              <a:gd name="adj" fmla="val 20833"/>
            </a:avLst>
          </a:prstGeom>
          <a:solidFill xmlns:a="http://schemas.openxmlformats.org/drawingml/2006/main">
            <a:srgbClr val="F1F5F9"/>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569DE8F3-B452-47A5-AEAC-11B7FB73094C}"/>
              </a:ext>
            </a:extLst>
          </p:cNvPr>
          <p:cNvSpPr>
            <a:spLocks xmlns:a="http://schemas.openxmlformats.org/drawingml/2006/main" noGrp="1"/>
          </p:cNvSpPr>
          <p:nvPr/>
        </p:nvSpPr>
        <p:spPr>
          <a:xfrm xmlns:a="http://schemas.openxmlformats.org/drawingml/2006/main">
            <a:off x="8286750" y="1695450"/>
            <a:ext cx="571500" cy="1524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F04A23"/>
                </a:solidFill>
                <a:latin typeface="LM Roman 12"/>
                <a:ea typeface="LM Roman 12"/>
                <a:cs typeface="LM Roman 12"/>
              </a:defRPr>
            </a:pPr>
            <a:r>
              <a:rPr sz="825" b="1">
                <a:solidFill>
                  <a:srgbClr val="F04A23"/>
                </a:solidFill>
                <a:latin typeface="LM Roman 12"/>
                <a:ea typeface="LM Roman 12"/>
                <a:cs typeface="LM Roman 12"/>
              </a:rPr>
              <a:t>A1-A2</a:t>
            </a:r>
          </a:p>
        </p:txBody>
      </p:sp>
      <p:sp>
        <p:nvSpPr>
          <p:cNvPr id="34" name="">
            <a:extLst xmlns:a="http://schemas.openxmlformats.org/drawingml/2006/main">
              <a:ext uri="{FF2B5EF4-FFF2-40B4-BE49-F238E27FC236}">
                <a16:creationId xmlns:a16="http://schemas.microsoft.com/office/drawing/2014/main" id="{45659886-DA1E-4802-BB7E-0F9499BE50E7}"/>
              </a:ext>
            </a:extLst>
          </p:cNvPr>
          <p:cNvSpPr>
            <a:spLocks xmlns:a="http://schemas.openxmlformats.org/drawingml/2006/main" noGrp="1"/>
          </p:cNvSpPr>
          <p:nvPr/>
        </p:nvSpPr>
        <p:spPr>
          <a:xfrm xmlns:a="http://schemas.openxmlformats.org/drawingml/2006/main">
            <a:off x="8210550" y="1962150"/>
            <a:ext cx="2857500" cy="5143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71F46"/>
                </a:solidFill>
                <a:latin typeface="LM Roman 12"/>
                <a:ea typeface="LM Roman 12"/>
                <a:cs typeface="LM Roman 12"/>
              </a:defRPr>
            </a:pPr>
            <a:r>
              <a:rPr sz="1575" b="1">
                <a:solidFill>
                  <a:srgbClr val="071F46"/>
                </a:solidFill>
                <a:latin typeface="LM Roman 12"/>
                <a:ea typeface="LM Roman 12"/>
                <a:cs typeface="LM Roman 12"/>
              </a:rPr>
              <a:t>Asynchronous submodel FL</a:t>
            </a:r>
          </a:p>
        </p:txBody>
      </p:sp>
      <p:sp>
        <p:nvSpPr>
          <p:cNvPr id="35" name="">
            <a:extLst xmlns:a="http://schemas.openxmlformats.org/drawingml/2006/main">
              <a:ext uri="{FF2B5EF4-FFF2-40B4-BE49-F238E27FC236}">
                <a16:creationId xmlns:a16="http://schemas.microsoft.com/office/drawing/2014/main" id="{DC9C5361-B8CF-43E5-90EF-6345C845FF87}"/>
              </a:ext>
            </a:extLst>
          </p:cNvPr>
          <p:cNvSpPr>
            <a:spLocks xmlns:a="http://schemas.openxmlformats.org/drawingml/2006/main" noGrp="1"/>
          </p:cNvSpPr>
          <p:nvPr/>
        </p:nvSpPr>
        <p:spPr>
          <a:xfrm xmlns:a="http://schemas.openxmlformats.org/drawingml/2006/main">
            <a:off x="8210550" y="2571750"/>
            <a:ext cx="952500" cy="1905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02" b="1">
                <a:solidFill>
                  <a:srgbClr val="F04A23"/>
                </a:solidFill>
                <a:latin typeface="LM Roman 12"/>
                <a:ea typeface="LM Roman 12"/>
                <a:cs typeface="LM Roman 12"/>
              </a:defRPr>
            </a:pPr>
            <a:r>
              <a:rPr sz="1102" b="1">
                <a:solidFill>
                  <a:srgbClr val="F04A23"/>
                </a:solidFill>
                <a:latin typeface="LM Roman 12"/>
                <a:ea typeface="LM Roman 12"/>
                <a:cs typeface="LM Roman 12"/>
              </a:rPr>
              <a:t>Definition</a:t>
            </a:r>
          </a:p>
        </p:txBody>
      </p:sp>
      <p:sp>
        <p:nvSpPr>
          <p:cNvPr id="36" name="">
            <a:extLst xmlns:a="http://schemas.openxmlformats.org/drawingml/2006/main">
              <a:ext uri="{FF2B5EF4-FFF2-40B4-BE49-F238E27FC236}">
                <a16:creationId xmlns:a16="http://schemas.microsoft.com/office/drawing/2014/main" id="{507EA58A-CC51-42A5-83C7-9F1B9A48732C}"/>
              </a:ext>
            </a:extLst>
          </p:cNvPr>
          <p:cNvSpPr>
            <a:spLocks xmlns:a="http://schemas.openxmlformats.org/drawingml/2006/main" noGrp="1"/>
          </p:cNvSpPr>
          <p:nvPr/>
        </p:nvSpPr>
        <p:spPr>
          <a:xfrm xmlns:a="http://schemas.openxmlformats.org/drawingml/2006/main">
            <a:off x="8210550" y="2800350"/>
            <a:ext cx="2857500" cy="6667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02" b="0">
                <a:solidFill>
                  <a:srgbClr val="111827"/>
                </a:solidFill>
                <a:latin typeface="LM Roman 12"/>
                <a:ea typeface="LM Roman 12"/>
                <a:cs typeface="LM Roman 12"/>
              </a:defRPr>
            </a:pPr>
            <a:r>
              <a:rPr sz="1102" b="0">
                <a:solidFill>
                  <a:srgbClr val="111827"/>
                </a:solidFill>
                <a:latin typeface="LM Roman 12"/>
                <a:ea typeface="LM Roman 12"/>
                <a:cs typeface="LM Roman 12"/>
              </a:rPr>
              <a:t>Asynchronous arrivals combine with heterogeneous submodel rates, so accepted buffers cover different parameter subsets.</a:t>
            </a:r>
          </a:p>
        </p:txBody>
      </p:sp>
      <p:sp>
        <p:nvSpPr>
          <p:cNvPr id="37" name="">
            <a:extLst xmlns:a="http://schemas.openxmlformats.org/drawingml/2006/main">
              <a:ext uri="{FF2B5EF4-FFF2-40B4-BE49-F238E27FC236}">
                <a16:creationId xmlns:a16="http://schemas.microsoft.com/office/drawing/2014/main" id="{F906AF33-8C7B-4F96-899F-C3A8E6364EA2}"/>
              </a:ext>
            </a:extLst>
          </p:cNvPr>
          <p:cNvSpPr>
            <a:spLocks xmlns:a="http://schemas.openxmlformats.org/drawingml/2006/main" noGrp="1"/>
          </p:cNvSpPr>
          <p:nvPr/>
        </p:nvSpPr>
        <p:spPr>
          <a:xfrm xmlns:a="http://schemas.openxmlformats.org/drawingml/2006/main">
            <a:off x="8210550" y="3486150"/>
            <a:ext cx="952500" cy="1905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02" b="1">
                <a:solidFill>
                  <a:srgbClr val="F04A23"/>
                </a:solidFill>
                <a:latin typeface="LM Roman 12"/>
                <a:ea typeface="LM Roman 12"/>
                <a:cs typeface="LM Roman 12"/>
              </a:defRPr>
            </a:pPr>
            <a:r>
              <a:rPr sz="1102" b="1">
                <a:solidFill>
                  <a:srgbClr val="F04A23"/>
                </a:solidFill>
                <a:latin typeface="LM Roman 12"/>
                <a:ea typeface="LM Roman 12"/>
                <a:cs typeface="LM Roman 12"/>
              </a:rPr>
              <a:t>Methods</a:t>
            </a:r>
          </a:p>
        </p:txBody>
      </p:sp>
      <p:sp>
        <p:nvSpPr>
          <p:cNvPr id="38" name="">
            <a:extLst xmlns:a="http://schemas.openxmlformats.org/drawingml/2006/main">
              <a:ext uri="{FF2B5EF4-FFF2-40B4-BE49-F238E27FC236}">
                <a16:creationId xmlns:a16="http://schemas.microsoft.com/office/drawing/2014/main" id="{01CD1B5F-9C01-4D2E-AEA3-72F76D898320}"/>
              </a:ext>
            </a:extLst>
          </p:cNvPr>
          <p:cNvSpPr>
            <a:spLocks xmlns:a="http://schemas.openxmlformats.org/drawingml/2006/main" noGrp="1"/>
          </p:cNvSpPr>
          <p:nvPr/>
        </p:nvSpPr>
        <p:spPr>
          <a:xfrm xmlns:a="http://schemas.openxmlformats.org/drawingml/2006/main">
            <a:off x="8210550" y="3714750"/>
            <a:ext cx="2857500" cy="4572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02" b="0">
                <a:solidFill>
                  <a:srgbClr val="111827"/>
                </a:solidFill>
                <a:latin typeface="LM Roman 12"/>
                <a:ea typeface="LM Roman 12"/>
                <a:cs typeface="LM Roman 12"/>
              </a:defRPr>
            </a:pPr>
            <a:r>
              <a:rPr sz="1102" b="0">
                <a:solidFill>
                  <a:srgbClr val="111827"/>
                </a:solidFill>
                <a:latin typeface="LM Roman 12"/>
                <a:ea typeface="LM Roman 12"/>
                <a:cs typeface="LM Roman 12"/>
              </a:rPr>
              <a:t>HeteroFL, Async-HeteroFL, FedCover, contextual FedBuff</a:t>
            </a:r>
          </a:p>
        </p:txBody>
      </p:sp>
      <p:sp>
        <p:nvSpPr>
          <p:cNvPr id="39" name="">
            <a:extLst xmlns:a="http://schemas.openxmlformats.org/drawingml/2006/main">
              <a:ext uri="{FF2B5EF4-FFF2-40B4-BE49-F238E27FC236}">
                <a16:creationId xmlns:a16="http://schemas.microsoft.com/office/drawing/2014/main" id="{5240292A-6F9D-479F-93BB-E37A1249933B}"/>
              </a:ext>
            </a:extLst>
          </p:cNvPr>
          <p:cNvSpPr>
            <a:spLocks xmlns:a="http://schemas.openxmlformats.org/drawingml/2006/main" noGrp="1"/>
          </p:cNvSpPr>
          <p:nvPr/>
        </p:nvSpPr>
        <p:spPr>
          <a:xfrm xmlns:a="http://schemas.openxmlformats.org/drawingml/2006/main">
            <a:off x="8210550" y="4171950"/>
            <a:ext cx="952500" cy="1905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02" b="1">
                <a:solidFill>
                  <a:srgbClr val="F04A23"/>
                </a:solidFill>
                <a:latin typeface="LM Roman 12"/>
                <a:ea typeface="LM Roman 12"/>
                <a:cs typeface="LM Roman 12"/>
              </a:defRPr>
            </a:pPr>
            <a:r>
              <a:rPr sz="1102" b="1">
                <a:solidFill>
                  <a:srgbClr val="F04A23"/>
                </a:solidFill>
                <a:latin typeface="LM Roman 12"/>
                <a:ea typeface="LM Roman 12"/>
                <a:cs typeface="LM Roman 12"/>
              </a:rPr>
              <a:t>Controls</a:t>
            </a:r>
          </a:p>
        </p:txBody>
      </p:sp>
      <p:sp>
        <p:nvSpPr>
          <p:cNvPr id="40" name="">
            <a:extLst xmlns:a="http://schemas.openxmlformats.org/drawingml/2006/main">
              <a:ext uri="{FF2B5EF4-FFF2-40B4-BE49-F238E27FC236}">
                <a16:creationId xmlns:a16="http://schemas.microsoft.com/office/drawing/2014/main" id="{B6AA3DA8-677B-4425-9D6B-8307C9F2665B}"/>
              </a:ext>
            </a:extLst>
          </p:cNvPr>
          <p:cNvSpPr>
            <a:spLocks xmlns:a="http://schemas.openxmlformats.org/drawingml/2006/main" noGrp="1"/>
          </p:cNvSpPr>
          <p:nvPr/>
        </p:nvSpPr>
        <p:spPr>
          <a:xfrm xmlns:a="http://schemas.openxmlformats.org/drawingml/2006/main">
            <a:off x="8210550" y="4400550"/>
            <a:ext cx="2857500" cy="4191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02" b="0">
                <a:solidFill>
                  <a:srgbClr val="111827"/>
                </a:solidFill>
                <a:latin typeface="LM Roman 12"/>
                <a:ea typeface="LM Roman 12"/>
                <a:cs typeface="LM Roman 12"/>
              </a:defRPr>
            </a:pPr>
            <a:r>
              <a:rPr sz="1102" b="0">
                <a:solidFill>
                  <a:srgbClr val="111827"/>
                </a:solidFill>
                <a:latin typeface="LM Roman 12"/>
                <a:ea typeface="LM Roman 12"/>
                <a:cs typeface="LM Roman 12"/>
              </a:rPr>
              <a:t>same nested rate assignment; gamma sweep with fixed kappa max</a:t>
            </a:r>
          </a:p>
        </p:txBody>
      </p:sp>
      <p:sp>
        <p:nvSpPr>
          <p:cNvPr id="41" name="">
            <a:extLst xmlns:a="http://schemas.openxmlformats.org/drawingml/2006/main">
              <a:ext uri="{FF2B5EF4-FFF2-40B4-BE49-F238E27FC236}">
                <a16:creationId xmlns:a16="http://schemas.microsoft.com/office/drawing/2014/main" id="{ED59A34E-0829-4638-BE25-5621F0809EA3}"/>
              </a:ext>
            </a:extLst>
          </p:cNvPr>
          <p:cNvSpPr>
            <a:spLocks xmlns:a="http://schemas.openxmlformats.org/drawingml/2006/main" noGrp="1"/>
          </p:cNvSpPr>
          <p:nvPr/>
        </p:nvSpPr>
        <p:spPr>
          <a:xfrm xmlns:a="http://schemas.openxmlformats.org/drawingml/2006/main">
            <a:off x="8210550" y="4838700"/>
            <a:ext cx="952500" cy="1905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02" b="1">
                <a:solidFill>
                  <a:srgbClr val="F04A23"/>
                </a:solidFill>
                <a:latin typeface="LM Roman 12"/>
                <a:ea typeface="LM Roman 12"/>
                <a:cs typeface="LM Roman 12"/>
              </a:defRPr>
            </a:pPr>
            <a:r>
              <a:rPr sz="1102" b="1">
                <a:solidFill>
                  <a:srgbClr val="F04A23"/>
                </a:solidFill>
                <a:latin typeface="LM Roman 12"/>
                <a:ea typeface="LM Roman 12"/>
                <a:cs typeface="LM Roman 12"/>
              </a:rPr>
              <a:t>Metrics</a:t>
            </a:r>
          </a:p>
        </p:txBody>
      </p:sp>
      <p:sp>
        <p:nvSpPr>
          <p:cNvPr id="42" name="">
            <a:extLst xmlns:a="http://schemas.openxmlformats.org/drawingml/2006/main">
              <a:ext uri="{FF2B5EF4-FFF2-40B4-BE49-F238E27FC236}">
                <a16:creationId xmlns:a16="http://schemas.microsoft.com/office/drawing/2014/main" id="{4FB6B0F6-7A54-4C04-A3AB-7FF242F982C4}"/>
              </a:ext>
            </a:extLst>
          </p:cNvPr>
          <p:cNvSpPr>
            <a:spLocks xmlns:a="http://schemas.openxmlformats.org/drawingml/2006/main" noGrp="1"/>
          </p:cNvSpPr>
          <p:nvPr/>
        </p:nvSpPr>
        <p:spPr>
          <a:xfrm xmlns:a="http://schemas.openxmlformats.org/drawingml/2006/main">
            <a:off x="8210550" y="5067300"/>
            <a:ext cx="2857500" cy="3619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02" b="0">
                <a:solidFill>
                  <a:srgbClr val="111827"/>
                </a:solidFill>
                <a:latin typeface="LM Roman 12"/>
                <a:ea typeface="LM Roman 12"/>
                <a:cs typeface="LM Roman 12"/>
              </a:defRPr>
            </a:pPr>
            <a:r>
              <a:rPr sz="1102" b="0">
                <a:solidFill>
                  <a:srgbClr val="111827"/>
                </a:solidFill>
                <a:latin typeface="LM Roman 12"/>
                <a:ea typeface="LM Roman 12"/>
                <a:cs typeface="LM Roman 12"/>
              </a:rPr>
              <a:t>target time, post-warm-up speedup, rpi4 weight, coverage gain</a:t>
            </a:r>
          </a:p>
        </p:txBody>
      </p:sp>
      <p:sp>
        <p:nvSpPr>
          <p:cNvPr id="43" name="">
            <a:extLst xmlns:a="http://schemas.openxmlformats.org/drawingml/2006/main">
              <a:ext uri="{FF2B5EF4-FFF2-40B4-BE49-F238E27FC236}">
                <a16:creationId xmlns:a16="http://schemas.microsoft.com/office/drawing/2014/main" id="{9587AAA5-BC0D-4938-A37C-3A2041AF6EA2}"/>
              </a:ext>
            </a:extLst>
          </p:cNvPr>
          <p:cNvSpPr>
            <a:spLocks xmlns:a="http://schemas.openxmlformats.org/drawingml/2006/main" noGrp="1"/>
          </p:cNvSpPr>
          <p:nvPr/>
        </p:nvSpPr>
        <p:spPr>
          <a:xfrm xmlns:a="http://schemas.openxmlformats.org/drawingml/2006/main">
            <a:off x="1581150" y="5657850"/>
            <a:ext cx="9029700" cy="361950"/>
          </a:xfrm>
          <a:prstGeom xmlns:a="http://schemas.openxmlformats.org/drawingml/2006/main" prst="roundRect">
            <a:avLst>
              <a:gd name="adj" fmla="val 18421"/>
            </a:avLst>
          </a:prstGeom>
          <a:solidFill xmlns:a="http://schemas.openxmlformats.org/drawingml/2006/main">
            <a:srgbClr val="F1F5F9"/>
          </a:solidFill>
          <a:ln xmlns:a="http://schemas.openxmlformats.org/drawingml/2006/main" w="0">
            <a:solidFill>
              <a:srgbClr val="000000">
                <a:alpha val="0"/>
              </a:srgbClr>
            </a:solidFill>
            <a:prstDash val="solid"/>
          </a:ln>
        </p:spPr>
      </p:sp>
      <p:sp>
        <p:nvSpPr>
          <p:cNvPr id="44" name="">
            <a:extLst xmlns:a="http://schemas.openxmlformats.org/drawingml/2006/main">
              <a:ext uri="{FF2B5EF4-FFF2-40B4-BE49-F238E27FC236}">
                <a16:creationId xmlns:a16="http://schemas.microsoft.com/office/drawing/2014/main" id="{93504326-A2AF-4F51-A0AC-B5B662447E1C}"/>
              </a:ext>
            </a:extLst>
          </p:cNvPr>
          <p:cNvSpPr>
            <a:spLocks xmlns:a="http://schemas.openxmlformats.org/drawingml/2006/main" noGrp="1"/>
          </p:cNvSpPr>
          <p:nvPr/>
        </p:nvSpPr>
        <p:spPr>
          <a:xfrm xmlns:a="http://schemas.openxmlformats.org/drawingml/2006/main">
            <a:off x="1962150" y="5734050"/>
            <a:ext cx="8286750" cy="2095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071F46"/>
                </a:solidFill>
                <a:latin typeface="LM Roman 12"/>
                <a:ea typeface="LM Roman 12"/>
                <a:cs typeface="LM Roman 12"/>
              </a:defRPr>
            </a:pPr>
            <a:r>
              <a:rPr sz="1350" b="1">
                <a:solidFill>
                  <a:srgbClr val="071F46"/>
                </a:solidFill>
                <a:latin typeface="LM Roman 12"/>
                <a:ea typeface="LM Roman 12"/>
                <a:cs typeface="LM Roman 12"/>
              </a:rPr>
              <a:t>Same run path, different controlled deployment pressures.</a:t>
            </a:r>
          </a:p>
        </p:txBody>
      </p:sp>
      <p:sp>
        <p:nvSpPr>
          <p:cNvPr id="45" name="">
            <a:extLst xmlns:a="http://schemas.openxmlformats.org/drawingml/2006/main">
              <a:ext uri="{FF2B5EF4-FFF2-40B4-BE49-F238E27FC236}">
                <a16:creationId xmlns:a16="http://schemas.microsoft.com/office/drawing/2014/main" id="{128EC483-6264-4B49-B6AA-05AC6555D704}"/>
              </a:ext>
            </a:extLst>
          </p:cNvPr>
          <p:cNvSpPr>
            <a:spLocks xmlns:a="http://schemas.openxmlformats.org/drawingml/2006/main" noGrp="1"/>
          </p:cNvSpPr>
          <p:nvPr/>
        </p:nvSpPr>
        <p:spPr>
          <a:xfrm xmlns:a="http://schemas.openxmlformats.org/drawingml/2006/main">
            <a:off x="666750" y="6296025"/>
            <a:ext cx="10858500" cy="9525"/>
          </a:xfrm>
          <a:prstGeom xmlns:a="http://schemas.openxmlformats.org/drawingml/2006/main" prst="rect">
            <a:avLst/>
          </a:prstGeom>
          <a:solidFill xmlns:a="http://schemas.openxmlformats.org/drawingml/2006/main">
            <a:srgbClr val="E6EBF3"/>
          </a:solidFill>
          <a:ln xmlns:a="http://schemas.openxmlformats.org/drawingml/2006/main" w="0">
            <a:solidFill>
              <a:srgbClr val="000000">
                <a:alpha val="0"/>
              </a:srgbClr>
            </a:solidFill>
            <a:prstDash val="solid"/>
          </a:ln>
        </p:spPr>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48703ec0aea54258"/>
          <a:stretch xmlns:a="http://schemas.openxmlformats.org/drawingml/2006/main"/>
        </p:blipFill>
        <p:spPr>
          <a:xfrm xmlns:a="http://schemas.openxmlformats.org/drawingml/2006/main">
            <a:off x="666977" y="6429375"/>
            <a:ext cx="269103" cy="228600"/>
          </a:xfrm>
          <a:prstGeom xmlns:a="http://schemas.openxmlformats.org/drawingml/2006/main" prst="rect">
            <a:avLst/>
          </a:prstGeom>
        </p:spPr>
      </p:pic>
      <p:sp>
        <p:nvSpPr>
          <p:cNvPr id="47" name="">
            <a:extLst xmlns:a="http://schemas.openxmlformats.org/drawingml/2006/main">
              <a:ext uri="{FF2B5EF4-FFF2-40B4-BE49-F238E27FC236}">
                <a16:creationId xmlns:a16="http://schemas.microsoft.com/office/drawing/2014/main" id="{149AD6C8-E4DF-4587-9A04-CF6781221BFC}"/>
              </a:ext>
            </a:extLst>
          </p:cNvPr>
          <p:cNvSpPr>
            <a:spLocks xmlns:a="http://schemas.openxmlformats.org/drawingml/2006/main" noGrp="1"/>
          </p:cNvSpPr>
          <p:nvPr/>
        </p:nvSpPr>
        <p:spPr>
          <a:xfrm xmlns:a="http://schemas.openxmlformats.org/drawingml/2006/main">
            <a:off x="990600" y="6457950"/>
            <a:ext cx="400050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evaluation map: objectives C1-C4, S1-S3, A1-A2</a:t>
            </a:r>
          </a:p>
        </p:txBody>
      </p:sp>
      <p:sp>
        <p:nvSpPr>
          <p:cNvPr id="48" name="">
            <a:extLst xmlns:a="http://schemas.openxmlformats.org/drawingml/2006/main">
              <a:ext uri="{FF2B5EF4-FFF2-40B4-BE49-F238E27FC236}">
                <a16:creationId xmlns:a16="http://schemas.microsoft.com/office/drawing/2014/main" id="{05395586-4E83-43D1-A921-2A04866EB09A}"/>
              </a:ext>
            </a:extLst>
          </p:cNvPr>
          <p:cNvSpPr>
            <a:spLocks xmlns:a="http://schemas.openxmlformats.org/drawingml/2006/main" noGrp="1"/>
          </p:cNvSpPr>
          <p:nvPr/>
        </p:nvSpPr>
        <p:spPr>
          <a:xfrm xmlns:a="http://schemas.openxmlformats.org/drawingml/2006/main">
            <a:off x="11049000" y="6457950"/>
            <a:ext cx="47625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03</a:t>
            </a:r>
          </a:p>
        </p:txBody>
      </p:sp>
    </p:spTree>
    <p:extLst>
      <p:ext uri="{BB962C8B-B14F-4D97-AF65-F5344CB8AC3E}">
        <p14:creationId xmlns:p14="http://schemas.microsoft.com/office/powerpoint/2010/main" val="1396415590"/>
      </p:ext>
    </p:extLst>
  </p:cSld>
</p:sld>
</file>

<file path=ppt/slides/slide4.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329B128-894C-49BF-9CCC-D78A7E1F6A32}"/>
              </a:ext>
            </a:extLst>
          </p:cNvPr>
          <p:cNvSpPr>
            <a:spLocks xmlns:a="http://schemas.openxmlformats.org/drawingml/2006/main" noGrp="1"/>
          </p:cNvSpPr>
          <p:nvPr/>
        </p:nvSpPr>
        <p:spPr>
          <a:xfrm xmlns:a="http://schemas.openxmlformats.org/drawingml/2006/main">
            <a:off x="666750" y="342900"/>
            <a:ext cx="4953000" cy="1905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43A896"/>
                </a:solidFill>
                <a:latin typeface="LM Roman 12"/>
                <a:ea typeface="LM Roman 12"/>
                <a:cs typeface="LM Roman 12"/>
              </a:defRPr>
            </a:pPr>
            <a:r>
              <a:rPr sz="975" b="1">
                <a:solidFill>
                  <a:srgbClr val="43A896"/>
                </a:solidFill>
                <a:latin typeface="LM Roman 12"/>
                <a:ea typeface="LM Roman 12"/>
                <a:cs typeface="LM Roman 12"/>
              </a:rPr>
              <a:t>METHOD BACKGROUND</a:t>
            </a:r>
          </a:p>
        </p:txBody>
      </p:sp>
      <p:sp>
        <p:nvSpPr>
          <p:cNvPr id="2" name="">
            <a:extLst xmlns:a="http://schemas.openxmlformats.org/drawingml/2006/main">
              <a:ext uri="{FF2B5EF4-FFF2-40B4-BE49-F238E27FC236}">
                <a16:creationId xmlns:a16="http://schemas.microsoft.com/office/drawing/2014/main" id="{AA2764B3-CBBF-46AC-A19E-438D2C9A5308}"/>
              </a:ext>
            </a:extLst>
          </p:cNvPr>
          <p:cNvSpPr>
            <a:spLocks xmlns:a="http://schemas.openxmlformats.org/drawingml/2006/main" noGrp="1"/>
          </p:cNvSpPr>
          <p:nvPr/>
        </p:nvSpPr>
        <p:spPr>
          <a:xfrm xmlns:a="http://schemas.openxmlformats.org/drawingml/2006/main">
            <a:off x="666750" y="590550"/>
            <a:ext cx="10668000" cy="4000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71F46"/>
                </a:solidFill>
                <a:latin typeface="LM Roman 12"/>
                <a:ea typeface="LM Roman 12"/>
                <a:cs typeface="LM Roman 12"/>
              </a:defRPr>
            </a:pPr>
            <a:r>
              <a:rPr sz="2250" b="1">
                <a:solidFill>
                  <a:srgbClr val="071F46"/>
                </a:solidFill>
                <a:latin typeface="LM Roman 12"/>
                <a:ea typeface="LM Roman 12"/>
                <a:cs typeface="LM Roman 12"/>
              </a:rPr>
              <a:t>Submodel FL and Asynchronous FL</a:t>
            </a:r>
          </a:p>
        </p:txBody>
      </p:sp>
      <p:sp>
        <p:nvSpPr>
          <p:cNvPr id="3" name="">
            <a:extLst xmlns:a="http://schemas.openxmlformats.org/drawingml/2006/main">
              <a:ext uri="{FF2B5EF4-FFF2-40B4-BE49-F238E27FC236}">
                <a16:creationId xmlns:a16="http://schemas.microsoft.com/office/drawing/2014/main" id="{3742B1F3-685F-4995-B325-C2479F77F68D}"/>
              </a:ext>
            </a:extLst>
          </p:cNvPr>
          <p:cNvSpPr>
            <a:spLocks xmlns:a="http://schemas.openxmlformats.org/drawingml/2006/main" noGrp="1"/>
          </p:cNvSpPr>
          <p:nvPr/>
        </p:nvSpPr>
        <p:spPr>
          <a:xfrm xmlns:a="http://schemas.openxmlformats.org/drawingml/2006/main">
            <a:off x="666750" y="1005840"/>
            <a:ext cx="1143000" cy="47625"/>
          </a:xfrm>
          <a:prstGeom xmlns:a="http://schemas.openxmlformats.org/drawingml/2006/main" prst="rect">
            <a:avLst/>
          </a:prstGeom>
          <a:solidFill xmlns:a="http://schemas.openxmlformats.org/drawingml/2006/main">
            <a:srgbClr val="F3C43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874357D7-A884-4276-B40C-06A68E382351}"/>
              </a:ext>
            </a:extLst>
          </p:cNvPr>
          <p:cNvSpPr>
            <a:spLocks xmlns:a="http://schemas.openxmlformats.org/drawingml/2006/main" noGrp="1"/>
          </p:cNvSpPr>
          <p:nvPr/>
        </p:nvSpPr>
        <p:spPr>
          <a:xfrm xmlns:a="http://schemas.openxmlformats.org/drawingml/2006/main">
            <a:off x="666750" y="1390650"/>
            <a:ext cx="5334000" cy="4095750"/>
          </a:xfrm>
          <a:prstGeom xmlns:a="http://schemas.openxmlformats.org/drawingml/2006/main" prst="roundRect">
            <a:avLst>
              <a:gd name="adj" fmla="val 1628"/>
            </a:avLst>
          </a:prstGeom>
          <a:solidFill xmlns:a="http://schemas.openxmlformats.org/drawingml/2006/main">
            <a:srgbClr val="FFFFFF"/>
          </a:solidFill>
          <a:ln xmlns:a="http://schemas.openxmlformats.org/drawingml/2006/main" w="9525">
            <a:solidFill>
              <a:srgbClr val="D5DCE8"/>
            </a:solidFill>
            <a:prstDash val="solid"/>
          </a:ln>
        </p:spPr>
      </p:sp>
      <p:sp>
        <p:nvSpPr>
          <p:cNvPr id="5" name="">
            <a:extLst xmlns:a="http://schemas.openxmlformats.org/drawingml/2006/main">
              <a:ext uri="{FF2B5EF4-FFF2-40B4-BE49-F238E27FC236}">
                <a16:creationId xmlns:a16="http://schemas.microsoft.com/office/drawing/2014/main" id="{CDE24031-90AE-4D0F-9104-95FD96814CB2}"/>
              </a:ext>
            </a:extLst>
          </p:cNvPr>
          <p:cNvSpPr>
            <a:spLocks xmlns:a="http://schemas.openxmlformats.org/drawingml/2006/main" noGrp="1"/>
          </p:cNvSpPr>
          <p:nvPr/>
        </p:nvSpPr>
        <p:spPr>
          <a:xfrm xmlns:a="http://schemas.openxmlformats.org/drawingml/2006/main">
            <a:off x="666750" y="1390650"/>
            <a:ext cx="76200" cy="4095750"/>
          </a:xfrm>
          <a:prstGeom xmlns:a="http://schemas.openxmlformats.org/drawingml/2006/main" prst="roundRect">
            <a:avLst>
              <a:gd name="adj" fmla="val 50000"/>
            </a:avLst>
          </a:prstGeom>
          <a:solidFill xmlns:a="http://schemas.openxmlformats.org/drawingml/2006/main">
            <a:srgbClr val="43A896"/>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1F2647D1-8479-4343-8E37-EBA2450237F3}"/>
              </a:ext>
            </a:extLst>
          </p:cNvPr>
          <p:cNvSpPr>
            <a:spLocks xmlns:a="http://schemas.openxmlformats.org/drawingml/2006/main" noGrp="1"/>
          </p:cNvSpPr>
          <p:nvPr/>
        </p:nvSpPr>
        <p:spPr>
          <a:xfrm xmlns:a="http://schemas.openxmlformats.org/drawingml/2006/main">
            <a:off x="971550" y="1657350"/>
            <a:ext cx="2095500" cy="2857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071F46"/>
                </a:solidFill>
                <a:latin typeface="LM Roman 12"/>
                <a:ea typeface="LM Roman 12"/>
                <a:cs typeface="LM Roman 12"/>
              </a:defRPr>
            </a:pPr>
            <a:r>
              <a:rPr sz="1725" b="1">
                <a:solidFill>
                  <a:srgbClr val="071F46"/>
                </a:solidFill>
                <a:latin typeface="LM Roman 12"/>
                <a:ea typeface="LM Roman 12"/>
                <a:cs typeface="LM Roman 12"/>
              </a:rPr>
              <a:t>Submodel FL</a:t>
            </a:r>
          </a:p>
        </p:txBody>
      </p:sp>
      <p:sp>
        <p:nvSpPr>
          <p:cNvPr id="7" name="">
            <a:extLst xmlns:a="http://schemas.openxmlformats.org/drawingml/2006/main">
              <a:ext uri="{FF2B5EF4-FFF2-40B4-BE49-F238E27FC236}">
                <a16:creationId xmlns:a16="http://schemas.microsoft.com/office/drawing/2014/main" id="{F84F18F7-D4FF-4C0E-A05B-208804CFECC1}"/>
              </a:ext>
            </a:extLst>
          </p:cNvPr>
          <p:cNvSpPr>
            <a:spLocks xmlns:a="http://schemas.openxmlformats.org/drawingml/2006/main" noGrp="1"/>
          </p:cNvSpPr>
          <p:nvPr/>
        </p:nvSpPr>
        <p:spPr>
          <a:xfrm xmlns:a="http://schemas.openxmlformats.org/drawingml/2006/main">
            <a:off x="971550" y="1962150"/>
            <a:ext cx="3905250" cy="2095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smaller client-visible parameter subsets</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b0b83d8ffc0f4aa8">
            <a:extLst>
              <a:ext uri="{96DAC541-7B7A-43D3-8B79-37D633B846F1}">
                <asvg:svgBlip xmlns:asvg="http://schemas.microsoft.com/office/drawing/2016/SVG/main" r:embed="Ra75fe494ed9c4656"/>
              </a:ext>
            </a:extLst>
          </a:blip>
          <a:stretch xmlns:a="http://schemas.openxmlformats.org/drawingml/2006/main"/>
        </p:blipFill>
        <p:spPr>
          <a:xfrm xmlns:a="http://schemas.openxmlformats.org/drawingml/2006/main">
            <a:off x="914400" y="2267156"/>
            <a:ext cx="4953000" cy="2152238"/>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FEDF777E-B0E9-4C10-BFC0-F06DFB332D36}"/>
              </a:ext>
            </a:extLst>
          </p:cNvPr>
          <p:cNvSpPr>
            <a:spLocks xmlns:a="http://schemas.openxmlformats.org/drawingml/2006/main" noGrp="1"/>
          </p:cNvSpPr>
          <p:nvPr/>
        </p:nvSpPr>
        <p:spPr>
          <a:xfrm xmlns:a="http://schemas.openxmlformats.org/drawingml/2006/main">
            <a:off x="952500" y="4629150"/>
            <a:ext cx="1485900" cy="457200"/>
          </a:xfrm>
          <a:prstGeom xmlns:a="http://schemas.openxmlformats.org/drawingml/2006/main" prst="roundRect">
            <a:avLst>
              <a:gd name="adj" fmla="val 12500"/>
            </a:avLst>
          </a:prstGeom>
          <a:solidFill xmlns:a="http://schemas.openxmlformats.org/drawingml/2006/main">
            <a:srgbClr val="F8FAFC"/>
          </a:solidFill>
          <a:ln xmlns:a="http://schemas.openxmlformats.org/drawingml/2006/main" w="9525">
            <a:solidFill>
              <a:srgbClr val="D5DCE8"/>
            </a:solidFill>
            <a:prstDash val="solid"/>
          </a:ln>
        </p:spPr>
      </p:sp>
      <p:sp>
        <p:nvSpPr>
          <p:cNvPr id="10" name="">
            <a:extLst xmlns:a="http://schemas.openxmlformats.org/drawingml/2006/main">
              <a:ext uri="{FF2B5EF4-FFF2-40B4-BE49-F238E27FC236}">
                <a16:creationId xmlns:a16="http://schemas.microsoft.com/office/drawing/2014/main" id="{FC184796-472E-4E3E-B2EB-566458D489A5}"/>
              </a:ext>
            </a:extLst>
          </p:cNvPr>
          <p:cNvSpPr>
            <a:spLocks xmlns:a="http://schemas.openxmlformats.org/drawingml/2006/main" noGrp="1"/>
          </p:cNvSpPr>
          <p:nvPr/>
        </p:nvSpPr>
        <p:spPr>
          <a:xfrm xmlns:a="http://schemas.openxmlformats.org/drawingml/2006/main">
            <a:off x="1047750" y="4705350"/>
            <a:ext cx="129540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1F77B4"/>
                </a:solidFill>
                <a:latin typeface="LM Roman 12"/>
                <a:ea typeface="LM Roman 12"/>
                <a:cs typeface="LM Roman 12"/>
              </a:defRPr>
            </a:pPr>
            <a:r>
              <a:rPr sz="900" b="1">
                <a:solidFill>
                  <a:srgbClr val="1F77B4"/>
                </a:solidFill>
                <a:latin typeface="LM Roman 12"/>
                <a:ea typeface="LM Roman 12"/>
                <a:cs typeface="LM Roman 12"/>
              </a:rPr>
              <a:t>HeteroFL</a:t>
            </a:r>
          </a:p>
        </p:txBody>
      </p:sp>
      <p:sp>
        <p:nvSpPr>
          <p:cNvPr id="11" name="">
            <a:extLst xmlns:a="http://schemas.openxmlformats.org/drawingml/2006/main">
              <a:ext uri="{FF2B5EF4-FFF2-40B4-BE49-F238E27FC236}">
                <a16:creationId xmlns:a16="http://schemas.microsoft.com/office/drawing/2014/main" id="{66EB1010-085B-45C7-90EC-B905E0DC3491}"/>
              </a:ext>
            </a:extLst>
          </p:cNvPr>
          <p:cNvSpPr>
            <a:spLocks xmlns:a="http://schemas.openxmlformats.org/drawingml/2006/main" noGrp="1"/>
          </p:cNvSpPr>
          <p:nvPr/>
        </p:nvSpPr>
        <p:spPr>
          <a:xfrm xmlns:a="http://schemas.openxmlformats.org/drawingml/2006/main">
            <a:off x="1028700" y="4876800"/>
            <a:ext cx="133350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5B6472"/>
                </a:solidFill>
                <a:latin typeface="LM Roman 12"/>
                <a:ea typeface="LM Roman 12"/>
                <a:cs typeface="LM Roman 12"/>
              </a:defRPr>
            </a:pPr>
            <a:r>
              <a:rPr sz="750" b="0">
                <a:solidFill>
                  <a:srgbClr val="5B6472"/>
                </a:solidFill>
                <a:latin typeface="LM Roman 12"/>
                <a:ea typeface="LM Roman 12"/>
                <a:cs typeface="LM Roman 12"/>
              </a:rPr>
              <a:t>fixed nested prefixes</a:t>
            </a:r>
          </a:p>
        </p:txBody>
      </p:sp>
      <p:sp>
        <p:nvSpPr>
          <p:cNvPr id="12" name="">
            <a:extLst xmlns:a="http://schemas.openxmlformats.org/drawingml/2006/main">
              <a:ext uri="{FF2B5EF4-FFF2-40B4-BE49-F238E27FC236}">
                <a16:creationId xmlns:a16="http://schemas.microsoft.com/office/drawing/2014/main" id="{949A8FF4-80F2-43A1-B9A1-4013EAF06693}"/>
              </a:ext>
            </a:extLst>
          </p:cNvPr>
          <p:cNvSpPr>
            <a:spLocks xmlns:a="http://schemas.openxmlformats.org/drawingml/2006/main" noGrp="1"/>
          </p:cNvSpPr>
          <p:nvPr/>
        </p:nvSpPr>
        <p:spPr>
          <a:xfrm xmlns:a="http://schemas.openxmlformats.org/drawingml/2006/main">
            <a:off x="2571750" y="4629150"/>
            <a:ext cx="1485900" cy="457200"/>
          </a:xfrm>
          <a:prstGeom xmlns:a="http://schemas.openxmlformats.org/drawingml/2006/main" prst="roundRect">
            <a:avLst>
              <a:gd name="adj" fmla="val 12500"/>
            </a:avLst>
          </a:prstGeom>
          <a:solidFill xmlns:a="http://schemas.openxmlformats.org/drawingml/2006/main">
            <a:srgbClr val="F8FAFC"/>
          </a:solidFill>
          <a:ln xmlns:a="http://schemas.openxmlformats.org/drawingml/2006/main" w="9525">
            <a:solidFill>
              <a:srgbClr val="D5DCE8"/>
            </a:solidFill>
            <a:prstDash val="solid"/>
          </a:ln>
        </p:spPr>
      </p:sp>
      <p:sp>
        <p:nvSpPr>
          <p:cNvPr id="13" name="">
            <a:extLst xmlns:a="http://schemas.openxmlformats.org/drawingml/2006/main">
              <a:ext uri="{FF2B5EF4-FFF2-40B4-BE49-F238E27FC236}">
                <a16:creationId xmlns:a16="http://schemas.microsoft.com/office/drawing/2014/main" id="{D5BAD58F-AD79-4F6E-B095-7DB0B284BCD5}"/>
              </a:ext>
            </a:extLst>
          </p:cNvPr>
          <p:cNvSpPr>
            <a:spLocks xmlns:a="http://schemas.openxmlformats.org/drawingml/2006/main" noGrp="1"/>
          </p:cNvSpPr>
          <p:nvPr/>
        </p:nvSpPr>
        <p:spPr>
          <a:xfrm xmlns:a="http://schemas.openxmlformats.org/drawingml/2006/main">
            <a:off x="2667000" y="4705350"/>
            <a:ext cx="129540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7A4BA3"/>
                </a:solidFill>
                <a:latin typeface="LM Roman 12"/>
                <a:ea typeface="LM Roman 12"/>
                <a:cs typeface="LM Roman 12"/>
              </a:defRPr>
            </a:pPr>
            <a:r>
              <a:rPr sz="900" b="1">
                <a:solidFill>
                  <a:srgbClr val="7A4BA3"/>
                </a:solidFill>
                <a:latin typeface="LM Roman 12"/>
                <a:ea typeface="LM Roman 12"/>
                <a:cs typeface="LM Roman 12"/>
              </a:rPr>
              <a:t>FedRolex</a:t>
            </a:r>
          </a:p>
        </p:txBody>
      </p:sp>
      <p:sp>
        <p:nvSpPr>
          <p:cNvPr id="14" name="">
            <a:extLst xmlns:a="http://schemas.openxmlformats.org/drawingml/2006/main">
              <a:ext uri="{FF2B5EF4-FFF2-40B4-BE49-F238E27FC236}">
                <a16:creationId xmlns:a16="http://schemas.microsoft.com/office/drawing/2014/main" id="{4CB24EE1-16CD-460A-8A49-6BD7A7AD8A3D}"/>
              </a:ext>
            </a:extLst>
          </p:cNvPr>
          <p:cNvSpPr>
            <a:spLocks xmlns:a="http://schemas.openxmlformats.org/drawingml/2006/main" noGrp="1"/>
          </p:cNvSpPr>
          <p:nvPr/>
        </p:nvSpPr>
        <p:spPr>
          <a:xfrm xmlns:a="http://schemas.openxmlformats.org/drawingml/2006/main">
            <a:off x="2647950" y="4876800"/>
            <a:ext cx="133350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5B6472"/>
                </a:solidFill>
                <a:latin typeface="LM Roman 12"/>
                <a:ea typeface="LM Roman 12"/>
                <a:cs typeface="LM Roman 12"/>
              </a:defRPr>
            </a:pPr>
            <a:r>
              <a:rPr sz="750" b="0">
                <a:solidFill>
                  <a:srgbClr val="5B6472"/>
                </a:solidFill>
                <a:latin typeface="LM Roman 12"/>
                <a:ea typeface="LM Roman 12"/>
                <a:cs typeface="LM Roman 12"/>
              </a:rPr>
              <a:t>rolling extraction window</a:t>
            </a:r>
          </a:p>
        </p:txBody>
      </p:sp>
      <p:sp>
        <p:nvSpPr>
          <p:cNvPr id="15" name="">
            <a:extLst xmlns:a="http://schemas.openxmlformats.org/drawingml/2006/main">
              <a:ext uri="{FF2B5EF4-FFF2-40B4-BE49-F238E27FC236}">
                <a16:creationId xmlns:a16="http://schemas.microsoft.com/office/drawing/2014/main" id="{3A01A0F6-29E8-4EC2-8DA0-2C90F3A6A949}"/>
              </a:ext>
            </a:extLst>
          </p:cNvPr>
          <p:cNvSpPr>
            <a:spLocks xmlns:a="http://schemas.openxmlformats.org/drawingml/2006/main" noGrp="1"/>
          </p:cNvSpPr>
          <p:nvPr/>
        </p:nvSpPr>
        <p:spPr>
          <a:xfrm xmlns:a="http://schemas.openxmlformats.org/drawingml/2006/main">
            <a:off x="4191000" y="4629150"/>
            <a:ext cx="1485900" cy="457200"/>
          </a:xfrm>
          <a:prstGeom xmlns:a="http://schemas.openxmlformats.org/drawingml/2006/main" prst="roundRect">
            <a:avLst>
              <a:gd name="adj" fmla="val 12500"/>
            </a:avLst>
          </a:prstGeom>
          <a:solidFill xmlns:a="http://schemas.openxmlformats.org/drawingml/2006/main">
            <a:srgbClr val="F8FAFC"/>
          </a:solidFill>
          <a:ln xmlns:a="http://schemas.openxmlformats.org/drawingml/2006/main" w="9525">
            <a:solidFill>
              <a:srgbClr val="D5DCE8"/>
            </a:solidFill>
            <a:prstDash val="solid"/>
          </a:ln>
        </p:spPr>
      </p:sp>
      <p:sp>
        <p:nvSpPr>
          <p:cNvPr id="16" name="">
            <a:extLst xmlns:a="http://schemas.openxmlformats.org/drawingml/2006/main">
              <a:ext uri="{FF2B5EF4-FFF2-40B4-BE49-F238E27FC236}">
                <a16:creationId xmlns:a16="http://schemas.microsoft.com/office/drawing/2014/main" id="{1D125430-864F-42DF-B24E-6A089E96802B}"/>
              </a:ext>
            </a:extLst>
          </p:cNvPr>
          <p:cNvSpPr>
            <a:spLocks xmlns:a="http://schemas.openxmlformats.org/drawingml/2006/main" noGrp="1"/>
          </p:cNvSpPr>
          <p:nvPr/>
        </p:nvSpPr>
        <p:spPr>
          <a:xfrm xmlns:a="http://schemas.openxmlformats.org/drawingml/2006/main">
            <a:off x="4286250" y="4705350"/>
            <a:ext cx="129540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F04A23"/>
                </a:solidFill>
                <a:latin typeface="LM Roman 12"/>
                <a:ea typeface="LM Roman 12"/>
                <a:cs typeface="LM Roman 12"/>
              </a:defRPr>
            </a:pPr>
            <a:r>
              <a:rPr sz="900" b="1">
                <a:solidFill>
                  <a:srgbClr val="F04A23"/>
                </a:solidFill>
                <a:latin typeface="LM Roman 12"/>
                <a:ea typeface="LM Roman 12"/>
                <a:cs typeface="LM Roman 12"/>
              </a:rPr>
              <a:t>FIARSE</a:t>
            </a:r>
          </a:p>
        </p:txBody>
      </p:sp>
      <p:sp>
        <p:nvSpPr>
          <p:cNvPr id="17" name="">
            <a:extLst xmlns:a="http://schemas.openxmlformats.org/drawingml/2006/main">
              <a:ext uri="{FF2B5EF4-FFF2-40B4-BE49-F238E27FC236}">
                <a16:creationId xmlns:a16="http://schemas.microsoft.com/office/drawing/2014/main" id="{FA5A6711-9398-4086-9D9A-C4AA3AF93FE5}"/>
              </a:ext>
            </a:extLst>
          </p:cNvPr>
          <p:cNvSpPr>
            <a:spLocks xmlns:a="http://schemas.openxmlformats.org/drawingml/2006/main" noGrp="1"/>
          </p:cNvSpPr>
          <p:nvPr/>
        </p:nvSpPr>
        <p:spPr>
          <a:xfrm xmlns:a="http://schemas.openxmlformats.org/drawingml/2006/main">
            <a:off x="4267200" y="4876800"/>
            <a:ext cx="133350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5B6472"/>
                </a:solidFill>
                <a:latin typeface="LM Roman 12"/>
                <a:ea typeface="LM Roman 12"/>
                <a:cs typeface="LM Roman 12"/>
              </a:defRPr>
            </a:pPr>
            <a:r>
              <a:rPr sz="750" b="0">
                <a:solidFill>
                  <a:srgbClr val="5B6472"/>
                </a:solidFill>
                <a:latin typeface="LM Roman 12"/>
                <a:ea typeface="LM Roman 12"/>
                <a:cs typeface="LM Roman 12"/>
              </a:rPr>
              <a:t>importance-aware sparse mask</a:t>
            </a:r>
          </a:p>
        </p:txBody>
      </p:sp>
      <p:sp>
        <p:nvSpPr>
          <p:cNvPr id="18" name="">
            <a:extLst xmlns:a="http://schemas.openxmlformats.org/drawingml/2006/main">
              <a:ext uri="{FF2B5EF4-FFF2-40B4-BE49-F238E27FC236}">
                <a16:creationId xmlns:a16="http://schemas.microsoft.com/office/drawing/2014/main" id="{4BBD8550-9A8E-4EAC-80C5-20FCA991CFDB}"/>
              </a:ext>
            </a:extLst>
          </p:cNvPr>
          <p:cNvSpPr>
            <a:spLocks xmlns:a="http://schemas.openxmlformats.org/drawingml/2006/main" noGrp="1"/>
          </p:cNvSpPr>
          <p:nvPr/>
        </p:nvSpPr>
        <p:spPr>
          <a:xfrm xmlns:a="http://schemas.openxmlformats.org/drawingml/2006/main">
            <a:off x="6191250" y="1390650"/>
            <a:ext cx="5334000" cy="4095750"/>
          </a:xfrm>
          <a:prstGeom xmlns:a="http://schemas.openxmlformats.org/drawingml/2006/main" prst="roundRect">
            <a:avLst>
              <a:gd name="adj" fmla="val 1628"/>
            </a:avLst>
          </a:prstGeom>
          <a:solidFill xmlns:a="http://schemas.openxmlformats.org/drawingml/2006/main">
            <a:srgbClr val="FFFFFF"/>
          </a:solidFill>
          <a:ln xmlns:a="http://schemas.openxmlformats.org/drawingml/2006/main" w="9525">
            <a:solidFill>
              <a:srgbClr val="D5DCE8"/>
            </a:solidFill>
            <a:prstDash val="solid"/>
          </a:ln>
        </p:spPr>
      </p:sp>
      <p:sp>
        <p:nvSpPr>
          <p:cNvPr id="19" name="">
            <a:extLst xmlns:a="http://schemas.openxmlformats.org/drawingml/2006/main">
              <a:ext uri="{FF2B5EF4-FFF2-40B4-BE49-F238E27FC236}">
                <a16:creationId xmlns:a16="http://schemas.microsoft.com/office/drawing/2014/main" id="{714B98AE-C79B-4057-8757-D56ED875720A}"/>
              </a:ext>
            </a:extLst>
          </p:cNvPr>
          <p:cNvSpPr>
            <a:spLocks xmlns:a="http://schemas.openxmlformats.org/drawingml/2006/main" noGrp="1"/>
          </p:cNvSpPr>
          <p:nvPr/>
        </p:nvSpPr>
        <p:spPr>
          <a:xfrm xmlns:a="http://schemas.openxmlformats.org/drawingml/2006/main">
            <a:off x="6191250" y="1390650"/>
            <a:ext cx="76200" cy="409575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5A2045DE-3161-49FF-8BB6-860E2AF03ABB}"/>
              </a:ext>
            </a:extLst>
          </p:cNvPr>
          <p:cNvSpPr>
            <a:spLocks xmlns:a="http://schemas.openxmlformats.org/drawingml/2006/main" noGrp="1"/>
          </p:cNvSpPr>
          <p:nvPr/>
        </p:nvSpPr>
        <p:spPr>
          <a:xfrm xmlns:a="http://schemas.openxmlformats.org/drawingml/2006/main">
            <a:off x="6496050" y="1657350"/>
            <a:ext cx="2476500" cy="2857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071F46"/>
                </a:solidFill>
                <a:latin typeface="LM Roman 12"/>
                <a:ea typeface="LM Roman 12"/>
                <a:cs typeface="LM Roman 12"/>
              </a:defRPr>
            </a:pPr>
            <a:r>
              <a:rPr sz="1725" b="1">
                <a:solidFill>
                  <a:srgbClr val="071F46"/>
                </a:solidFill>
                <a:latin typeface="LM Roman 12"/>
                <a:ea typeface="LM Roman 12"/>
                <a:cs typeface="LM Roman 12"/>
              </a:rPr>
              <a:t>Asynchronous FL</a:t>
            </a:r>
          </a:p>
        </p:txBody>
      </p:sp>
      <p:sp>
        <p:nvSpPr>
          <p:cNvPr id="21" name="">
            <a:extLst xmlns:a="http://schemas.openxmlformats.org/drawingml/2006/main">
              <a:ext uri="{FF2B5EF4-FFF2-40B4-BE49-F238E27FC236}">
                <a16:creationId xmlns:a16="http://schemas.microsoft.com/office/drawing/2014/main" id="{A8932730-F2B3-4183-9204-B40A300F3F70}"/>
              </a:ext>
            </a:extLst>
          </p:cNvPr>
          <p:cNvSpPr>
            <a:spLocks xmlns:a="http://schemas.openxmlformats.org/drawingml/2006/main" noGrp="1"/>
          </p:cNvSpPr>
          <p:nvPr/>
        </p:nvSpPr>
        <p:spPr>
          <a:xfrm xmlns:a="http://schemas.openxmlformats.org/drawingml/2006/main">
            <a:off x="6496050" y="1962150"/>
            <a:ext cx="3905250" cy="2095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server updates by arrival, buffer, and staleness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ec5189d629df4443">
            <a:extLst>
              <a:ext uri="{96DAC541-7B7A-43D3-8B79-37D633B846F1}">
                <asvg:svgBlip xmlns:asvg="http://schemas.microsoft.com/office/drawing/2016/SVG/main" r:embed="R27211a93d03b4a41"/>
              </a:ext>
            </a:extLst>
          </a:blip>
          <a:stretch xmlns:a="http://schemas.openxmlformats.org/drawingml/2006/main"/>
        </p:blipFill>
        <p:spPr>
          <a:xfrm xmlns:a="http://schemas.openxmlformats.org/drawingml/2006/main">
            <a:off x="6448137" y="2266950"/>
            <a:ext cx="4934526" cy="215265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438E9553-AABA-4CF7-A39B-4FAAB33409DD}"/>
              </a:ext>
            </a:extLst>
          </p:cNvPr>
          <p:cNvSpPr>
            <a:spLocks xmlns:a="http://schemas.openxmlformats.org/drawingml/2006/main" noGrp="1"/>
          </p:cNvSpPr>
          <p:nvPr/>
        </p:nvSpPr>
        <p:spPr>
          <a:xfrm xmlns:a="http://schemas.openxmlformats.org/drawingml/2006/main">
            <a:off x="6477000" y="4629150"/>
            <a:ext cx="1485900" cy="457200"/>
          </a:xfrm>
          <a:prstGeom xmlns:a="http://schemas.openxmlformats.org/drawingml/2006/main" prst="roundRect">
            <a:avLst>
              <a:gd name="adj" fmla="val 12500"/>
            </a:avLst>
          </a:prstGeom>
          <a:solidFill xmlns:a="http://schemas.openxmlformats.org/drawingml/2006/main">
            <a:srgbClr val="F8FAFC"/>
          </a:solidFill>
          <a:ln xmlns:a="http://schemas.openxmlformats.org/drawingml/2006/main" w="9525">
            <a:solidFill>
              <a:srgbClr val="D5DCE8"/>
            </a:solidFill>
            <a:prstDash val="solid"/>
          </a:ln>
        </p:spPr>
      </p:sp>
      <p:sp>
        <p:nvSpPr>
          <p:cNvPr id="24" name="">
            <a:extLst xmlns:a="http://schemas.openxmlformats.org/drawingml/2006/main">
              <a:ext uri="{FF2B5EF4-FFF2-40B4-BE49-F238E27FC236}">
                <a16:creationId xmlns:a16="http://schemas.microsoft.com/office/drawing/2014/main" id="{55FF5A5F-1B35-423E-94FA-B0C583AFB2F7}"/>
              </a:ext>
            </a:extLst>
          </p:cNvPr>
          <p:cNvSpPr>
            <a:spLocks xmlns:a="http://schemas.openxmlformats.org/drawingml/2006/main" noGrp="1"/>
          </p:cNvSpPr>
          <p:nvPr/>
        </p:nvSpPr>
        <p:spPr>
          <a:xfrm xmlns:a="http://schemas.openxmlformats.org/drawingml/2006/main">
            <a:off x="6572250" y="4705350"/>
            <a:ext cx="129540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1F77B4"/>
                </a:solidFill>
                <a:latin typeface="LM Roman 12"/>
                <a:ea typeface="LM Roman 12"/>
                <a:cs typeface="LM Roman 12"/>
              </a:defRPr>
            </a:pPr>
            <a:r>
              <a:rPr sz="900" b="1">
                <a:solidFill>
                  <a:srgbClr val="1F77B4"/>
                </a:solidFill>
                <a:latin typeface="LM Roman 12"/>
                <a:ea typeface="LM Roman 12"/>
                <a:cs typeface="LM Roman 12"/>
              </a:rPr>
              <a:t>FedAsync</a:t>
            </a:r>
          </a:p>
        </p:txBody>
      </p:sp>
      <p:sp>
        <p:nvSpPr>
          <p:cNvPr id="25" name="">
            <a:extLst xmlns:a="http://schemas.openxmlformats.org/drawingml/2006/main">
              <a:ext uri="{FF2B5EF4-FFF2-40B4-BE49-F238E27FC236}">
                <a16:creationId xmlns:a16="http://schemas.microsoft.com/office/drawing/2014/main" id="{6C848B91-4150-4257-B897-DB9D5A97FC3A}"/>
              </a:ext>
            </a:extLst>
          </p:cNvPr>
          <p:cNvSpPr>
            <a:spLocks xmlns:a="http://schemas.openxmlformats.org/drawingml/2006/main" noGrp="1"/>
          </p:cNvSpPr>
          <p:nvPr/>
        </p:nvSpPr>
        <p:spPr>
          <a:xfrm xmlns:a="http://schemas.openxmlformats.org/drawingml/2006/main">
            <a:off x="6553200" y="4876800"/>
            <a:ext cx="133350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5B6472"/>
                </a:solidFill>
                <a:latin typeface="LM Roman 12"/>
                <a:ea typeface="LM Roman 12"/>
                <a:cs typeface="LM Roman 12"/>
              </a:defRPr>
            </a:pPr>
            <a:r>
              <a:rPr sz="750" b="0">
                <a:solidFill>
                  <a:srgbClr val="5B6472"/>
                </a:solidFill>
                <a:latin typeface="LM Roman 12"/>
                <a:ea typeface="LM Roman 12"/>
                <a:cs typeface="LM Roman 12"/>
              </a:rPr>
              <a:t>immediate update</a:t>
            </a:r>
          </a:p>
        </p:txBody>
      </p:sp>
      <p:sp>
        <p:nvSpPr>
          <p:cNvPr id="26" name="">
            <a:extLst xmlns:a="http://schemas.openxmlformats.org/drawingml/2006/main">
              <a:ext uri="{FF2B5EF4-FFF2-40B4-BE49-F238E27FC236}">
                <a16:creationId xmlns:a16="http://schemas.microsoft.com/office/drawing/2014/main" id="{6F39B465-5772-4C28-A962-F95F3C92F629}"/>
              </a:ext>
            </a:extLst>
          </p:cNvPr>
          <p:cNvSpPr>
            <a:spLocks xmlns:a="http://schemas.openxmlformats.org/drawingml/2006/main" noGrp="1"/>
          </p:cNvSpPr>
          <p:nvPr/>
        </p:nvSpPr>
        <p:spPr>
          <a:xfrm xmlns:a="http://schemas.openxmlformats.org/drawingml/2006/main">
            <a:off x="8096250" y="4629150"/>
            <a:ext cx="1485900" cy="457200"/>
          </a:xfrm>
          <a:prstGeom xmlns:a="http://schemas.openxmlformats.org/drawingml/2006/main" prst="roundRect">
            <a:avLst>
              <a:gd name="adj" fmla="val 12500"/>
            </a:avLst>
          </a:prstGeom>
          <a:solidFill xmlns:a="http://schemas.openxmlformats.org/drawingml/2006/main">
            <a:srgbClr val="F8FAFC"/>
          </a:solidFill>
          <a:ln xmlns:a="http://schemas.openxmlformats.org/drawingml/2006/main" w="9525">
            <a:solidFill>
              <a:srgbClr val="D5DCE8"/>
            </a:solidFill>
            <a:prstDash val="solid"/>
          </a:ln>
        </p:spPr>
      </p:sp>
      <p:sp>
        <p:nvSpPr>
          <p:cNvPr id="27" name="">
            <a:extLst xmlns:a="http://schemas.openxmlformats.org/drawingml/2006/main">
              <a:ext uri="{FF2B5EF4-FFF2-40B4-BE49-F238E27FC236}">
                <a16:creationId xmlns:a16="http://schemas.microsoft.com/office/drawing/2014/main" id="{4051DDF6-A346-425C-8CA1-5BB1EA7E5255}"/>
              </a:ext>
            </a:extLst>
          </p:cNvPr>
          <p:cNvSpPr>
            <a:spLocks xmlns:a="http://schemas.openxmlformats.org/drawingml/2006/main" noGrp="1"/>
          </p:cNvSpPr>
          <p:nvPr/>
        </p:nvSpPr>
        <p:spPr>
          <a:xfrm xmlns:a="http://schemas.openxmlformats.org/drawingml/2006/main">
            <a:off x="8191500" y="4705350"/>
            <a:ext cx="129540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43A896"/>
                </a:solidFill>
                <a:latin typeface="LM Roman 12"/>
                <a:ea typeface="LM Roman 12"/>
                <a:cs typeface="LM Roman 12"/>
              </a:defRPr>
            </a:pPr>
            <a:r>
              <a:rPr sz="900" b="1">
                <a:solidFill>
                  <a:srgbClr val="43A896"/>
                </a:solidFill>
                <a:latin typeface="LM Roman 12"/>
                <a:ea typeface="LM Roman 12"/>
                <a:cs typeface="LM Roman 12"/>
              </a:rPr>
              <a:t>FedBuff</a:t>
            </a:r>
          </a:p>
        </p:txBody>
      </p:sp>
      <p:sp>
        <p:nvSpPr>
          <p:cNvPr id="28" name="">
            <a:extLst xmlns:a="http://schemas.openxmlformats.org/drawingml/2006/main">
              <a:ext uri="{FF2B5EF4-FFF2-40B4-BE49-F238E27FC236}">
                <a16:creationId xmlns:a16="http://schemas.microsoft.com/office/drawing/2014/main" id="{7537579B-A0E4-445D-8D1C-4BD53DBEDD56}"/>
              </a:ext>
            </a:extLst>
          </p:cNvPr>
          <p:cNvSpPr>
            <a:spLocks xmlns:a="http://schemas.openxmlformats.org/drawingml/2006/main" noGrp="1"/>
          </p:cNvSpPr>
          <p:nvPr/>
        </p:nvSpPr>
        <p:spPr>
          <a:xfrm xmlns:a="http://schemas.openxmlformats.org/drawingml/2006/main">
            <a:off x="8172450" y="4876800"/>
            <a:ext cx="133350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5B6472"/>
                </a:solidFill>
                <a:latin typeface="LM Roman 12"/>
                <a:ea typeface="LM Roman 12"/>
                <a:cs typeface="LM Roman 12"/>
              </a:defRPr>
            </a:pPr>
            <a:r>
              <a:rPr sz="750" b="0">
                <a:solidFill>
                  <a:srgbClr val="5B6472"/>
                </a:solidFill>
                <a:latin typeface="LM Roman 12"/>
                <a:ea typeface="LM Roman 12"/>
                <a:cs typeface="LM Roman 12"/>
              </a:rPr>
              <a:t>buffer + stale decay</a:t>
            </a:r>
          </a:p>
        </p:txBody>
      </p:sp>
      <p:sp>
        <p:nvSpPr>
          <p:cNvPr id="29" name="">
            <a:extLst xmlns:a="http://schemas.openxmlformats.org/drawingml/2006/main">
              <a:ext uri="{FF2B5EF4-FFF2-40B4-BE49-F238E27FC236}">
                <a16:creationId xmlns:a16="http://schemas.microsoft.com/office/drawing/2014/main" id="{84789FB1-2CD1-40E5-8B4E-8B73A41B061E}"/>
              </a:ext>
            </a:extLst>
          </p:cNvPr>
          <p:cNvSpPr>
            <a:spLocks xmlns:a="http://schemas.openxmlformats.org/drawingml/2006/main" noGrp="1"/>
          </p:cNvSpPr>
          <p:nvPr/>
        </p:nvSpPr>
        <p:spPr>
          <a:xfrm xmlns:a="http://schemas.openxmlformats.org/drawingml/2006/main">
            <a:off x="9715500" y="4629150"/>
            <a:ext cx="1485900" cy="457200"/>
          </a:xfrm>
          <a:prstGeom xmlns:a="http://schemas.openxmlformats.org/drawingml/2006/main" prst="roundRect">
            <a:avLst>
              <a:gd name="adj" fmla="val 12500"/>
            </a:avLst>
          </a:prstGeom>
          <a:solidFill xmlns:a="http://schemas.openxmlformats.org/drawingml/2006/main">
            <a:srgbClr val="F8FAFC"/>
          </a:solidFill>
          <a:ln xmlns:a="http://schemas.openxmlformats.org/drawingml/2006/main" w="9525">
            <a:solidFill>
              <a:srgbClr val="D5DCE8"/>
            </a:solidFill>
            <a:prstDash val="solid"/>
          </a:ln>
        </p:spPr>
      </p:sp>
      <p:sp>
        <p:nvSpPr>
          <p:cNvPr id="30" name="">
            <a:extLst xmlns:a="http://schemas.openxmlformats.org/drawingml/2006/main">
              <a:ext uri="{FF2B5EF4-FFF2-40B4-BE49-F238E27FC236}">
                <a16:creationId xmlns:a16="http://schemas.microsoft.com/office/drawing/2014/main" id="{D136989A-7681-4EAC-88C0-1A3498F56DAC}"/>
              </a:ext>
            </a:extLst>
          </p:cNvPr>
          <p:cNvSpPr>
            <a:spLocks xmlns:a="http://schemas.openxmlformats.org/drawingml/2006/main" noGrp="1"/>
          </p:cNvSpPr>
          <p:nvPr/>
        </p:nvSpPr>
        <p:spPr>
          <a:xfrm xmlns:a="http://schemas.openxmlformats.org/drawingml/2006/main">
            <a:off x="9810750" y="4705350"/>
            <a:ext cx="129540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8A5A2B"/>
                </a:solidFill>
                <a:latin typeface="LM Roman 12"/>
                <a:ea typeface="LM Roman 12"/>
                <a:cs typeface="LM Roman 12"/>
              </a:defRPr>
            </a:pPr>
            <a:r>
              <a:rPr sz="900" b="1">
                <a:solidFill>
                  <a:srgbClr val="8A5A2B"/>
                </a:solidFill>
                <a:latin typeface="LM Roman 12"/>
                <a:ea typeface="LM Roman 12"/>
                <a:cs typeface="LM Roman 12"/>
              </a:rPr>
              <a:t>FedSW</a:t>
            </a:r>
          </a:p>
        </p:txBody>
      </p:sp>
      <p:sp>
        <p:nvSpPr>
          <p:cNvPr id="31" name="">
            <a:extLst xmlns:a="http://schemas.openxmlformats.org/drawingml/2006/main">
              <a:ext uri="{FF2B5EF4-FFF2-40B4-BE49-F238E27FC236}">
                <a16:creationId xmlns:a16="http://schemas.microsoft.com/office/drawing/2014/main" id="{F658AD9F-7816-4471-8552-3B543412E0B4}"/>
              </a:ext>
            </a:extLst>
          </p:cNvPr>
          <p:cNvSpPr>
            <a:spLocks xmlns:a="http://schemas.openxmlformats.org/drawingml/2006/main" noGrp="1"/>
          </p:cNvSpPr>
          <p:nvPr/>
        </p:nvSpPr>
        <p:spPr>
          <a:xfrm xmlns:a="http://schemas.openxmlformats.org/drawingml/2006/main">
            <a:off x="9791700" y="4876800"/>
            <a:ext cx="133350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5B6472"/>
                </a:solidFill>
                <a:latin typeface="LM Roman 12"/>
                <a:ea typeface="LM Roman 12"/>
                <a:cs typeface="LM Roman 12"/>
              </a:defRPr>
            </a:pPr>
            <a:r>
              <a:rPr sz="750" b="0">
                <a:solidFill>
                  <a:srgbClr val="5B6472"/>
                </a:solidFill>
                <a:latin typeface="LM Roman 12"/>
                <a:ea typeface="LM Roman 12"/>
                <a:cs typeface="LM Roman 12"/>
              </a:rPr>
              <a:t>buffer + stale weights</a:t>
            </a:r>
          </a:p>
        </p:txBody>
      </p:sp>
      <p:sp>
        <p:nvSpPr>
          <p:cNvPr id="32" name="">
            <a:extLst xmlns:a="http://schemas.openxmlformats.org/drawingml/2006/main">
              <a:ext uri="{FF2B5EF4-FFF2-40B4-BE49-F238E27FC236}">
                <a16:creationId xmlns:a16="http://schemas.microsoft.com/office/drawing/2014/main" id="{424B56DD-9F3E-47E8-A43B-AE0F6BEB384D}"/>
              </a:ext>
            </a:extLst>
          </p:cNvPr>
          <p:cNvSpPr>
            <a:spLocks xmlns:a="http://schemas.openxmlformats.org/drawingml/2006/main" noGrp="1"/>
          </p:cNvSpPr>
          <p:nvPr/>
        </p:nvSpPr>
        <p:spPr>
          <a:xfrm xmlns:a="http://schemas.openxmlformats.org/drawingml/2006/main">
            <a:off x="1276350" y="5581650"/>
            <a:ext cx="9639300" cy="438150"/>
          </a:xfrm>
          <a:prstGeom xmlns:a="http://schemas.openxmlformats.org/drawingml/2006/main" prst="roundRect">
            <a:avLst>
              <a:gd name="adj" fmla="val 15217"/>
            </a:avLst>
          </a:prstGeom>
          <a:solidFill xmlns:a="http://schemas.openxmlformats.org/drawingml/2006/main">
            <a:srgbClr val="F1F5F9"/>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8E677BD0-CC1B-4B7D-89ED-B24E9922D972}"/>
              </a:ext>
            </a:extLst>
          </p:cNvPr>
          <p:cNvSpPr>
            <a:spLocks xmlns:a="http://schemas.openxmlformats.org/drawingml/2006/main" noGrp="1"/>
          </p:cNvSpPr>
          <p:nvPr/>
        </p:nvSpPr>
        <p:spPr>
          <a:xfrm xmlns:a="http://schemas.openxmlformats.org/drawingml/2006/main">
            <a:off x="1638300" y="5657850"/>
            <a:ext cx="8915400" cy="3238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071F46"/>
                </a:solidFill>
                <a:latin typeface="LM Roman 12"/>
                <a:ea typeface="LM Roman 12"/>
                <a:cs typeface="LM Roman 12"/>
              </a:defRPr>
            </a:pPr>
            <a:r>
              <a:rPr sz="1125" b="1">
                <a:solidFill>
                  <a:srgbClr val="071F46"/>
                </a:solidFill>
                <a:latin typeface="LM Roman 12"/>
                <a:ea typeface="LM Roman 12"/>
                <a:cs typeface="LM Roman 12"/>
              </a:rPr>
              <a:t>Submodel FL addresses weak-client compute; asynchronous FL addresses straggler timing. FedCover studies their intersection.</a:t>
            </a:r>
          </a:p>
        </p:txBody>
      </p:sp>
      <p:sp>
        <p:nvSpPr>
          <p:cNvPr id="34" name="">
            <a:extLst xmlns:a="http://schemas.openxmlformats.org/drawingml/2006/main">
              <a:ext uri="{FF2B5EF4-FFF2-40B4-BE49-F238E27FC236}">
                <a16:creationId xmlns:a16="http://schemas.microsoft.com/office/drawing/2014/main" id="{A8577E6F-5D6C-42A1-AB08-51ECF9313D4E}"/>
              </a:ext>
            </a:extLst>
          </p:cNvPr>
          <p:cNvSpPr>
            <a:spLocks xmlns:a="http://schemas.openxmlformats.org/drawingml/2006/main" noGrp="1"/>
          </p:cNvSpPr>
          <p:nvPr/>
        </p:nvSpPr>
        <p:spPr>
          <a:xfrm xmlns:a="http://schemas.openxmlformats.org/drawingml/2006/main">
            <a:off x="666750" y="6057900"/>
            <a:ext cx="8572500" cy="2095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5B6472"/>
                </a:solidFill>
                <a:latin typeface="LM Roman 12"/>
                <a:ea typeface="LM Roman 12"/>
                <a:cs typeface="LM Roman 12"/>
              </a:defRPr>
            </a:pPr>
            <a:r>
              <a:rPr sz="825" b="0">
                <a:solidFill>
                  <a:srgbClr val="5B6472"/>
                </a:solidFill>
                <a:latin typeface="LM Roman 12"/>
                <a:ea typeface="LM Roman 12"/>
                <a:cs typeface="LM Roman 12"/>
              </a:rPr>
              <a:t>Sources: writeup/3_related_work.tex, Figures 3.1 and 3.2.</a:t>
            </a:r>
          </a:p>
        </p:txBody>
      </p:sp>
      <p:sp>
        <p:nvSpPr>
          <p:cNvPr id="35" name="">
            <a:extLst xmlns:a="http://schemas.openxmlformats.org/drawingml/2006/main">
              <a:ext uri="{FF2B5EF4-FFF2-40B4-BE49-F238E27FC236}">
                <a16:creationId xmlns:a16="http://schemas.microsoft.com/office/drawing/2014/main" id="{730A67A2-CE9E-4B09-A0F9-916284D0D77D}"/>
              </a:ext>
            </a:extLst>
          </p:cNvPr>
          <p:cNvSpPr>
            <a:spLocks xmlns:a="http://schemas.openxmlformats.org/drawingml/2006/main" noGrp="1"/>
          </p:cNvSpPr>
          <p:nvPr/>
        </p:nvSpPr>
        <p:spPr>
          <a:xfrm xmlns:a="http://schemas.openxmlformats.org/drawingml/2006/main">
            <a:off x="666750" y="6296025"/>
            <a:ext cx="10858500" cy="9525"/>
          </a:xfrm>
          <a:prstGeom xmlns:a="http://schemas.openxmlformats.org/drawingml/2006/main" prst="rect">
            <a:avLst/>
          </a:prstGeom>
          <a:solidFill xmlns:a="http://schemas.openxmlformats.org/drawingml/2006/main">
            <a:srgbClr val="E6EBF3"/>
          </a:solidFill>
          <a:ln xmlns:a="http://schemas.openxmlformats.org/drawingml/2006/main" w="0">
            <a:solidFill>
              <a:srgbClr val="000000">
                <a:alpha val="0"/>
              </a:srgbClr>
            </a:solidFill>
            <a:prstDash val="solid"/>
          </a:ln>
        </p:spPr>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8974322edf574bb3"/>
          <a:stretch xmlns:a="http://schemas.openxmlformats.org/drawingml/2006/main"/>
        </p:blipFill>
        <p:spPr>
          <a:xfrm xmlns:a="http://schemas.openxmlformats.org/drawingml/2006/main">
            <a:off x="666977" y="6429375"/>
            <a:ext cx="269103" cy="228600"/>
          </a:xfrm>
          <a:prstGeom xmlns:a="http://schemas.openxmlformats.org/drawingml/2006/main" prst="rect">
            <a:avLst/>
          </a:prstGeom>
        </p:spPr>
      </p:pic>
      <p:sp>
        <p:nvSpPr>
          <p:cNvPr id="37" name="">
            <a:extLst xmlns:a="http://schemas.openxmlformats.org/drawingml/2006/main">
              <a:ext uri="{FF2B5EF4-FFF2-40B4-BE49-F238E27FC236}">
                <a16:creationId xmlns:a16="http://schemas.microsoft.com/office/drawing/2014/main" id="{A258F8C3-E100-465E-904E-D069D45AE2EB}"/>
              </a:ext>
            </a:extLst>
          </p:cNvPr>
          <p:cNvSpPr>
            <a:spLocks xmlns:a="http://schemas.openxmlformats.org/drawingml/2006/main" noGrp="1"/>
          </p:cNvSpPr>
          <p:nvPr/>
        </p:nvSpPr>
        <p:spPr>
          <a:xfrm xmlns:a="http://schemas.openxmlformats.org/drawingml/2006/main">
            <a:off x="990600" y="6457950"/>
            <a:ext cx="400050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method background: submodel and asynchronous FL baselines</a:t>
            </a:r>
          </a:p>
        </p:txBody>
      </p:sp>
      <p:sp>
        <p:nvSpPr>
          <p:cNvPr id="38" name="">
            <a:extLst xmlns:a="http://schemas.openxmlformats.org/drawingml/2006/main">
              <a:ext uri="{FF2B5EF4-FFF2-40B4-BE49-F238E27FC236}">
                <a16:creationId xmlns:a16="http://schemas.microsoft.com/office/drawing/2014/main" id="{2405ABDB-A5B5-4D54-8D00-B8D68C301D36}"/>
              </a:ext>
            </a:extLst>
          </p:cNvPr>
          <p:cNvSpPr>
            <a:spLocks xmlns:a="http://schemas.openxmlformats.org/drawingml/2006/main" noGrp="1"/>
          </p:cNvSpPr>
          <p:nvPr/>
        </p:nvSpPr>
        <p:spPr>
          <a:xfrm xmlns:a="http://schemas.openxmlformats.org/drawingml/2006/main">
            <a:off x="11049000" y="6457950"/>
            <a:ext cx="47625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04</a:t>
            </a:r>
          </a:p>
        </p:txBody>
      </p:sp>
    </p:spTree>
    <p:extLst>
      <p:ext uri="{BB962C8B-B14F-4D97-AF65-F5344CB8AC3E}">
        <p14:creationId xmlns:p14="http://schemas.microsoft.com/office/powerpoint/2010/main" val="1717556353"/>
      </p:ext>
    </p:extLst>
  </p:cSld>
</p:sld>
</file>

<file path=ppt/slides/slide5.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AC238CE-9CB4-4291-A1C9-ECBA7C8DB07C}"/>
              </a:ext>
            </a:extLst>
          </p:cNvPr>
          <p:cNvSpPr>
            <a:spLocks xmlns:a="http://schemas.openxmlformats.org/drawingml/2006/main" noGrp="1"/>
          </p:cNvSpPr>
          <p:nvPr/>
        </p:nvSpPr>
        <p:spPr>
          <a:xfrm xmlns:a="http://schemas.openxmlformats.org/drawingml/2006/main">
            <a:off x="666750" y="342900"/>
            <a:ext cx="4953000" cy="1905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43A896"/>
                </a:solidFill>
                <a:latin typeface="LM Roman 12"/>
                <a:ea typeface="LM Roman 12"/>
                <a:cs typeface="LM Roman 12"/>
              </a:defRPr>
            </a:pPr>
            <a:r>
              <a:rPr sz="975" b="1">
                <a:solidFill>
                  <a:srgbClr val="43A896"/>
                </a:solidFill>
                <a:latin typeface="LM Roman 12"/>
                <a:ea typeface="LM Roman 12"/>
                <a:cs typeface="LM Roman 12"/>
              </a:rPr>
              <a:t>FEDCOVER MECHANISM</a:t>
            </a:r>
          </a:p>
        </p:txBody>
      </p:sp>
      <p:sp>
        <p:nvSpPr>
          <p:cNvPr id="2" name="">
            <a:extLst xmlns:a="http://schemas.openxmlformats.org/drawingml/2006/main">
              <a:ext uri="{FF2B5EF4-FFF2-40B4-BE49-F238E27FC236}">
                <a16:creationId xmlns:a16="http://schemas.microsoft.com/office/drawing/2014/main" id="{C8BF380C-DD1D-4477-88BC-47D9EF1FA4DF}"/>
              </a:ext>
            </a:extLst>
          </p:cNvPr>
          <p:cNvSpPr>
            <a:spLocks xmlns:a="http://schemas.openxmlformats.org/drawingml/2006/main" noGrp="1"/>
          </p:cNvSpPr>
          <p:nvPr/>
        </p:nvSpPr>
        <p:spPr>
          <a:xfrm xmlns:a="http://schemas.openxmlformats.org/drawingml/2006/main">
            <a:off x="666750" y="590550"/>
            <a:ext cx="9239250" cy="6477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71F46"/>
                </a:solidFill>
                <a:latin typeface="LM Roman 12"/>
                <a:ea typeface="LM Roman 12"/>
                <a:cs typeface="LM Roman 12"/>
              </a:defRPr>
            </a:pPr>
            <a:r>
              <a:rPr sz="2250" b="1">
                <a:solidFill>
                  <a:srgbClr val="071F46"/>
                </a:solidFill>
                <a:latin typeface="LM Roman 12"/>
                <a:ea typeface="LM Roman 12"/>
                <a:cs typeface="LM Roman 12"/>
              </a:rPr>
              <a:t>FedCover Coverage Correction</a:t>
            </a:r>
          </a:p>
        </p:txBody>
      </p:sp>
      <p:sp>
        <p:nvSpPr>
          <p:cNvPr id="3" name="">
            <a:extLst xmlns:a="http://schemas.openxmlformats.org/drawingml/2006/main">
              <a:ext uri="{FF2B5EF4-FFF2-40B4-BE49-F238E27FC236}">
                <a16:creationId xmlns:a16="http://schemas.microsoft.com/office/drawing/2014/main" id="{BCFD5615-DDD3-4F6B-AB2F-A800799ED6AE}"/>
              </a:ext>
            </a:extLst>
          </p:cNvPr>
          <p:cNvSpPr>
            <a:spLocks xmlns:a="http://schemas.openxmlformats.org/drawingml/2006/main" noGrp="1"/>
          </p:cNvSpPr>
          <p:nvPr/>
        </p:nvSpPr>
        <p:spPr>
          <a:xfrm xmlns:a="http://schemas.openxmlformats.org/drawingml/2006/main">
            <a:off x="666750" y="1005840"/>
            <a:ext cx="1143000" cy="47625"/>
          </a:xfrm>
          <a:prstGeom xmlns:a="http://schemas.openxmlformats.org/drawingml/2006/main" prst="rect">
            <a:avLst/>
          </a:prstGeom>
          <a:solidFill xmlns:a="http://schemas.openxmlformats.org/drawingml/2006/main">
            <a:srgbClr val="F3C43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CB2BAE98-0D10-45B1-82C9-23940CD6335A}"/>
              </a:ext>
            </a:extLst>
          </p:cNvPr>
          <p:cNvSpPr>
            <a:spLocks xmlns:a="http://schemas.openxmlformats.org/drawingml/2006/main" noGrp="1"/>
          </p:cNvSpPr>
          <p:nvPr/>
        </p:nvSpPr>
        <p:spPr>
          <a:xfrm xmlns:a="http://schemas.openxmlformats.org/drawingml/2006/main">
            <a:off x="666750" y="1371600"/>
            <a:ext cx="10858500" cy="609600"/>
          </a:xfrm>
          <a:prstGeom xmlns:a="http://schemas.openxmlformats.org/drawingml/2006/main" prst="roundRect">
            <a:avLst>
              <a:gd name="adj" fmla="val 10938"/>
            </a:avLst>
          </a:prstGeom>
          <a:solidFill xmlns:a="http://schemas.openxmlformats.org/drawingml/2006/main">
            <a:srgbClr val="EEF7F5"/>
          </a:solidFill>
          <a:ln xmlns:a="http://schemas.openxmlformats.org/drawingml/2006/main" w="9525">
            <a:solidFill>
              <a:srgbClr val="D5DCE8"/>
            </a:solidFill>
            <a:prstDash val="solid"/>
          </a:ln>
        </p:spPr>
      </p:sp>
      <p:sp>
        <p:nvSpPr>
          <p:cNvPr id="5" name="">
            <a:extLst xmlns:a="http://schemas.openxmlformats.org/drawingml/2006/main">
              <a:ext uri="{FF2B5EF4-FFF2-40B4-BE49-F238E27FC236}">
                <a16:creationId xmlns:a16="http://schemas.microsoft.com/office/drawing/2014/main" id="{71EA6621-EDA3-4A46-9DEB-94238434AE27}"/>
              </a:ext>
            </a:extLst>
          </p:cNvPr>
          <p:cNvSpPr>
            <a:spLocks xmlns:a="http://schemas.openxmlformats.org/drawingml/2006/main" noGrp="1"/>
          </p:cNvSpPr>
          <p:nvPr/>
        </p:nvSpPr>
        <p:spPr>
          <a:xfrm xmlns:a="http://schemas.openxmlformats.org/drawingml/2006/main">
            <a:off x="666750" y="1371600"/>
            <a:ext cx="76200" cy="609600"/>
          </a:xfrm>
          <a:prstGeom xmlns:a="http://schemas.openxmlformats.org/drawingml/2006/main" prst="roundRect">
            <a:avLst>
              <a:gd name="adj" fmla="val 50000"/>
            </a:avLst>
          </a:prstGeom>
          <a:solidFill xmlns:a="http://schemas.openxmlformats.org/drawingml/2006/main">
            <a:srgbClr val="F04A23"/>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DE225CD9-F56C-4BB0-8F5C-81895241FC80}"/>
              </a:ext>
            </a:extLst>
          </p:cNvPr>
          <p:cNvSpPr>
            <a:spLocks xmlns:a="http://schemas.openxmlformats.org/drawingml/2006/main" noGrp="1"/>
          </p:cNvSpPr>
          <p:nvPr/>
        </p:nvSpPr>
        <p:spPr>
          <a:xfrm xmlns:a="http://schemas.openxmlformats.org/drawingml/2006/main">
            <a:off x="895350" y="1428750"/>
            <a:ext cx="10458450" cy="5143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71F46"/>
                </a:solidFill>
                <a:latin typeface="LM Roman 12"/>
                <a:ea typeface="LM Roman 12"/>
                <a:cs typeface="LM Roman 12"/>
              </a:defRPr>
            </a:pPr>
            <a:r>
              <a:rPr sz="1650" b="1">
                <a:solidFill>
                  <a:srgbClr val="071F46"/>
                </a:solidFill>
                <a:latin typeface="LM Roman 12"/>
                <a:ea typeface="LM Roman 12"/>
                <a:cs typeface="LM Roman 12"/>
              </a:rPr>
              <a:t>Buffers are weighted by staleness, but each accepted submodel reply covers only part of the parameter space.</a:t>
            </a:r>
          </a:p>
        </p:txBody>
      </p:sp>
      <p:sp>
        <p:nvSpPr>
          <p:cNvPr id="7" name="">
            <a:extLst xmlns:a="http://schemas.openxmlformats.org/drawingml/2006/main">
              <a:ext uri="{FF2B5EF4-FFF2-40B4-BE49-F238E27FC236}">
                <a16:creationId xmlns:a16="http://schemas.microsoft.com/office/drawing/2014/main" id="{D0F886BA-2921-4B90-9C23-7471918B7229}"/>
              </a:ext>
            </a:extLst>
          </p:cNvPr>
          <p:cNvSpPr>
            <a:spLocks xmlns:a="http://schemas.openxmlformats.org/drawingml/2006/main" noGrp="1"/>
          </p:cNvSpPr>
          <p:nvPr/>
        </p:nvSpPr>
        <p:spPr>
          <a:xfrm xmlns:a="http://schemas.openxmlformats.org/drawingml/2006/main">
            <a:off x="666750" y="2038350"/>
            <a:ext cx="5219700" cy="2800350"/>
          </a:xfrm>
          <a:prstGeom xmlns:a="http://schemas.openxmlformats.org/drawingml/2006/main" prst="roundRect">
            <a:avLst>
              <a:gd name="adj" fmla="val 2381"/>
            </a:avLst>
          </a:prstGeom>
          <a:solidFill xmlns:a="http://schemas.openxmlformats.org/drawingml/2006/main">
            <a:srgbClr val="FFFFFF"/>
          </a:solidFill>
          <a:ln xmlns:a="http://schemas.openxmlformats.org/drawingml/2006/main" w="9525">
            <a:solidFill>
              <a:srgbClr val="D5DCE8"/>
            </a:solidFill>
            <a:prstDash val="solid"/>
          </a:ln>
        </p:spPr>
      </p:sp>
      <p:sp>
        <p:nvSpPr>
          <p:cNvPr id="8" name="">
            <a:extLst xmlns:a="http://schemas.openxmlformats.org/drawingml/2006/main">
              <a:ext uri="{FF2B5EF4-FFF2-40B4-BE49-F238E27FC236}">
                <a16:creationId xmlns:a16="http://schemas.microsoft.com/office/drawing/2014/main" id="{B45B2469-8D9F-4294-807F-3D4F3012D3EC}"/>
              </a:ext>
            </a:extLst>
          </p:cNvPr>
          <p:cNvSpPr>
            <a:spLocks xmlns:a="http://schemas.openxmlformats.org/drawingml/2006/main" noGrp="1"/>
          </p:cNvSpPr>
          <p:nvPr/>
        </p:nvSpPr>
        <p:spPr>
          <a:xfrm xmlns:a="http://schemas.openxmlformats.org/drawingml/2006/main">
            <a:off x="666750" y="2038350"/>
            <a:ext cx="76200" cy="280035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F6A5BB1D-E1B5-4F6D-9E29-9BE7A25D4850}"/>
              </a:ext>
            </a:extLst>
          </p:cNvPr>
          <p:cNvSpPr>
            <a:spLocks xmlns:a="http://schemas.openxmlformats.org/drawingml/2006/main" noGrp="1"/>
          </p:cNvSpPr>
          <p:nvPr/>
        </p:nvSpPr>
        <p:spPr>
          <a:xfrm xmlns:a="http://schemas.openxmlformats.org/drawingml/2006/main">
            <a:off x="971550" y="2266950"/>
            <a:ext cx="3238500" cy="2667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71F46"/>
                </a:solidFill>
                <a:latin typeface="LM Roman 12"/>
                <a:ea typeface="LM Roman 12"/>
                <a:cs typeface="LM Roman 12"/>
              </a:defRPr>
            </a:pPr>
            <a:r>
              <a:rPr sz="1575" b="1">
                <a:solidFill>
                  <a:srgbClr val="071F46"/>
                </a:solidFill>
                <a:latin typeface="LM Roman 12"/>
                <a:ea typeface="LM Roman 12"/>
                <a:cs typeface="LM Roman 12"/>
              </a:rPr>
              <a:t>Coverage mismatch</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f6893971893415f">
            <a:extLst>
              <a:ext uri="{96DAC541-7B7A-43D3-8B79-37D633B846F1}">
                <asvg:svgBlip xmlns:asvg="http://schemas.microsoft.com/office/drawing/2016/SVG/main" r:embed="R3640417f667d4403"/>
              </a:ext>
            </a:extLst>
          </a:blip>
          <a:stretch xmlns:a="http://schemas.openxmlformats.org/drawingml/2006/main"/>
        </p:blipFill>
        <p:spPr>
          <a:xfrm xmlns:a="http://schemas.openxmlformats.org/drawingml/2006/main">
            <a:off x="1325292" y="2609850"/>
            <a:ext cx="4055015" cy="16573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FDD5D9CE-BB75-4678-99D7-A3BBAFB3DD8C}"/>
              </a:ext>
            </a:extLst>
          </p:cNvPr>
          <p:cNvSpPr>
            <a:spLocks xmlns:a="http://schemas.openxmlformats.org/drawingml/2006/main" noGrp="1"/>
          </p:cNvSpPr>
          <p:nvPr/>
        </p:nvSpPr>
        <p:spPr>
          <a:xfrm xmlns:a="http://schemas.openxmlformats.org/drawingml/2006/main">
            <a:off x="1066800" y="4400550"/>
            <a:ext cx="4476750" cy="2095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5B6472"/>
                </a:solidFill>
                <a:latin typeface="LM Roman 12"/>
                <a:ea typeface="LM Roman 12"/>
                <a:cs typeface="LM Roman 12"/>
              </a:defRPr>
            </a:pPr>
            <a:r>
              <a:rPr sz="900" b="0">
                <a:solidFill>
                  <a:srgbClr val="5B6472"/>
                </a:solidFill>
                <a:latin typeface="LM Roman 12"/>
                <a:ea typeface="LM Roman 12"/>
                <a:cs typeface="LM Roman 12"/>
              </a:rPr>
              <a:t>Low-coverage parameter blocks can skew the buffered step direction.</a:t>
            </a:r>
          </a:p>
        </p:txBody>
      </p:sp>
      <p:sp>
        <p:nvSpPr>
          <p:cNvPr id="12" name="">
            <a:extLst xmlns:a="http://schemas.openxmlformats.org/drawingml/2006/main">
              <a:ext uri="{FF2B5EF4-FFF2-40B4-BE49-F238E27FC236}">
                <a16:creationId xmlns:a16="http://schemas.microsoft.com/office/drawing/2014/main" id="{5D993321-D9DE-48BB-9860-5646A97F45E6}"/>
              </a:ext>
            </a:extLst>
          </p:cNvPr>
          <p:cNvSpPr>
            <a:spLocks xmlns:a="http://schemas.openxmlformats.org/drawingml/2006/main" noGrp="1"/>
          </p:cNvSpPr>
          <p:nvPr/>
        </p:nvSpPr>
        <p:spPr>
          <a:xfrm xmlns:a="http://schemas.openxmlformats.org/drawingml/2006/main">
            <a:off x="6191250" y="2038350"/>
            <a:ext cx="5334000" cy="2800350"/>
          </a:xfrm>
          <a:prstGeom xmlns:a="http://schemas.openxmlformats.org/drawingml/2006/main" prst="roundRect">
            <a:avLst>
              <a:gd name="adj" fmla="val 2381"/>
            </a:avLst>
          </a:prstGeom>
          <a:solidFill xmlns:a="http://schemas.openxmlformats.org/drawingml/2006/main">
            <a:srgbClr val="FFFFFF"/>
          </a:solidFill>
          <a:ln xmlns:a="http://schemas.openxmlformats.org/drawingml/2006/main" w="9525">
            <a:solidFill>
              <a:srgbClr val="D5DCE8"/>
            </a:solidFill>
            <a:prstDash val="solid"/>
          </a:ln>
        </p:spPr>
      </p:sp>
      <p:sp>
        <p:nvSpPr>
          <p:cNvPr id="13" name="">
            <a:extLst xmlns:a="http://schemas.openxmlformats.org/drawingml/2006/main">
              <a:ext uri="{FF2B5EF4-FFF2-40B4-BE49-F238E27FC236}">
                <a16:creationId xmlns:a16="http://schemas.microsoft.com/office/drawing/2014/main" id="{020DB97D-A706-4DC4-A262-8E29990D8C1C}"/>
              </a:ext>
            </a:extLst>
          </p:cNvPr>
          <p:cNvSpPr>
            <a:spLocks xmlns:a="http://schemas.openxmlformats.org/drawingml/2006/main" noGrp="1"/>
          </p:cNvSpPr>
          <p:nvPr/>
        </p:nvSpPr>
        <p:spPr>
          <a:xfrm xmlns:a="http://schemas.openxmlformats.org/drawingml/2006/main">
            <a:off x="6191250" y="2038350"/>
            <a:ext cx="76200" cy="2800350"/>
          </a:xfrm>
          <a:prstGeom xmlns:a="http://schemas.openxmlformats.org/drawingml/2006/main" prst="roundRect">
            <a:avLst>
              <a:gd name="adj" fmla="val 50000"/>
            </a:avLst>
          </a:prstGeom>
          <a:solidFill xmlns:a="http://schemas.openxmlformats.org/drawingml/2006/main">
            <a:srgbClr val="43A896"/>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C7181302-F400-4701-A3DF-B022C5827A74}"/>
              </a:ext>
            </a:extLst>
          </p:cNvPr>
          <p:cNvSpPr>
            <a:spLocks xmlns:a="http://schemas.openxmlformats.org/drawingml/2006/main" noGrp="1"/>
          </p:cNvSpPr>
          <p:nvPr/>
        </p:nvSpPr>
        <p:spPr>
          <a:xfrm xmlns:a="http://schemas.openxmlformats.org/drawingml/2006/main">
            <a:off x="6496050" y="2266950"/>
            <a:ext cx="4095750" cy="2667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71F46"/>
                </a:solidFill>
                <a:latin typeface="LM Roman 12"/>
                <a:ea typeface="LM Roman 12"/>
                <a:cs typeface="LM Roman 12"/>
              </a:defRPr>
            </a:pPr>
            <a:r>
              <a:rPr sz="1575" b="1">
                <a:solidFill>
                  <a:srgbClr val="071F46"/>
                </a:solidFill>
                <a:latin typeface="LM Roman 12"/>
                <a:ea typeface="LM Roman 12"/>
                <a:cs typeface="LM Roman 12"/>
              </a:rPr>
              <a:t>Capped inverse-coverage gain</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a6d25f8b8f6485c">
            <a:extLst>
              <a:ext uri="{96DAC541-7B7A-43D3-8B79-37D633B846F1}">
                <asvg:svgBlip xmlns:asvg="http://schemas.microsoft.com/office/drawing/2016/SVG/main" r:embed="Re9402333bf1d414d"/>
              </a:ext>
            </a:extLst>
          </a:blip>
          <a:stretch xmlns:a="http://schemas.openxmlformats.org/drawingml/2006/main"/>
        </p:blipFill>
        <p:spPr>
          <a:xfrm xmlns:a="http://schemas.openxmlformats.org/drawingml/2006/main">
            <a:off x="6502460" y="2609850"/>
            <a:ext cx="4883030" cy="16573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A38E3395-2899-4647-B105-AC8018A2D08B}"/>
              </a:ext>
            </a:extLst>
          </p:cNvPr>
          <p:cNvSpPr>
            <a:spLocks xmlns:a="http://schemas.openxmlformats.org/drawingml/2006/main" noGrp="1"/>
          </p:cNvSpPr>
          <p:nvPr/>
        </p:nvSpPr>
        <p:spPr>
          <a:xfrm xmlns:a="http://schemas.openxmlformats.org/drawingml/2006/main">
            <a:off x="6629400" y="4343400"/>
            <a:ext cx="4476750" cy="2667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5B6472"/>
                </a:solidFill>
                <a:latin typeface="LM Roman 12"/>
                <a:ea typeface="LM Roman 12"/>
                <a:cs typeface="LM Roman 12"/>
              </a:defRPr>
            </a:pPr>
            <a:r>
              <a:rPr sz="900" b="0">
                <a:solidFill>
                  <a:srgbClr val="5B6472"/>
                </a:solidFill>
                <a:latin typeface="LM Roman 12"/>
                <a:ea typeface="LM Roman 12"/>
                <a:cs typeface="LM Roman 12"/>
              </a:rPr>
              <a:t>The server measures coverage mass and caps the gain on under-covered parameters.</a:t>
            </a:r>
          </a:p>
        </p:txBody>
      </p:sp>
      <p:sp>
        <p:nvSpPr>
          <p:cNvPr id="17" name="">
            <a:extLst xmlns:a="http://schemas.openxmlformats.org/drawingml/2006/main">
              <a:ext uri="{FF2B5EF4-FFF2-40B4-BE49-F238E27FC236}">
                <a16:creationId xmlns:a16="http://schemas.microsoft.com/office/drawing/2014/main" id="{1C04E13E-A47D-4BAD-BBD8-74E16988A3FC}"/>
              </a:ext>
            </a:extLst>
          </p:cNvPr>
          <p:cNvSpPr>
            <a:spLocks xmlns:a="http://schemas.openxmlformats.org/drawingml/2006/main" noGrp="1"/>
          </p:cNvSpPr>
          <p:nvPr/>
        </p:nvSpPr>
        <p:spPr>
          <a:xfrm xmlns:a="http://schemas.openxmlformats.org/drawingml/2006/main">
            <a:off x="666750" y="4895850"/>
            <a:ext cx="10858500" cy="1066800"/>
          </a:xfrm>
          <a:prstGeom xmlns:a="http://schemas.openxmlformats.org/drawingml/2006/main" prst="roundRect">
            <a:avLst>
              <a:gd name="adj" fmla="val 6250"/>
            </a:avLst>
          </a:prstGeom>
          <a:solidFill xmlns:a="http://schemas.openxmlformats.org/drawingml/2006/main">
            <a:srgbClr val="F1F5F9"/>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C3258600-A9EA-46A8-BF34-DA71BBF0295E}"/>
              </a:ext>
            </a:extLst>
          </p:cNvPr>
          <p:cNvSpPr>
            <a:spLocks xmlns:a="http://schemas.openxmlformats.org/drawingml/2006/main" noGrp="1"/>
          </p:cNvSpPr>
          <p:nvPr/>
        </p:nvSpPr>
        <p:spPr>
          <a:xfrm xmlns:a="http://schemas.openxmlformats.org/drawingml/2006/main">
            <a:off x="876300" y="4991100"/>
            <a:ext cx="1714500" cy="2095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71F46"/>
                </a:solidFill>
                <a:latin typeface="LM Roman 12"/>
                <a:ea typeface="LM Roman 12"/>
                <a:cs typeface="LM Roman 12"/>
              </a:defRPr>
            </a:pPr>
            <a:r>
              <a:rPr sz="1200" b="1">
                <a:solidFill>
                  <a:srgbClr val="071F46"/>
                </a:solidFill>
                <a:latin typeface="LM Roman 12"/>
                <a:ea typeface="LM Roman 12"/>
                <a:cs typeface="LM Roman 12"/>
              </a:rPr>
              <a:t>Server-step equations</a:t>
            </a:r>
          </a:p>
        </p:txBody>
      </p:sp>
      <p:sp>
        <p:nvSpPr>
          <p:cNvPr id="19" name="">
            <a:extLst xmlns:a="http://schemas.openxmlformats.org/drawingml/2006/main">
              <a:ext uri="{FF2B5EF4-FFF2-40B4-BE49-F238E27FC236}">
                <a16:creationId xmlns:a16="http://schemas.microsoft.com/office/drawing/2014/main" id="{8C8177FB-8942-468F-AC17-587418A39D36}"/>
              </a:ext>
            </a:extLst>
          </p:cNvPr>
          <p:cNvSpPr>
            <a:spLocks xmlns:a="http://schemas.openxmlformats.org/drawingml/2006/main" noGrp="1"/>
          </p:cNvSpPr>
          <p:nvPr/>
        </p:nvSpPr>
        <p:spPr>
          <a:xfrm xmlns:a="http://schemas.openxmlformats.org/drawingml/2006/main">
            <a:off x="2781300" y="5010150"/>
            <a:ext cx="809625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071F46"/>
                </a:solidFill>
                <a:latin typeface="LM Roman 12"/>
                <a:ea typeface="LM Roman 12"/>
                <a:cs typeface="LM Roman 12"/>
              </a:defRPr>
            </a:pPr>
            <a:r>
              <a:rPr sz="975" b="1">
                <a:solidFill>
                  <a:srgbClr val="071F46"/>
                </a:solidFill>
                <a:latin typeface="LM Roman 12"/>
                <a:ea typeface="LM Roman 12"/>
                <a:cs typeface="LM Roman 12"/>
              </a:rPr>
              <a:t>Scale only covered deltas; do not impute missing updates.</a:t>
            </a:r>
          </a:p>
        </p:txBody>
      </p:sp>
      <p:sp>
        <p:nvSpPr>
          <p:cNvPr id="20" name="">
            <a:extLst xmlns:a="http://schemas.openxmlformats.org/drawingml/2006/main">
              <a:ext uri="{FF2B5EF4-FFF2-40B4-BE49-F238E27FC236}">
                <a16:creationId xmlns:a16="http://schemas.microsoft.com/office/drawing/2014/main" id="{14B21BAB-4E1C-46BF-B73D-F7EBFD6DA116}"/>
              </a:ext>
            </a:extLst>
          </p:cNvPr>
          <p:cNvSpPr>
            <a:spLocks xmlns:a="http://schemas.openxmlformats.org/drawingml/2006/main" noGrp="1"/>
          </p:cNvSpPr>
          <p:nvPr/>
        </p:nvSpPr>
        <p:spPr>
          <a:xfrm xmlns:a="http://schemas.openxmlformats.org/drawingml/2006/main">
            <a:off x="876300" y="5238750"/>
            <a:ext cx="3238500" cy="66675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5DCE8"/>
            </a:solidFill>
            <a:prstDash val="solid"/>
          </a:ln>
        </p:spPr>
      </p:sp>
      <p:sp>
        <p:nvSpPr>
          <p:cNvPr id="21" name="">
            <a:extLst xmlns:a="http://schemas.openxmlformats.org/drawingml/2006/main">
              <a:ext uri="{FF2B5EF4-FFF2-40B4-BE49-F238E27FC236}">
                <a16:creationId xmlns:a16="http://schemas.microsoft.com/office/drawing/2014/main" id="{B48EBAEB-F395-439E-885A-54D5F8BC11FA}"/>
              </a:ext>
            </a:extLst>
          </p:cNvPr>
          <p:cNvSpPr>
            <a:spLocks xmlns:a="http://schemas.openxmlformats.org/drawingml/2006/main" noGrp="1"/>
          </p:cNvSpPr>
          <p:nvPr/>
        </p:nvSpPr>
        <p:spPr>
          <a:xfrm xmlns:a="http://schemas.openxmlformats.org/drawingml/2006/main">
            <a:off x="1047750" y="5276850"/>
            <a:ext cx="289560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02" b="1">
                <a:solidFill>
                  <a:srgbClr val="43A896"/>
                </a:solidFill>
                <a:latin typeface="LM Roman 12"/>
                <a:ea typeface="LM Roman 12"/>
                <a:cs typeface="LM Roman 12"/>
              </a:defRPr>
            </a:pPr>
            <a:r>
              <a:rPr sz="1102" b="1">
                <a:solidFill>
                  <a:srgbClr val="43A896"/>
                </a:solidFill>
                <a:latin typeface="LM Roman 12"/>
                <a:ea typeface="LM Roman 12"/>
                <a:cs typeface="LM Roman 12"/>
              </a:rPr>
              <a:t>buffer weight</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2b2172078cf74741">
            <a:extLst>
              <a:ext uri="{96DAC541-7B7A-43D3-8B79-37D633B846F1}">
                <asvg:svgBlip xmlns:asvg="http://schemas.microsoft.com/office/drawing/2016/SVG/main" r:embed="R8bcf77e757b14989"/>
              </a:ext>
            </a:extLst>
          </a:blip>
          <a:stretch xmlns:a="http://schemas.openxmlformats.org/drawingml/2006/main"/>
        </p:blipFill>
        <p:spPr>
          <a:xfrm xmlns:a="http://schemas.openxmlformats.org/drawingml/2006/main">
            <a:off x="1987256" y="5481859"/>
            <a:ext cx="1016588" cy="351983"/>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27256DAE-DDCF-46A7-86A4-E6ADE8B9B16C}"/>
              </a:ext>
            </a:extLst>
          </p:cNvPr>
          <p:cNvSpPr>
            <a:spLocks xmlns:a="http://schemas.openxmlformats.org/drawingml/2006/main" noGrp="1"/>
          </p:cNvSpPr>
          <p:nvPr/>
        </p:nvSpPr>
        <p:spPr>
          <a:xfrm xmlns:a="http://schemas.openxmlformats.org/drawingml/2006/main">
            <a:off x="4381500" y="5238750"/>
            <a:ext cx="3238500" cy="66675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5DCE8"/>
            </a:solidFill>
            <a:prstDash val="solid"/>
          </a:ln>
        </p:spPr>
      </p:sp>
      <p:sp>
        <p:nvSpPr>
          <p:cNvPr id="24" name="">
            <a:extLst xmlns:a="http://schemas.openxmlformats.org/drawingml/2006/main">
              <a:ext uri="{FF2B5EF4-FFF2-40B4-BE49-F238E27FC236}">
                <a16:creationId xmlns:a16="http://schemas.microsoft.com/office/drawing/2014/main" id="{0E9C336B-4B0E-44B2-8F34-47CAF60AB45D}"/>
              </a:ext>
            </a:extLst>
          </p:cNvPr>
          <p:cNvSpPr>
            <a:spLocks xmlns:a="http://schemas.openxmlformats.org/drawingml/2006/main" noGrp="1"/>
          </p:cNvSpPr>
          <p:nvPr/>
        </p:nvSpPr>
        <p:spPr>
          <a:xfrm xmlns:a="http://schemas.openxmlformats.org/drawingml/2006/main">
            <a:off x="4552950" y="5276850"/>
            <a:ext cx="289560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02" b="1">
                <a:solidFill>
                  <a:srgbClr val="43A896"/>
                </a:solidFill>
                <a:latin typeface="LM Roman 12"/>
                <a:ea typeface="LM Roman 12"/>
                <a:cs typeface="LM Roman 12"/>
              </a:defRPr>
            </a:pPr>
            <a:r>
              <a:rPr sz="1102" b="1">
                <a:solidFill>
                  <a:srgbClr val="43A896"/>
                </a:solidFill>
                <a:latin typeface="LM Roman 12"/>
                <a:ea typeface="LM Roman 12"/>
                <a:cs typeface="LM Roman 12"/>
              </a:rPr>
              <a:t>coverage mass</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1154b382e107433a">
            <a:extLst>
              <a:ext uri="{96DAC541-7B7A-43D3-8B79-37D633B846F1}">
                <asvg:svgBlip xmlns:asvg="http://schemas.microsoft.com/office/drawing/2016/SVG/main" r:embed="R54594b75d7f34d3e"/>
              </a:ext>
            </a:extLst>
          </a:blip>
          <a:stretch xmlns:a="http://schemas.openxmlformats.org/drawingml/2006/main"/>
        </p:blipFill>
        <p:spPr>
          <a:xfrm xmlns:a="http://schemas.openxmlformats.org/drawingml/2006/main">
            <a:off x="5315756" y="5463330"/>
            <a:ext cx="1369987" cy="389040"/>
          </a:xfrm>
          <a:prstGeom xmlns:a="http://schemas.openxmlformats.org/drawingml/2006/main" prst="rect">
            <a:avLst/>
          </a:prstGeom>
        </p:spPr>
      </p:pic>
      <p:sp>
        <p:nvSpPr>
          <p:cNvPr id="26" name="">
            <a:extLst xmlns:a="http://schemas.openxmlformats.org/drawingml/2006/main">
              <a:ext uri="{FF2B5EF4-FFF2-40B4-BE49-F238E27FC236}">
                <a16:creationId xmlns:a16="http://schemas.microsoft.com/office/drawing/2014/main" id="{4E8AA9C3-AA0A-4225-8FE4-3C38590015A6}"/>
              </a:ext>
            </a:extLst>
          </p:cNvPr>
          <p:cNvSpPr>
            <a:spLocks xmlns:a="http://schemas.openxmlformats.org/drawingml/2006/main" noGrp="1"/>
          </p:cNvSpPr>
          <p:nvPr/>
        </p:nvSpPr>
        <p:spPr>
          <a:xfrm xmlns:a="http://schemas.openxmlformats.org/drawingml/2006/main">
            <a:off x="7886700" y="5238750"/>
            <a:ext cx="3238500" cy="66675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5DCE8"/>
            </a:solidFill>
            <a:prstDash val="solid"/>
          </a:ln>
        </p:spPr>
      </p:sp>
      <p:sp>
        <p:nvSpPr>
          <p:cNvPr id="27" name="">
            <a:extLst xmlns:a="http://schemas.openxmlformats.org/drawingml/2006/main">
              <a:ext uri="{FF2B5EF4-FFF2-40B4-BE49-F238E27FC236}">
                <a16:creationId xmlns:a16="http://schemas.microsoft.com/office/drawing/2014/main" id="{BE9D70A5-3338-449A-89CB-EA7473CA5AA9}"/>
              </a:ext>
            </a:extLst>
          </p:cNvPr>
          <p:cNvSpPr>
            <a:spLocks xmlns:a="http://schemas.openxmlformats.org/drawingml/2006/main" noGrp="1"/>
          </p:cNvSpPr>
          <p:nvPr/>
        </p:nvSpPr>
        <p:spPr>
          <a:xfrm xmlns:a="http://schemas.openxmlformats.org/drawingml/2006/main">
            <a:off x="8058150" y="5276850"/>
            <a:ext cx="289560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02" b="1">
                <a:solidFill>
                  <a:srgbClr val="43A896"/>
                </a:solidFill>
                <a:latin typeface="LM Roman 12"/>
                <a:ea typeface="LM Roman 12"/>
                <a:cs typeface="LM Roman 12"/>
              </a:defRPr>
            </a:pPr>
            <a:r>
              <a:rPr sz="1102" b="1">
                <a:solidFill>
                  <a:srgbClr val="43A896"/>
                </a:solidFill>
                <a:latin typeface="LM Roman 12"/>
                <a:ea typeface="LM Roman 12"/>
                <a:cs typeface="LM Roman 12"/>
              </a:rPr>
              <a:t>coverage gain</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b3d83197fa004307">
            <a:extLst>
              <a:ext uri="{96DAC541-7B7A-43D3-8B79-37D633B846F1}">
                <asvg:svgBlip xmlns:asvg="http://schemas.microsoft.com/office/drawing/2016/SVG/main" r:embed="R92dd04bef58d4278"/>
              </a:ext>
            </a:extLst>
          </a:blip>
          <a:stretch xmlns:a="http://schemas.openxmlformats.org/drawingml/2006/main"/>
        </p:blipFill>
        <p:spPr>
          <a:xfrm xmlns:a="http://schemas.openxmlformats.org/drawingml/2006/main">
            <a:off x="8650944" y="5510766"/>
            <a:ext cx="1710011" cy="294168"/>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818183B5-0AB8-48C2-AD66-0ACA3685C78F}"/>
              </a:ext>
            </a:extLst>
          </p:cNvPr>
          <p:cNvSpPr>
            <a:spLocks xmlns:a="http://schemas.openxmlformats.org/drawingml/2006/main" noGrp="1"/>
          </p:cNvSpPr>
          <p:nvPr/>
        </p:nvSpPr>
        <p:spPr>
          <a:xfrm xmlns:a="http://schemas.openxmlformats.org/drawingml/2006/main">
            <a:off x="666750" y="6057900"/>
            <a:ext cx="8572500" cy="2095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5B6472"/>
                </a:solidFill>
                <a:latin typeface="LM Roman 12"/>
                <a:ea typeface="LM Roman 12"/>
                <a:cs typeface="LM Roman 12"/>
              </a:defRPr>
            </a:pPr>
            <a:r>
              <a:rPr sz="825" b="0">
                <a:solidFill>
                  <a:srgbClr val="5B6472"/>
                </a:solidFill>
                <a:latin typeface="LM Roman 12"/>
                <a:ea typeface="LM Roman 12"/>
                <a:cs typeface="LM Roman 12"/>
              </a:rPr>
              <a:t>Sources: writeup/3_related_work.tex and writeup/4_implementation.tex.</a:t>
            </a:r>
          </a:p>
        </p:txBody>
      </p:sp>
      <p:sp>
        <p:nvSpPr>
          <p:cNvPr id="30" name="">
            <a:extLst xmlns:a="http://schemas.openxmlformats.org/drawingml/2006/main">
              <a:ext uri="{FF2B5EF4-FFF2-40B4-BE49-F238E27FC236}">
                <a16:creationId xmlns:a16="http://schemas.microsoft.com/office/drawing/2014/main" id="{99FF31C4-5AC1-409D-A90D-427A2E010A80}"/>
              </a:ext>
            </a:extLst>
          </p:cNvPr>
          <p:cNvSpPr>
            <a:spLocks xmlns:a="http://schemas.openxmlformats.org/drawingml/2006/main" noGrp="1"/>
          </p:cNvSpPr>
          <p:nvPr/>
        </p:nvSpPr>
        <p:spPr>
          <a:xfrm xmlns:a="http://schemas.openxmlformats.org/drawingml/2006/main">
            <a:off x="666750" y="6296025"/>
            <a:ext cx="10858500" cy="9525"/>
          </a:xfrm>
          <a:prstGeom xmlns:a="http://schemas.openxmlformats.org/drawingml/2006/main" prst="rect">
            <a:avLst/>
          </a:prstGeom>
          <a:solidFill xmlns:a="http://schemas.openxmlformats.org/drawingml/2006/main">
            <a:srgbClr val="E6EBF3"/>
          </a:solidFill>
          <a:ln xmlns:a="http://schemas.openxmlformats.org/drawingml/2006/main" w="0">
            <a:solidFill>
              <a:srgbClr val="000000">
                <a:alpha val="0"/>
              </a:srgbClr>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651f8399904240ba"/>
          <a:stretch xmlns:a="http://schemas.openxmlformats.org/drawingml/2006/main"/>
        </p:blipFill>
        <p:spPr>
          <a:xfrm xmlns:a="http://schemas.openxmlformats.org/drawingml/2006/main">
            <a:off x="666977" y="6429375"/>
            <a:ext cx="269103" cy="228600"/>
          </a:xfrm>
          <a:prstGeom xmlns:a="http://schemas.openxmlformats.org/drawingml/2006/main" prst="rect">
            <a:avLst/>
          </a:prstGeom>
        </p:spPr>
      </p:pic>
      <p:sp>
        <p:nvSpPr>
          <p:cNvPr id="32" name="">
            <a:extLst xmlns:a="http://schemas.openxmlformats.org/drawingml/2006/main">
              <a:ext uri="{FF2B5EF4-FFF2-40B4-BE49-F238E27FC236}">
                <a16:creationId xmlns:a16="http://schemas.microsoft.com/office/drawing/2014/main" id="{71B37A62-F58B-4016-9C43-666C2759BB22}"/>
              </a:ext>
            </a:extLst>
          </p:cNvPr>
          <p:cNvSpPr>
            <a:spLocks xmlns:a="http://schemas.openxmlformats.org/drawingml/2006/main" noGrp="1"/>
          </p:cNvSpPr>
          <p:nvPr/>
        </p:nvSpPr>
        <p:spPr>
          <a:xfrm xmlns:a="http://schemas.openxmlformats.org/drawingml/2006/main">
            <a:off x="990600" y="6457950"/>
            <a:ext cx="400050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method: FedCover coverage correction</a:t>
            </a:r>
          </a:p>
        </p:txBody>
      </p:sp>
      <p:sp>
        <p:nvSpPr>
          <p:cNvPr id="33" name="">
            <a:extLst xmlns:a="http://schemas.openxmlformats.org/drawingml/2006/main">
              <a:ext uri="{FF2B5EF4-FFF2-40B4-BE49-F238E27FC236}">
                <a16:creationId xmlns:a16="http://schemas.microsoft.com/office/drawing/2014/main" id="{8C9A4007-24AC-403C-AB5A-6B2048A3EF76}"/>
              </a:ext>
            </a:extLst>
          </p:cNvPr>
          <p:cNvSpPr>
            <a:spLocks xmlns:a="http://schemas.openxmlformats.org/drawingml/2006/main" noGrp="1"/>
          </p:cNvSpPr>
          <p:nvPr/>
        </p:nvSpPr>
        <p:spPr>
          <a:xfrm xmlns:a="http://schemas.openxmlformats.org/drawingml/2006/main">
            <a:off x="11049000" y="6457950"/>
            <a:ext cx="47625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05</a:t>
            </a:r>
          </a:p>
        </p:txBody>
      </p:sp>
    </p:spTree>
    <p:extLst>
      <p:ext uri="{BB962C8B-B14F-4D97-AF65-F5344CB8AC3E}">
        <p14:creationId xmlns:p14="http://schemas.microsoft.com/office/powerpoint/2010/main" val="1826275506"/>
      </p:ext>
    </p:extLst>
  </p:cSld>
</p:sld>
</file>

<file path=ppt/slides/slide6.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B3537E5-2EF2-47F1-AA58-E9C2FF63F62D}"/>
              </a:ext>
            </a:extLst>
          </p:cNvPr>
          <p:cNvSpPr>
            <a:spLocks xmlns:a="http://schemas.openxmlformats.org/drawingml/2006/main" noGrp="1"/>
          </p:cNvSpPr>
          <p:nvPr/>
        </p:nvSpPr>
        <p:spPr>
          <a:xfrm xmlns:a="http://schemas.openxmlformats.org/drawingml/2006/main">
            <a:off x="666750" y="342900"/>
            <a:ext cx="4953000" cy="1905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43A896"/>
                </a:solidFill>
                <a:latin typeface="LM Roman 12"/>
                <a:ea typeface="LM Roman 12"/>
                <a:cs typeface="LM Roman 12"/>
              </a:defRPr>
            </a:pPr>
            <a:r>
              <a:rPr sz="975" b="1">
                <a:solidFill>
                  <a:srgbClr val="43A896"/>
                </a:solidFill>
                <a:latin typeface="LM Roman 12"/>
                <a:ea typeface="LM Roman 12"/>
                <a:cs typeface="LM Roman 12"/>
              </a:rPr>
              <a:t>RUN LIFECYCLE</a:t>
            </a:r>
          </a:p>
        </p:txBody>
      </p:sp>
      <p:sp>
        <p:nvSpPr>
          <p:cNvPr id="2" name="">
            <a:extLst xmlns:a="http://schemas.openxmlformats.org/drawingml/2006/main">
              <a:ext uri="{FF2B5EF4-FFF2-40B4-BE49-F238E27FC236}">
                <a16:creationId xmlns:a16="http://schemas.microsoft.com/office/drawing/2014/main" id="{BA3C1B46-4BAC-465B-9ECE-676E5E1C6F2A}"/>
              </a:ext>
            </a:extLst>
          </p:cNvPr>
          <p:cNvSpPr>
            <a:spLocks xmlns:a="http://schemas.openxmlformats.org/drawingml/2006/main" noGrp="1"/>
          </p:cNvSpPr>
          <p:nvPr/>
        </p:nvSpPr>
        <p:spPr>
          <a:xfrm xmlns:a="http://schemas.openxmlformats.org/drawingml/2006/main">
            <a:off x="666750" y="590550"/>
            <a:ext cx="9239250" cy="6477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71F46"/>
                </a:solidFill>
                <a:latin typeface="LM Roman 12"/>
                <a:ea typeface="LM Roman 12"/>
                <a:cs typeface="LM Roman 12"/>
              </a:defRPr>
            </a:pPr>
            <a:r>
              <a:rPr sz="2250" b="1">
                <a:solidFill>
                  <a:srgbClr val="071F46"/>
                </a:solidFill>
                <a:latin typeface="LM Roman 12"/>
                <a:ea typeface="LM Roman 12"/>
                <a:cs typeface="LM Roman 12"/>
              </a:rPr>
              <a:t>fedctl Run Lifecycle</a:t>
            </a:r>
          </a:p>
        </p:txBody>
      </p:sp>
      <p:sp>
        <p:nvSpPr>
          <p:cNvPr id="3" name="">
            <a:extLst xmlns:a="http://schemas.openxmlformats.org/drawingml/2006/main">
              <a:ext uri="{FF2B5EF4-FFF2-40B4-BE49-F238E27FC236}">
                <a16:creationId xmlns:a16="http://schemas.microsoft.com/office/drawing/2014/main" id="{92E18CC8-9046-4AE0-BECF-81AF33C02A0C}"/>
              </a:ext>
            </a:extLst>
          </p:cNvPr>
          <p:cNvSpPr>
            <a:spLocks xmlns:a="http://schemas.openxmlformats.org/drawingml/2006/main" noGrp="1"/>
          </p:cNvSpPr>
          <p:nvPr/>
        </p:nvSpPr>
        <p:spPr>
          <a:xfrm xmlns:a="http://schemas.openxmlformats.org/drawingml/2006/main">
            <a:off x="666750" y="1005840"/>
            <a:ext cx="1143000" cy="47625"/>
          </a:xfrm>
          <a:prstGeom xmlns:a="http://schemas.openxmlformats.org/drawingml/2006/main" prst="rect">
            <a:avLst/>
          </a:prstGeom>
          <a:solidFill xmlns:a="http://schemas.openxmlformats.org/drawingml/2006/main">
            <a:srgbClr val="F3C43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1C8430AD-A57A-4F61-A33B-0E561036F106}"/>
              </a:ext>
            </a:extLst>
          </p:cNvPr>
          <p:cNvSpPr>
            <a:spLocks xmlns:a="http://schemas.openxmlformats.org/drawingml/2006/main" noGrp="1"/>
          </p:cNvSpPr>
          <p:nvPr/>
        </p:nvSpPr>
        <p:spPr>
          <a:xfrm xmlns:a="http://schemas.openxmlformats.org/drawingml/2006/main">
            <a:off x="666750" y="1428750"/>
            <a:ext cx="7239000" cy="3714750"/>
          </a:xfrm>
          <a:prstGeom xmlns:a="http://schemas.openxmlformats.org/drawingml/2006/main" prst="roundRect">
            <a:avLst>
              <a:gd name="adj" fmla="val 1795"/>
            </a:avLst>
          </a:prstGeom>
          <a:solidFill xmlns:a="http://schemas.openxmlformats.org/drawingml/2006/main">
            <a:srgbClr val="FFFFFF"/>
          </a:solidFill>
          <a:ln xmlns:a="http://schemas.openxmlformats.org/drawingml/2006/main" w="9525">
            <a:solidFill>
              <a:srgbClr val="D5DCE8"/>
            </a:solidFill>
            <a:prstDash val="solid"/>
          </a:ln>
        </p:spPr>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fec001c178654ff7">
            <a:extLst>
              <a:ext uri="{96DAC541-7B7A-43D3-8B79-37D633B846F1}">
                <asvg:svgBlip xmlns:asvg="http://schemas.microsoft.com/office/drawing/2016/SVG/main" r:embed="Rf2d768f8fa144d5d"/>
              </a:ext>
            </a:extLst>
          </a:blip>
          <a:stretch xmlns:a="http://schemas.openxmlformats.org/drawingml/2006/main"/>
        </p:blipFill>
        <p:spPr>
          <a:xfrm xmlns:a="http://schemas.openxmlformats.org/drawingml/2006/main">
            <a:off x="838200" y="1735430"/>
            <a:ext cx="6896100" cy="294899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9BCF2F7-521E-42B1-9749-EB6E05B78A0E}"/>
              </a:ext>
            </a:extLst>
          </p:cNvPr>
          <p:cNvSpPr>
            <a:spLocks xmlns:a="http://schemas.openxmlformats.org/drawingml/2006/main" noGrp="1"/>
          </p:cNvSpPr>
          <p:nvPr/>
        </p:nvSpPr>
        <p:spPr>
          <a:xfrm xmlns:a="http://schemas.openxmlformats.org/drawingml/2006/main">
            <a:off x="990600" y="4876800"/>
            <a:ext cx="6572250" cy="2095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The same run lifecycle preserves configs, placement, logs, metrics, and artifacts for later inspection.</a:t>
            </a:r>
          </a:p>
        </p:txBody>
      </p:sp>
      <p:sp>
        <p:nvSpPr>
          <p:cNvPr id="7" name="">
            <a:extLst xmlns:a="http://schemas.openxmlformats.org/drawingml/2006/main">
              <a:ext uri="{FF2B5EF4-FFF2-40B4-BE49-F238E27FC236}">
                <a16:creationId xmlns:a16="http://schemas.microsoft.com/office/drawing/2014/main" id="{3ED8EA92-DEF3-42E0-B68E-4AA021A8EDED}"/>
              </a:ext>
            </a:extLst>
          </p:cNvPr>
          <p:cNvSpPr>
            <a:spLocks xmlns:a="http://schemas.openxmlformats.org/drawingml/2006/main" noGrp="1"/>
          </p:cNvSpPr>
          <p:nvPr/>
        </p:nvSpPr>
        <p:spPr>
          <a:xfrm xmlns:a="http://schemas.openxmlformats.org/drawingml/2006/main">
            <a:off x="8172450" y="1428750"/>
            <a:ext cx="3352800" cy="3714750"/>
          </a:xfrm>
          <a:prstGeom xmlns:a="http://schemas.openxmlformats.org/drawingml/2006/main" prst="roundRect">
            <a:avLst>
              <a:gd name="adj" fmla="val 1989"/>
            </a:avLst>
          </a:prstGeom>
          <a:solidFill xmlns:a="http://schemas.openxmlformats.org/drawingml/2006/main">
            <a:srgbClr val="FFFFFF"/>
          </a:solidFill>
          <a:ln xmlns:a="http://schemas.openxmlformats.org/drawingml/2006/main" w="9525">
            <a:solidFill>
              <a:srgbClr val="D5DCE8"/>
            </a:solidFill>
            <a:prstDash val="solid"/>
          </a:ln>
        </p:spPr>
      </p:sp>
      <p:sp>
        <p:nvSpPr>
          <p:cNvPr id="8" name="">
            <a:extLst xmlns:a="http://schemas.openxmlformats.org/drawingml/2006/main">
              <a:ext uri="{FF2B5EF4-FFF2-40B4-BE49-F238E27FC236}">
                <a16:creationId xmlns:a16="http://schemas.microsoft.com/office/drawing/2014/main" id="{D075D738-5642-4647-8560-EAC55EBCF3FD}"/>
              </a:ext>
            </a:extLst>
          </p:cNvPr>
          <p:cNvSpPr>
            <a:spLocks xmlns:a="http://schemas.openxmlformats.org/drawingml/2006/main" noGrp="1"/>
          </p:cNvSpPr>
          <p:nvPr/>
        </p:nvSpPr>
        <p:spPr>
          <a:xfrm xmlns:a="http://schemas.openxmlformats.org/drawingml/2006/main">
            <a:off x="8420100" y="1657350"/>
            <a:ext cx="2857500" cy="2667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71F46"/>
                </a:solidFill>
                <a:latin typeface="LM Roman 12"/>
                <a:ea typeface="LM Roman 12"/>
                <a:cs typeface="LM Roman 12"/>
              </a:defRPr>
            </a:pPr>
            <a:r>
              <a:rPr sz="1500" b="1">
                <a:solidFill>
                  <a:srgbClr val="071F46"/>
                </a:solidFill>
                <a:latin typeface="LM Roman 12"/>
                <a:ea typeface="LM Roman 12"/>
                <a:cs typeface="LM Roman 12"/>
              </a:rPr>
              <a:t>Concrete inspection surface</a:t>
            </a:r>
          </a:p>
        </p:txBody>
      </p:sp>
      <p:sp>
        <p:nvSpPr>
          <p:cNvPr id="9" name="">
            <a:extLst xmlns:a="http://schemas.openxmlformats.org/drawingml/2006/main">
              <a:ext uri="{FF2B5EF4-FFF2-40B4-BE49-F238E27FC236}">
                <a16:creationId xmlns:a16="http://schemas.microsoft.com/office/drawing/2014/main" id="{4CB1655B-56BE-4AD9-B14A-6E2DCDFE2790}"/>
              </a:ext>
            </a:extLst>
          </p:cNvPr>
          <p:cNvSpPr>
            <a:spLocks xmlns:a="http://schemas.openxmlformats.org/drawingml/2006/main" noGrp="1"/>
          </p:cNvSpPr>
          <p:nvPr/>
        </p:nvSpPr>
        <p:spPr>
          <a:xfrm xmlns:a="http://schemas.openxmlformats.org/drawingml/2006/main">
            <a:off x="8420100" y="2057400"/>
            <a:ext cx="1714500" cy="1905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43A896"/>
                </a:solidFill>
                <a:latin typeface="LM Roman 12"/>
                <a:ea typeface="LM Roman 12"/>
                <a:cs typeface="LM Roman 12"/>
              </a:defRPr>
            </a:pPr>
            <a:r>
              <a:rPr sz="975" b="1">
                <a:solidFill>
                  <a:srgbClr val="43A896"/>
                </a:solidFill>
                <a:latin typeface="LM Roman 12"/>
                <a:ea typeface="LM Roman 12"/>
                <a:cs typeface="LM Roman 12"/>
              </a:rPr>
              <a:t>CLI request</a:t>
            </a:r>
          </a:p>
        </p:txBody>
      </p:sp>
      <p:sp>
        <p:nvSpPr>
          <p:cNvPr id="10" name="">
            <a:extLst xmlns:a="http://schemas.openxmlformats.org/drawingml/2006/main">
              <a:ext uri="{FF2B5EF4-FFF2-40B4-BE49-F238E27FC236}">
                <a16:creationId xmlns:a16="http://schemas.microsoft.com/office/drawing/2014/main" id="{40B6CC89-89CD-499A-BE53-B7E28B7398EF}"/>
              </a:ext>
            </a:extLst>
          </p:cNvPr>
          <p:cNvSpPr>
            <a:spLocks xmlns:a="http://schemas.openxmlformats.org/drawingml/2006/main" noGrp="1"/>
          </p:cNvSpPr>
          <p:nvPr/>
        </p:nvSpPr>
        <p:spPr>
          <a:xfrm xmlns:a="http://schemas.openxmlformats.org/drawingml/2006/main">
            <a:off x="8420100" y="2305050"/>
            <a:ext cx="2857500" cy="514350"/>
          </a:xfrm>
          <a:prstGeom xmlns:a="http://schemas.openxmlformats.org/drawingml/2006/main" prst="roundRect">
            <a:avLst>
              <a:gd name="adj" fmla="val 12963"/>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C7438A1F-4F95-44F8-A80B-A98483D7566B}"/>
              </a:ext>
            </a:extLst>
          </p:cNvPr>
          <p:cNvSpPr>
            <a:spLocks xmlns:a="http://schemas.openxmlformats.org/drawingml/2006/main" noGrp="1"/>
          </p:cNvSpPr>
          <p:nvPr/>
        </p:nvSpPr>
        <p:spPr>
          <a:xfrm xmlns:a="http://schemas.openxmlformats.org/drawingml/2006/main">
            <a:off x="8591550" y="2419350"/>
            <a:ext cx="2533650" cy="2857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E5EDF8"/>
                </a:solidFill>
                <a:latin typeface="LM Roman 12"/>
                <a:ea typeface="LM Roman 12"/>
                <a:cs typeface="LM Roman 12"/>
              </a:defRPr>
            </a:pPr>
            <a:r>
              <a:rPr sz="900" b="1">
                <a:solidFill>
                  <a:srgbClr val="E5EDF8"/>
                </a:solidFill>
                <a:latin typeface="LM Roman 12"/>
                <a:ea typeface="LM Roman 12"/>
                <a:cs typeface="LM Roman 12"/>
              </a:rPr>
              <a:t>$ fedctl submit run apps/fedctl_research --run-config ... --deploy-config ...</a:t>
            </a:r>
          </a:p>
        </p:txBody>
      </p:sp>
      <p:sp>
        <p:nvSpPr>
          <p:cNvPr id="12" name="">
            <a:extLst xmlns:a="http://schemas.openxmlformats.org/drawingml/2006/main">
              <a:ext uri="{FF2B5EF4-FFF2-40B4-BE49-F238E27FC236}">
                <a16:creationId xmlns:a16="http://schemas.microsoft.com/office/drawing/2014/main" id="{3CF52FE6-164B-4408-967C-20B17D2DA2EB}"/>
              </a:ext>
            </a:extLst>
          </p:cNvPr>
          <p:cNvSpPr>
            <a:spLocks xmlns:a="http://schemas.openxmlformats.org/drawingml/2006/main" noGrp="1"/>
          </p:cNvSpPr>
          <p:nvPr/>
        </p:nvSpPr>
        <p:spPr>
          <a:xfrm xmlns:a="http://schemas.openxmlformats.org/drawingml/2006/main">
            <a:off x="8420100" y="3009900"/>
            <a:ext cx="1714500" cy="1905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43A896"/>
                </a:solidFill>
                <a:latin typeface="LM Roman 12"/>
                <a:ea typeface="LM Roman 12"/>
                <a:cs typeface="LM Roman 12"/>
              </a:defRPr>
            </a:pPr>
            <a:r>
              <a:rPr sz="975" b="1">
                <a:solidFill>
                  <a:srgbClr val="43A896"/>
                </a:solidFill>
                <a:latin typeface="LM Roman 12"/>
                <a:ea typeface="LM Roman 12"/>
                <a:cs typeface="LM Roman 12"/>
              </a:rPr>
              <a:t>Browser record</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3d25e95f43548dd"/>
          <a:stretch xmlns:a="http://schemas.openxmlformats.org/drawingml/2006/main"/>
        </p:blipFill>
        <p:spPr>
          <a:xfrm xmlns:a="http://schemas.openxmlformats.org/drawingml/2006/main">
            <a:off x="8423842" y="3257550"/>
            <a:ext cx="2850016" cy="1123950"/>
          </a:xfrm>
          <a:prstGeom xmlns:a="http://schemas.openxmlformats.org/drawingml/2006/main" prst="roundRect">
            <a:avLst>
              <a:gd name="adj" fmla="val 4237"/>
            </a:avLst>
          </a:prstGeom>
        </p:spPr>
      </p:pic>
      <p:sp>
        <p:nvSpPr>
          <p:cNvPr id="14" name="">
            <a:extLst xmlns:a="http://schemas.openxmlformats.org/drawingml/2006/main">
              <a:ext uri="{FF2B5EF4-FFF2-40B4-BE49-F238E27FC236}">
                <a16:creationId xmlns:a16="http://schemas.microsoft.com/office/drawing/2014/main" id="{B81A54F3-5561-4579-A24A-FF3C1E6B83AC}"/>
              </a:ext>
            </a:extLst>
          </p:cNvPr>
          <p:cNvSpPr>
            <a:spLocks xmlns:a="http://schemas.openxmlformats.org/drawingml/2006/main" noGrp="1"/>
          </p:cNvSpPr>
          <p:nvPr/>
        </p:nvSpPr>
        <p:spPr>
          <a:xfrm xmlns:a="http://schemas.openxmlformats.org/drawingml/2006/main">
            <a:off x="8420100" y="4514850"/>
            <a:ext cx="2857500" cy="4191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Run identity, image, artifact URL, queue wait, and runtime stay attached to the submitted command.</a:t>
            </a:r>
          </a:p>
        </p:txBody>
      </p:sp>
      <p:sp>
        <p:nvSpPr>
          <p:cNvPr id="15" name="">
            <a:extLst xmlns:a="http://schemas.openxmlformats.org/drawingml/2006/main">
              <a:ext uri="{FF2B5EF4-FFF2-40B4-BE49-F238E27FC236}">
                <a16:creationId xmlns:a16="http://schemas.microsoft.com/office/drawing/2014/main" id="{E138AE09-2B30-42E7-AC33-5652997BBEA3}"/>
              </a:ext>
            </a:extLst>
          </p:cNvPr>
          <p:cNvSpPr>
            <a:spLocks xmlns:a="http://schemas.openxmlformats.org/drawingml/2006/main" noGrp="1"/>
          </p:cNvSpPr>
          <p:nvPr/>
        </p:nvSpPr>
        <p:spPr>
          <a:xfrm xmlns:a="http://schemas.openxmlformats.org/drawingml/2006/main">
            <a:off x="1428750" y="5353050"/>
            <a:ext cx="9334500" cy="514350"/>
          </a:xfrm>
          <a:prstGeom xmlns:a="http://schemas.openxmlformats.org/drawingml/2006/main" prst="roundRect">
            <a:avLst>
              <a:gd name="adj" fmla="val 12963"/>
            </a:avLst>
          </a:prstGeom>
          <a:solidFill xmlns:a="http://schemas.openxmlformats.org/drawingml/2006/main">
            <a:srgbClr val="F1F5F9"/>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E77DBFCE-FA90-4AFA-AD28-B9DF2B027268}"/>
              </a:ext>
            </a:extLst>
          </p:cNvPr>
          <p:cNvSpPr>
            <a:spLocks xmlns:a="http://schemas.openxmlformats.org/drawingml/2006/main" noGrp="1"/>
          </p:cNvSpPr>
          <p:nvPr/>
        </p:nvSpPr>
        <p:spPr>
          <a:xfrm xmlns:a="http://schemas.openxmlformats.org/drawingml/2006/main">
            <a:off x="1809750" y="5486400"/>
            <a:ext cx="857250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071F46"/>
                </a:solidFill>
                <a:latin typeface="LM Roman 12"/>
                <a:ea typeface="LM Roman 12"/>
                <a:cs typeface="LM Roman 12"/>
              </a:defRPr>
            </a:pPr>
            <a:r>
              <a:rPr sz="1200" b="1">
                <a:solidFill>
                  <a:srgbClr val="071F46"/>
                </a:solidFill>
                <a:latin typeface="LM Roman 12"/>
                <a:ea typeface="LM Roman 12"/>
                <a:cs typeface="LM Roman 12"/>
              </a:rPr>
              <a:t>User-facing tool surface: submit once, then inspect queue state, Nomad jobs, logs, metrics, and result artifacts.</a:t>
            </a:r>
          </a:p>
        </p:txBody>
      </p:sp>
      <p:sp>
        <p:nvSpPr>
          <p:cNvPr id="17" name="">
            <a:extLst xmlns:a="http://schemas.openxmlformats.org/drawingml/2006/main">
              <a:ext uri="{FF2B5EF4-FFF2-40B4-BE49-F238E27FC236}">
                <a16:creationId xmlns:a16="http://schemas.microsoft.com/office/drawing/2014/main" id="{FC240F90-8B29-43C8-BFB5-96402502815F}"/>
              </a:ext>
            </a:extLst>
          </p:cNvPr>
          <p:cNvSpPr>
            <a:spLocks xmlns:a="http://schemas.openxmlformats.org/drawingml/2006/main" noGrp="1"/>
          </p:cNvSpPr>
          <p:nvPr/>
        </p:nvSpPr>
        <p:spPr>
          <a:xfrm xmlns:a="http://schemas.openxmlformats.org/drawingml/2006/main">
            <a:off x="666750" y="6296025"/>
            <a:ext cx="10858500" cy="9525"/>
          </a:xfrm>
          <a:prstGeom xmlns:a="http://schemas.openxmlformats.org/drawingml/2006/main" prst="rect">
            <a:avLst/>
          </a:prstGeom>
          <a:solidFill xmlns:a="http://schemas.openxmlformats.org/drawingml/2006/main">
            <a:srgbClr val="E6EBF3"/>
          </a:solidFill>
          <a:ln xmlns:a="http://schemas.openxmlformats.org/drawingml/2006/main" w="0">
            <a:solidFill>
              <a:srgbClr val="000000">
                <a:alpha val="0"/>
              </a:srgbClr>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310c0a4823540ec"/>
          <a:stretch xmlns:a="http://schemas.openxmlformats.org/drawingml/2006/main"/>
        </p:blipFill>
        <p:spPr>
          <a:xfrm xmlns:a="http://schemas.openxmlformats.org/drawingml/2006/main">
            <a:off x="666977" y="6429375"/>
            <a:ext cx="269103" cy="228600"/>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F7A4A887-6201-4789-94E4-5FEA8B6DBEF7}"/>
              </a:ext>
            </a:extLst>
          </p:cNvPr>
          <p:cNvSpPr>
            <a:spLocks xmlns:a="http://schemas.openxmlformats.org/drawingml/2006/main" noGrp="1"/>
          </p:cNvSpPr>
          <p:nvPr/>
        </p:nvSpPr>
        <p:spPr>
          <a:xfrm xmlns:a="http://schemas.openxmlformats.org/drawingml/2006/main">
            <a:off x="990600" y="6457950"/>
            <a:ext cx="400050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implementation: reusable control plane for Flower experiments</a:t>
            </a:r>
          </a:p>
        </p:txBody>
      </p:sp>
      <p:sp>
        <p:nvSpPr>
          <p:cNvPr id="20" name="">
            <a:extLst xmlns:a="http://schemas.openxmlformats.org/drawingml/2006/main">
              <a:ext uri="{FF2B5EF4-FFF2-40B4-BE49-F238E27FC236}">
                <a16:creationId xmlns:a16="http://schemas.microsoft.com/office/drawing/2014/main" id="{BBB7025B-60AD-4F00-9AE4-AC1EEA5CD47F}"/>
              </a:ext>
            </a:extLst>
          </p:cNvPr>
          <p:cNvSpPr>
            <a:spLocks xmlns:a="http://schemas.openxmlformats.org/drawingml/2006/main" noGrp="1"/>
          </p:cNvSpPr>
          <p:nvPr/>
        </p:nvSpPr>
        <p:spPr>
          <a:xfrm xmlns:a="http://schemas.openxmlformats.org/drawingml/2006/main">
            <a:off x="11049000" y="6457950"/>
            <a:ext cx="47625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06</a:t>
            </a:r>
          </a:p>
        </p:txBody>
      </p:sp>
    </p:spTree>
    <p:extLst>
      <p:ext uri="{BB962C8B-B14F-4D97-AF65-F5344CB8AC3E}">
        <p14:creationId xmlns:p14="http://schemas.microsoft.com/office/powerpoint/2010/main" val="356054335"/>
      </p:ext>
    </p:extLst>
  </p:cSld>
</p:sld>
</file>

<file path=ppt/slides/slide7.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FA97811-2EE4-48A4-A05A-CCB88C134581}"/>
              </a:ext>
            </a:extLst>
          </p:cNvPr>
          <p:cNvSpPr>
            <a:spLocks xmlns:a="http://schemas.openxmlformats.org/drawingml/2006/main" noGrp="1"/>
          </p:cNvSpPr>
          <p:nvPr/>
        </p:nvSpPr>
        <p:spPr>
          <a:xfrm xmlns:a="http://schemas.openxmlformats.org/drawingml/2006/main">
            <a:off x="666750" y="342900"/>
            <a:ext cx="4953000" cy="1905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43A896"/>
                </a:solidFill>
                <a:latin typeface="LM Roman 12"/>
                <a:ea typeface="LM Roman 12"/>
                <a:cs typeface="LM Roman 12"/>
              </a:defRPr>
            </a:pPr>
            <a:r>
              <a:rPr sz="975" b="1">
                <a:solidFill>
                  <a:srgbClr val="43A896"/>
                </a:solidFill>
                <a:latin typeface="LM Roman 12"/>
                <a:ea typeface="LM Roman 12"/>
                <a:cs typeface="LM Roman 12"/>
              </a:rPr>
              <a:t>IMPLEMENTATION CONTROLS</a:t>
            </a:r>
          </a:p>
        </p:txBody>
      </p:sp>
      <p:sp>
        <p:nvSpPr>
          <p:cNvPr id="2" name="">
            <a:extLst xmlns:a="http://schemas.openxmlformats.org/drawingml/2006/main">
              <a:ext uri="{FF2B5EF4-FFF2-40B4-BE49-F238E27FC236}">
                <a16:creationId xmlns:a16="http://schemas.microsoft.com/office/drawing/2014/main" id="{B86E5694-6CC5-4082-AA80-1BF7B4DE0788}"/>
              </a:ext>
            </a:extLst>
          </p:cNvPr>
          <p:cNvSpPr>
            <a:spLocks xmlns:a="http://schemas.openxmlformats.org/drawingml/2006/main" noGrp="1"/>
          </p:cNvSpPr>
          <p:nvPr/>
        </p:nvSpPr>
        <p:spPr>
          <a:xfrm xmlns:a="http://schemas.openxmlformats.org/drawingml/2006/main">
            <a:off x="666750" y="590550"/>
            <a:ext cx="9239250" cy="6477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71F46"/>
                </a:solidFill>
                <a:latin typeface="LM Roman 12"/>
                <a:ea typeface="LM Roman 12"/>
                <a:cs typeface="LM Roman 12"/>
              </a:defRPr>
            </a:pPr>
            <a:r>
              <a:rPr sz="2250" b="1">
                <a:solidFill>
                  <a:srgbClr val="071F46"/>
                </a:solidFill>
                <a:latin typeface="LM Roman 12"/>
                <a:ea typeface="LM Roman 12"/>
                <a:cs typeface="LM Roman 12"/>
              </a:rPr>
              <a:t>Controlling Heterogeneity</a:t>
            </a:r>
          </a:p>
        </p:txBody>
      </p:sp>
      <p:sp>
        <p:nvSpPr>
          <p:cNvPr id="3" name="">
            <a:extLst xmlns:a="http://schemas.openxmlformats.org/drawingml/2006/main">
              <a:ext uri="{FF2B5EF4-FFF2-40B4-BE49-F238E27FC236}">
                <a16:creationId xmlns:a16="http://schemas.microsoft.com/office/drawing/2014/main" id="{96464BFD-823C-467A-A4D8-E259FBFBFB6B}"/>
              </a:ext>
            </a:extLst>
          </p:cNvPr>
          <p:cNvSpPr>
            <a:spLocks xmlns:a="http://schemas.openxmlformats.org/drawingml/2006/main" noGrp="1"/>
          </p:cNvSpPr>
          <p:nvPr/>
        </p:nvSpPr>
        <p:spPr>
          <a:xfrm xmlns:a="http://schemas.openxmlformats.org/drawingml/2006/main">
            <a:off x="666750" y="1005840"/>
            <a:ext cx="1143000" cy="47625"/>
          </a:xfrm>
          <a:prstGeom xmlns:a="http://schemas.openxmlformats.org/drawingml/2006/main" prst="rect">
            <a:avLst/>
          </a:prstGeom>
          <a:solidFill xmlns:a="http://schemas.openxmlformats.org/drawingml/2006/main">
            <a:srgbClr val="F3C43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3B9CBBD7-4048-4220-8510-B3C6AE2054C6}"/>
              </a:ext>
            </a:extLst>
          </p:cNvPr>
          <p:cNvSpPr>
            <a:spLocks xmlns:a="http://schemas.openxmlformats.org/drawingml/2006/main" noGrp="1"/>
          </p:cNvSpPr>
          <p:nvPr/>
        </p:nvSpPr>
        <p:spPr>
          <a:xfrm xmlns:a="http://schemas.openxmlformats.org/drawingml/2006/main">
            <a:off x="666750" y="1371600"/>
            <a:ext cx="10858500" cy="609600"/>
          </a:xfrm>
          <a:prstGeom xmlns:a="http://schemas.openxmlformats.org/drawingml/2006/main" prst="roundRect">
            <a:avLst>
              <a:gd name="adj" fmla="val 10938"/>
            </a:avLst>
          </a:prstGeom>
          <a:solidFill xmlns:a="http://schemas.openxmlformats.org/drawingml/2006/main">
            <a:srgbClr val="EEF7F5"/>
          </a:solidFill>
          <a:ln xmlns:a="http://schemas.openxmlformats.org/drawingml/2006/main" w="9525">
            <a:solidFill>
              <a:srgbClr val="D5DCE8"/>
            </a:solidFill>
            <a:prstDash val="solid"/>
          </a:ln>
        </p:spPr>
      </p:sp>
      <p:sp>
        <p:nvSpPr>
          <p:cNvPr id="5" name="">
            <a:extLst xmlns:a="http://schemas.openxmlformats.org/drawingml/2006/main">
              <a:ext uri="{FF2B5EF4-FFF2-40B4-BE49-F238E27FC236}">
                <a16:creationId xmlns:a16="http://schemas.microsoft.com/office/drawing/2014/main" id="{9CE5EFAD-DDFA-4560-B492-8BD5BE6E6EAB}"/>
              </a:ext>
            </a:extLst>
          </p:cNvPr>
          <p:cNvSpPr>
            <a:spLocks xmlns:a="http://schemas.openxmlformats.org/drawingml/2006/main" noGrp="1"/>
          </p:cNvSpPr>
          <p:nvPr/>
        </p:nvSpPr>
        <p:spPr>
          <a:xfrm xmlns:a="http://schemas.openxmlformats.org/drawingml/2006/main">
            <a:off x="666750" y="1371600"/>
            <a:ext cx="76200" cy="609600"/>
          </a:xfrm>
          <a:prstGeom xmlns:a="http://schemas.openxmlformats.org/drawingml/2006/main" prst="roundRect">
            <a:avLst>
              <a:gd name="adj" fmla="val 50000"/>
            </a:avLst>
          </a:prstGeom>
          <a:solidFill xmlns:a="http://schemas.openxmlformats.org/drawingml/2006/main">
            <a:srgbClr val="43A896"/>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56C22AA1-1796-4C9B-8705-B61AA8CBEB2E}"/>
              </a:ext>
            </a:extLst>
          </p:cNvPr>
          <p:cNvSpPr>
            <a:spLocks xmlns:a="http://schemas.openxmlformats.org/drawingml/2006/main" noGrp="1"/>
          </p:cNvSpPr>
          <p:nvPr/>
        </p:nvSpPr>
        <p:spPr>
          <a:xfrm xmlns:a="http://schemas.openxmlformats.org/drawingml/2006/main">
            <a:off x="895350" y="1428750"/>
            <a:ext cx="10458450" cy="5143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71F46"/>
                </a:solidFill>
                <a:latin typeface="LM Roman 12"/>
                <a:ea typeface="LM Roman 12"/>
                <a:cs typeface="LM Roman 12"/>
              </a:defRPr>
            </a:pPr>
            <a:r>
              <a:rPr sz="1650" b="1">
                <a:solidFill>
                  <a:srgbClr val="071F46"/>
                </a:solidFill>
                <a:latin typeface="LM Roman 12"/>
                <a:ea typeface="LM Roman 12"/>
                <a:cs typeface="LM Roman 12"/>
              </a:rPr>
              <a:t>Typed placement and network profiles turn hardware and link conditions into recorded deployment variables.</a:t>
            </a:r>
          </a:p>
        </p:txBody>
      </p:sp>
      <p:sp>
        <p:nvSpPr>
          <p:cNvPr id="7" name="">
            <a:extLst xmlns:a="http://schemas.openxmlformats.org/drawingml/2006/main">
              <a:ext uri="{FF2B5EF4-FFF2-40B4-BE49-F238E27FC236}">
                <a16:creationId xmlns:a16="http://schemas.microsoft.com/office/drawing/2014/main" id="{E40D503F-2CC3-416B-A7A5-99897728C756}"/>
              </a:ext>
            </a:extLst>
          </p:cNvPr>
          <p:cNvSpPr>
            <a:spLocks xmlns:a="http://schemas.openxmlformats.org/drawingml/2006/main" noGrp="1"/>
          </p:cNvSpPr>
          <p:nvPr/>
        </p:nvSpPr>
        <p:spPr>
          <a:xfrm xmlns:a="http://schemas.openxmlformats.org/drawingml/2006/main">
            <a:off x="666750" y="2324100"/>
            <a:ext cx="5143500" cy="2990850"/>
          </a:xfrm>
          <a:prstGeom xmlns:a="http://schemas.openxmlformats.org/drawingml/2006/main" prst="roundRect">
            <a:avLst>
              <a:gd name="adj" fmla="val 2229"/>
            </a:avLst>
          </a:prstGeom>
          <a:solidFill xmlns:a="http://schemas.openxmlformats.org/drawingml/2006/main">
            <a:srgbClr val="FFFFFF"/>
          </a:solidFill>
          <a:ln xmlns:a="http://schemas.openxmlformats.org/drawingml/2006/main" w="9525">
            <a:solidFill>
              <a:srgbClr val="D5DCE8"/>
            </a:solidFill>
            <a:prstDash val="solid"/>
          </a:ln>
        </p:spPr>
      </p:sp>
      <p:sp>
        <p:nvSpPr>
          <p:cNvPr id="8" name="">
            <a:extLst xmlns:a="http://schemas.openxmlformats.org/drawingml/2006/main">
              <a:ext uri="{FF2B5EF4-FFF2-40B4-BE49-F238E27FC236}">
                <a16:creationId xmlns:a16="http://schemas.microsoft.com/office/drawing/2014/main" id="{57BF2FDF-BA83-435A-8542-DE84005CD022}"/>
              </a:ext>
            </a:extLst>
          </p:cNvPr>
          <p:cNvSpPr>
            <a:spLocks xmlns:a="http://schemas.openxmlformats.org/drawingml/2006/main" noGrp="1"/>
          </p:cNvSpPr>
          <p:nvPr/>
        </p:nvSpPr>
        <p:spPr>
          <a:xfrm xmlns:a="http://schemas.openxmlformats.org/drawingml/2006/main">
            <a:off x="666750" y="2324100"/>
            <a:ext cx="76200" cy="2990850"/>
          </a:xfrm>
          <a:prstGeom xmlns:a="http://schemas.openxmlformats.org/drawingml/2006/main" prst="roundRect">
            <a:avLst>
              <a:gd name="adj" fmla="val 50000"/>
            </a:avLst>
          </a:prstGeom>
          <a:solidFill xmlns:a="http://schemas.openxmlformats.org/drawingml/2006/main">
            <a:srgbClr val="43A896"/>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90FF1BB0-9EC3-4600-9C30-24A389496EFF}"/>
              </a:ext>
            </a:extLst>
          </p:cNvPr>
          <p:cNvSpPr>
            <a:spLocks xmlns:a="http://schemas.openxmlformats.org/drawingml/2006/main" noGrp="1"/>
          </p:cNvSpPr>
          <p:nvPr/>
        </p:nvSpPr>
        <p:spPr>
          <a:xfrm xmlns:a="http://schemas.openxmlformats.org/drawingml/2006/main">
            <a:off x="933450" y="2590800"/>
            <a:ext cx="4476750" cy="2857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71F46"/>
                </a:solidFill>
                <a:latin typeface="LM Roman 12"/>
                <a:ea typeface="LM Roman 12"/>
                <a:cs typeface="LM Roman 12"/>
              </a:defRPr>
            </a:pPr>
            <a:r>
              <a:rPr sz="1650" b="1">
                <a:solidFill>
                  <a:srgbClr val="071F46"/>
                </a:solidFill>
                <a:latin typeface="LM Roman 12"/>
                <a:ea typeface="LM Roman 12"/>
                <a:cs typeface="LM Roman 12"/>
              </a:rPr>
              <a:t>Typed client placement</a:t>
            </a:r>
          </a:p>
        </p:txBody>
      </p:sp>
      <p:sp>
        <p:nvSpPr>
          <p:cNvPr id="10" name="">
            <a:extLst xmlns:a="http://schemas.openxmlformats.org/drawingml/2006/main">
              <a:ext uri="{FF2B5EF4-FFF2-40B4-BE49-F238E27FC236}">
                <a16:creationId xmlns:a16="http://schemas.microsoft.com/office/drawing/2014/main" id="{F8B7212B-6847-4542-B30C-6BBBF87DD636}"/>
              </a:ext>
            </a:extLst>
          </p:cNvPr>
          <p:cNvSpPr>
            <a:spLocks xmlns:a="http://schemas.openxmlformats.org/drawingml/2006/main" noGrp="1"/>
          </p:cNvSpPr>
          <p:nvPr/>
        </p:nvSpPr>
        <p:spPr>
          <a:xfrm xmlns:a="http://schemas.openxmlformats.org/drawingml/2006/main">
            <a:off x="933450" y="2914650"/>
            <a:ext cx="428625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B6472"/>
                </a:solidFill>
                <a:latin typeface="LM Roman 12"/>
                <a:ea typeface="LM Roman 12"/>
                <a:cs typeface="LM Roman 12"/>
              </a:defRPr>
            </a:pPr>
            <a:r>
              <a:rPr sz="1050" b="0">
                <a:solidFill>
                  <a:srgbClr val="5B6472"/>
                </a:solidFill>
                <a:latin typeface="LM Roman 12"/>
                <a:ea typeface="LM Roman 12"/>
                <a:cs typeface="LM Roman 12"/>
              </a:rPr>
              <a:t>Compute heterogeneity is a placement decision.</a:t>
            </a:r>
          </a:p>
        </p:txBody>
      </p:sp>
      <p:sp>
        <p:nvSpPr>
          <p:cNvPr id="11" name="">
            <a:extLst xmlns:a="http://schemas.openxmlformats.org/drawingml/2006/main">
              <a:ext uri="{FF2B5EF4-FFF2-40B4-BE49-F238E27FC236}">
                <a16:creationId xmlns:a16="http://schemas.microsoft.com/office/drawing/2014/main" id="{D45D8346-883F-4121-8780-723F69D6D2FD}"/>
              </a:ext>
            </a:extLst>
          </p:cNvPr>
          <p:cNvSpPr>
            <a:spLocks xmlns:a="http://schemas.openxmlformats.org/drawingml/2006/main" noGrp="1"/>
          </p:cNvSpPr>
          <p:nvPr/>
        </p:nvSpPr>
        <p:spPr>
          <a:xfrm xmlns:a="http://schemas.openxmlformats.org/drawingml/2006/main">
            <a:off x="933450" y="3352800"/>
            <a:ext cx="1066800" cy="952500"/>
          </a:xfrm>
          <a:prstGeom xmlns:a="http://schemas.openxmlformats.org/drawingml/2006/main" prst="roundRect">
            <a:avLst>
              <a:gd name="adj" fmla="val 7000"/>
            </a:avLst>
          </a:prstGeom>
          <a:solidFill xmlns:a="http://schemas.openxmlformats.org/drawingml/2006/main">
            <a:srgbClr val="FFFFFF"/>
          </a:solidFill>
          <a:ln xmlns:a="http://schemas.openxmlformats.org/drawingml/2006/main" w="9525">
            <a:solidFill>
              <a:srgbClr val="D5DCE8"/>
            </a:solidFill>
            <a:prstDash val="solid"/>
          </a:ln>
        </p:spPr>
      </p:sp>
      <p:sp>
        <p:nvSpPr>
          <p:cNvPr id="12" name="">
            <a:extLst xmlns:a="http://schemas.openxmlformats.org/drawingml/2006/main">
              <a:ext uri="{FF2B5EF4-FFF2-40B4-BE49-F238E27FC236}">
                <a16:creationId xmlns:a16="http://schemas.microsoft.com/office/drawing/2014/main" id="{B288E2F9-EE77-428A-BDE6-C061FD356919}"/>
              </a:ext>
            </a:extLst>
          </p:cNvPr>
          <p:cNvSpPr>
            <a:spLocks xmlns:a="http://schemas.openxmlformats.org/drawingml/2006/main" noGrp="1"/>
          </p:cNvSpPr>
          <p:nvPr/>
        </p:nvSpPr>
        <p:spPr>
          <a:xfrm xmlns:a="http://schemas.openxmlformats.org/drawingml/2006/main">
            <a:off x="933450" y="3352800"/>
            <a:ext cx="1066800" cy="57150"/>
          </a:xfrm>
          <a:prstGeom xmlns:a="http://schemas.openxmlformats.org/drawingml/2006/main" prst="roundRect">
            <a:avLst>
              <a:gd name="adj" fmla="val 50000"/>
            </a:avLst>
          </a:prstGeom>
          <a:solidFill xmlns:a="http://schemas.openxmlformats.org/drawingml/2006/main">
            <a:srgbClr val="43A896"/>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2D7D31C3-9583-44EC-AAC6-9099E14D932D}"/>
              </a:ext>
            </a:extLst>
          </p:cNvPr>
          <p:cNvSpPr>
            <a:spLocks xmlns:a="http://schemas.openxmlformats.org/drawingml/2006/main" noGrp="1"/>
          </p:cNvSpPr>
          <p:nvPr/>
        </p:nvSpPr>
        <p:spPr>
          <a:xfrm xmlns:a="http://schemas.openxmlformats.org/drawingml/2006/main">
            <a:off x="1028700" y="3505200"/>
            <a:ext cx="876300" cy="3048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071F46"/>
                </a:solidFill>
                <a:latin typeface="LM Roman 12"/>
                <a:ea typeface="LM Roman 12"/>
                <a:cs typeface="LM Roman 12"/>
              </a:defRPr>
            </a:pPr>
            <a:r>
              <a:rPr sz="975" b="1">
                <a:solidFill>
                  <a:srgbClr val="071F46"/>
                </a:solidFill>
                <a:latin typeface="LM Roman 12"/>
                <a:ea typeface="LM Roman 12"/>
                <a:cs typeface="LM Roman 12"/>
              </a:rPr>
              <a:t>--supernodes</a:t>
            </a:r>
          </a:p>
        </p:txBody>
      </p:sp>
      <p:sp>
        <p:nvSpPr>
          <p:cNvPr id="14" name="">
            <a:extLst xmlns:a="http://schemas.openxmlformats.org/drawingml/2006/main">
              <a:ext uri="{FF2B5EF4-FFF2-40B4-BE49-F238E27FC236}">
                <a16:creationId xmlns:a16="http://schemas.microsoft.com/office/drawing/2014/main" id="{19EA77DC-25BB-4C86-A7B6-C9F2ABD16BC3}"/>
              </a:ext>
            </a:extLst>
          </p:cNvPr>
          <p:cNvSpPr>
            <a:spLocks xmlns:a="http://schemas.openxmlformats.org/drawingml/2006/main" noGrp="1"/>
          </p:cNvSpPr>
          <p:nvPr/>
        </p:nvSpPr>
        <p:spPr>
          <a:xfrm xmlns:a="http://schemas.openxmlformats.org/drawingml/2006/main">
            <a:off x="1028700" y="3867150"/>
            <a:ext cx="876300" cy="3238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0">
                <a:solidFill>
                  <a:srgbClr val="5B6472"/>
                </a:solidFill>
                <a:latin typeface="LM Roman 12"/>
                <a:ea typeface="LM Roman 12"/>
                <a:cs typeface="LM Roman 12"/>
              </a:defRPr>
            </a:pPr>
            <a:r>
              <a:rPr sz="825" b="0">
                <a:solidFill>
                  <a:srgbClr val="5B6472"/>
                </a:solidFill>
                <a:latin typeface="LM Roman 12"/>
                <a:ea typeface="LM Roman 12"/>
                <a:cs typeface="LM Roman 12"/>
              </a:rPr>
              <a:t>rpi4=10, rpi5=10</a:t>
            </a:r>
          </a:p>
        </p:txBody>
      </p:sp>
      <p:sp>
        <p:nvSpPr>
          <p:cNvPr id="15" name="">
            <a:extLst xmlns:a="http://schemas.openxmlformats.org/drawingml/2006/main">
              <a:ext uri="{FF2B5EF4-FFF2-40B4-BE49-F238E27FC236}">
                <a16:creationId xmlns:a16="http://schemas.microsoft.com/office/drawing/2014/main" id="{C7A97415-F4CB-42FC-A84D-9CCA02C04578}"/>
              </a:ext>
            </a:extLst>
          </p:cNvPr>
          <p:cNvSpPr>
            <a:spLocks xmlns:a="http://schemas.openxmlformats.org/drawingml/2006/main" noGrp="1"/>
          </p:cNvSpPr>
          <p:nvPr/>
        </p:nvSpPr>
        <p:spPr>
          <a:xfrm xmlns:a="http://schemas.openxmlformats.org/drawingml/2006/main">
            <a:off x="2000250" y="3695700"/>
            <a:ext cx="17145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8D9AAC"/>
                </a:solidFill>
                <a:latin typeface="LM Roman 12"/>
                <a:ea typeface="LM Roman 12"/>
                <a:cs typeface="LM Roman 12"/>
              </a:defRPr>
            </a:pPr>
            <a:r>
              <a:rPr sz="1500" b="1">
                <a:solidFill>
                  <a:srgbClr val="8D9AAC"/>
                </a:solidFill>
                <a:latin typeface="LM Roman 12"/>
                <a:ea typeface="LM Roman 12"/>
                <a:cs typeface="LM Roman 12"/>
              </a:rPr>
              <a:t>→</a:t>
            </a:r>
          </a:p>
        </p:txBody>
      </p:sp>
      <p:sp>
        <p:nvSpPr>
          <p:cNvPr id="16" name="">
            <a:extLst xmlns:a="http://schemas.openxmlformats.org/drawingml/2006/main">
              <a:ext uri="{FF2B5EF4-FFF2-40B4-BE49-F238E27FC236}">
                <a16:creationId xmlns:a16="http://schemas.microsoft.com/office/drawing/2014/main" id="{76EAEF21-E64F-40E7-A4D7-8A8D6F1E2F57}"/>
              </a:ext>
            </a:extLst>
          </p:cNvPr>
          <p:cNvSpPr>
            <a:spLocks xmlns:a="http://schemas.openxmlformats.org/drawingml/2006/main" noGrp="1"/>
          </p:cNvSpPr>
          <p:nvPr/>
        </p:nvSpPr>
        <p:spPr>
          <a:xfrm xmlns:a="http://schemas.openxmlformats.org/drawingml/2006/main">
            <a:off x="2171700" y="3352800"/>
            <a:ext cx="1066800" cy="952500"/>
          </a:xfrm>
          <a:prstGeom xmlns:a="http://schemas.openxmlformats.org/drawingml/2006/main" prst="roundRect">
            <a:avLst>
              <a:gd name="adj" fmla="val 7000"/>
            </a:avLst>
          </a:prstGeom>
          <a:solidFill xmlns:a="http://schemas.openxmlformats.org/drawingml/2006/main">
            <a:srgbClr val="FFFFFF"/>
          </a:solidFill>
          <a:ln xmlns:a="http://schemas.openxmlformats.org/drawingml/2006/main" w="9525">
            <a:solidFill>
              <a:srgbClr val="D5DCE8"/>
            </a:solidFill>
            <a:prstDash val="solid"/>
          </a:ln>
        </p:spPr>
      </p:sp>
      <p:sp>
        <p:nvSpPr>
          <p:cNvPr id="17" name="">
            <a:extLst xmlns:a="http://schemas.openxmlformats.org/drawingml/2006/main">
              <a:ext uri="{FF2B5EF4-FFF2-40B4-BE49-F238E27FC236}">
                <a16:creationId xmlns:a16="http://schemas.microsoft.com/office/drawing/2014/main" id="{C578ECCD-DD8A-4508-94A0-C298B5E8E150}"/>
              </a:ext>
            </a:extLst>
          </p:cNvPr>
          <p:cNvSpPr>
            <a:spLocks xmlns:a="http://schemas.openxmlformats.org/drawingml/2006/main" noGrp="1"/>
          </p:cNvSpPr>
          <p:nvPr/>
        </p:nvSpPr>
        <p:spPr>
          <a:xfrm xmlns:a="http://schemas.openxmlformats.org/drawingml/2006/main">
            <a:off x="2171700" y="3352800"/>
            <a:ext cx="1066800" cy="57150"/>
          </a:xfrm>
          <a:prstGeom xmlns:a="http://schemas.openxmlformats.org/drawingml/2006/main" prst="roundRect">
            <a:avLst>
              <a:gd name="adj" fmla="val 50000"/>
            </a:avLst>
          </a:prstGeom>
          <a:solidFill xmlns:a="http://schemas.openxmlformats.org/drawingml/2006/main">
            <a:srgbClr val="43A896"/>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20B1E3A7-5939-4F51-92EE-E1A7B4D9B482}"/>
              </a:ext>
            </a:extLst>
          </p:cNvPr>
          <p:cNvSpPr>
            <a:spLocks xmlns:a="http://schemas.openxmlformats.org/drawingml/2006/main" noGrp="1"/>
          </p:cNvSpPr>
          <p:nvPr/>
        </p:nvSpPr>
        <p:spPr>
          <a:xfrm xmlns:a="http://schemas.openxmlformats.org/drawingml/2006/main">
            <a:off x="2266950" y="3505200"/>
            <a:ext cx="876300" cy="3048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071F46"/>
                </a:solidFill>
                <a:latin typeface="LM Roman 12"/>
                <a:ea typeface="LM Roman 12"/>
                <a:cs typeface="LM Roman 12"/>
              </a:defRPr>
            </a:pPr>
            <a:r>
              <a:rPr sz="975" b="1">
                <a:solidFill>
                  <a:srgbClr val="071F46"/>
                </a:solidFill>
                <a:latin typeface="LM Roman 12"/>
                <a:ea typeface="LM Roman 12"/>
                <a:cs typeface="LM Roman 12"/>
              </a:rPr>
              <a:t>Scheduler</a:t>
            </a:r>
          </a:p>
        </p:txBody>
      </p:sp>
      <p:sp>
        <p:nvSpPr>
          <p:cNvPr id="19" name="">
            <a:extLst xmlns:a="http://schemas.openxmlformats.org/drawingml/2006/main">
              <a:ext uri="{FF2B5EF4-FFF2-40B4-BE49-F238E27FC236}">
                <a16:creationId xmlns:a16="http://schemas.microsoft.com/office/drawing/2014/main" id="{C83B3AC1-0B03-4EDD-962D-33192E0FF540}"/>
              </a:ext>
            </a:extLst>
          </p:cNvPr>
          <p:cNvSpPr>
            <a:spLocks xmlns:a="http://schemas.openxmlformats.org/drawingml/2006/main" noGrp="1"/>
          </p:cNvSpPr>
          <p:nvPr/>
        </p:nvSpPr>
        <p:spPr>
          <a:xfrm xmlns:a="http://schemas.openxmlformats.org/drawingml/2006/main">
            <a:off x="2266950" y="3867150"/>
            <a:ext cx="876300" cy="3238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0">
                <a:solidFill>
                  <a:srgbClr val="5B6472"/>
                </a:solidFill>
                <a:latin typeface="LM Roman 12"/>
                <a:ea typeface="LM Roman 12"/>
                <a:cs typeface="LM Roman 12"/>
              </a:defRPr>
            </a:pPr>
            <a:r>
              <a:rPr sz="825" b="0">
                <a:solidFill>
                  <a:srgbClr val="5B6472"/>
                </a:solidFill>
                <a:latin typeface="LM Roman 12"/>
                <a:ea typeface="LM Roman 12"/>
                <a:cs typeface="LM Roman 12"/>
              </a:rPr>
              <a:t>device-type constraints</a:t>
            </a:r>
          </a:p>
        </p:txBody>
      </p:sp>
      <p:sp>
        <p:nvSpPr>
          <p:cNvPr id="20" name="">
            <a:extLst xmlns:a="http://schemas.openxmlformats.org/drawingml/2006/main">
              <a:ext uri="{FF2B5EF4-FFF2-40B4-BE49-F238E27FC236}">
                <a16:creationId xmlns:a16="http://schemas.microsoft.com/office/drawing/2014/main" id="{9A87B0D4-D17B-4F0C-B137-F8170ED4D7E0}"/>
              </a:ext>
            </a:extLst>
          </p:cNvPr>
          <p:cNvSpPr>
            <a:spLocks xmlns:a="http://schemas.openxmlformats.org/drawingml/2006/main" noGrp="1"/>
          </p:cNvSpPr>
          <p:nvPr/>
        </p:nvSpPr>
        <p:spPr>
          <a:xfrm xmlns:a="http://schemas.openxmlformats.org/drawingml/2006/main">
            <a:off x="3238500" y="3695700"/>
            <a:ext cx="17145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8D9AAC"/>
                </a:solidFill>
                <a:latin typeface="LM Roman 12"/>
                <a:ea typeface="LM Roman 12"/>
                <a:cs typeface="LM Roman 12"/>
              </a:defRPr>
            </a:pPr>
            <a:r>
              <a:rPr sz="1500" b="1">
                <a:solidFill>
                  <a:srgbClr val="8D9AAC"/>
                </a:solidFill>
                <a:latin typeface="LM Roman 12"/>
                <a:ea typeface="LM Roman 12"/>
                <a:cs typeface="LM Roman 12"/>
              </a:rPr>
              <a:t>→</a:t>
            </a:r>
          </a:p>
        </p:txBody>
      </p:sp>
      <p:sp>
        <p:nvSpPr>
          <p:cNvPr id="21" name="">
            <a:extLst xmlns:a="http://schemas.openxmlformats.org/drawingml/2006/main">
              <a:ext uri="{FF2B5EF4-FFF2-40B4-BE49-F238E27FC236}">
                <a16:creationId xmlns:a16="http://schemas.microsoft.com/office/drawing/2014/main" id="{457B87F1-8A0D-4765-9B13-CC5CC68D6B97}"/>
              </a:ext>
            </a:extLst>
          </p:cNvPr>
          <p:cNvSpPr>
            <a:spLocks xmlns:a="http://schemas.openxmlformats.org/drawingml/2006/main" noGrp="1"/>
          </p:cNvSpPr>
          <p:nvPr/>
        </p:nvSpPr>
        <p:spPr>
          <a:xfrm xmlns:a="http://schemas.openxmlformats.org/drawingml/2006/main">
            <a:off x="3409950" y="3352800"/>
            <a:ext cx="1066800" cy="952500"/>
          </a:xfrm>
          <a:prstGeom xmlns:a="http://schemas.openxmlformats.org/drawingml/2006/main" prst="roundRect">
            <a:avLst>
              <a:gd name="adj" fmla="val 7000"/>
            </a:avLst>
          </a:prstGeom>
          <a:solidFill xmlns:a="http://schemas.openxmlformats.org/drawingml/2006/main">
            <a:srgbClr val="FFFFFF"/>
          </a:solidFill>
          <a:ln xmlns:a="http://schemas.openxmlformats.org/drawingml/2006/main" w="9525">
            <a:solidFill>
              <a:srgbClr val="D5DCE8"/>
            </a:solidFill>
            <a:prstDash val="solid"/>
          </a:ln>
        </p:spPr>
      </p:sp>
      <p:sp>
        <p:nvSpPr>
          <p:cNvPr id="22" name="">
            <a:extLst xmlns:a="http://schemas.openxmlformats.org/drawingml/2006/main">
              <a:ext uri="{FF2B5EF4-FFF2-40B4-BE49-F238E27FC236}">
                <a16:creationId xmlns:a16="http://schemas.microsoft.com/office/drawing/2014/main" id="{6446D79F-D458-410F-881A-79B77C580BF2}"/>
              </a:ext>
            </a:extLst>
          </p:cNvPr>
          <p:cNvSpPr>
            <a:spLocks xmlns:a="http://schemas.openxmlformats.org/drawingml/2006/main" noGrp="1"/>
          </p:cNvSpPr>
          <p:nvPr/>
        </p:nvSpPr>
        <p:spPr>
          <a:xfrm xmlns:a="http://schemas.openxmlformats.org/drawingml/2006/main">
            <a:off x="3409950" y="3352800"/>
            <a:ext cx="1066800" cy="57150"/>
          </a:xfrm>
          <a:prstGeom xmlns:a="http://schemas.openxmlformats.org/drawingml/2006/main" prst="roundRect">
            <a:avLst>
              <a:gd name="adj" fmla="val 50000"/>
            </a:avLst>
          </a:prstGeom>
          <a:solidFill xmlns:a="http://schemas.openxmlformats.org/drawingml/2006/main">
            <a:srgbClr val="43A896"/>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846C7F16-3A9C-43F7-853A-914BE4294167}"/>
              </a:ext>
            </a:extLst>
          </p:cNvPr>
          <p:cNvSpPr>
            <a:spLocks xmlns:a="http://schemas.openxmlformats.org/drawingml/2006/main" noGrp="1"/>
          </p:cNvSpPr>
          <p:nvPr/>
        </p:nvSpPr>
        <p:spPr>
          <a:xfrm xmlns:a="http://schemas.openxmlformats.org/drawingml/2006/main">
            <a:off x="3505200" y="3505200"/>
            <a:ext cx="876300" cy="3048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071F46"/>
                </a:solidFill>
                <a:latin typeface="LM Roman 12"/>
                <a:ea typeface="LM Roman 12"/>
                <a:cs typeface="LM Roman 12"/>
              </a:defRPr>
            </a:pPr>
            <a:r>
              <a:rPr sz="975" b="1">
                <a:solidFill>
                  <a:srgbClr val="071F46"/>
                </a:solidFill>
                <a:latin typeface="LM Roman 12"/>
                <a:ea typeface="LM Roman 12"/>
                <a:cs typeface="LM Roman 12"/>
              </a:rPr>
              <a:t>Runtime pair</a:t>
            </a:r>
          </a:p>
        </p:txBody>
      </p:sp>
      <p:sp>
        <p:nvSpPr>
          <p:cNvPr id="24" name="">
            <a:extLst xmlns:a="http://schemas.openxmlformats.org/drawingml/2006/main">
              <a:ext uri="{FF2B5EF4-FFF2-40B4-BE49-F238E27FC236}">
                <a16:creationId xmlns:a16="http://schemas.microsoft.com/office/drawing/2014/main" id="{9D2187E6-CA29-4A8C-9566-53C4C0F40697}"/>
              </a:ext>
            </a:extLst>
          </p:cNvPr>
          <p:cNvSpPr>
            <a:spLocks xmlns:a="http://schemas.openxmlformats.org/drawingml/2006/main" noGrp="1"/>
          </p:cNvSpPr>
          <p:nvPr/>
        </p:nvSpPr>
        <p:spPr>
          <a:xfrm xmlns:a="http://schemas.openxmlformats.org/drawingml/2006/main">
            <a:off x="3505200" y="3867150"/>
            <a:ext cx="876300" cy="3238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0">
                <a:solidFill>
                  <a:srgbClr val="5B6472"/>
                </a:solidFill>
                <a:latin typeface="LM Roman 12"/>
                <a:ea typeface="LM Roman 12"/>
                <a:cs typeface="LM Roman 12"/>
              </a:defRPr>
            </a:pPr>
            <a:r>
              <a:rPr sz="825" b="0">
                <a:solidFill>
                  <a:srgbClr val="5B6472"/>
                </a:solidFill>
                <a:latin typeface="LM Roman 12"/>
                <a:ea typeface="LM Roman 12"/>
                <a:cs typeface="LM Roman 12"/>
              </a:rPr>
              <a:t>SuperNode + ClientApp</a:t>
            </a:r>
          </a:p>
        </p:txBody>
      </p:sp>
      <p:sp>
        <p:nvSpPr>
          <p:cNvPr id="25" name="">
            <a:extLst xmlns:a="http://schemas.openxmlformats.org/drawingml/2006/main">
              <a:ext uri="{FF2B5EF4-FFF2-40B4-BE49-F238E27FC236}">
                <a16:creationId xmlns:a16="http://schemas.microsoft.com/office/drawing/2014/main" id="{21D0874D-3A50-4D45-93FC-C29BB3F5EDE7}"/>
              </a:ext>
            </a:extLst>
          </p:cNvPr>
          <p:cNvSpPr>
            <a:spLocks xmlns:a="http://schemas.openxmlformats.org/drawingml/2006/main" noGrp="1"/>
          </p:cNvSpPr>
          <p:nvPr/>
        </p:nvSpPr>
        <p:spPr>
          <a:xfrm xmlns:a="http://schemas.openxmlformats.org/drawingml/2006/main">
            <a:off x="4476750" y="3695700"/>
            <a:ext cx="17145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8D9AAC"/>
                </a:solidFill>
                <a:latin typeface="LM Roman 12"/>
                <a:ea typeface="LM Roman 12"/>
                <a:cs typeface="LM Roman 12"/>
              </a:defRPr>
            </a:pPr>
            <a:r>
              <a:rPr sz="1500" b="1">
                <a:solidFill>
                  <a:srgbClr val="8D9AAC"/>
                </a:solidFill>
                <a:latin typeface="LM Roman 12"/>
                <a:ea typeface="LM Roman 12"/>
                <a:cs typeface="LM Roman 12"/>
              </a:rPr>
              <a:t>→</a:t>
            </a:r>
          </a:p>
        </p:txBody>
      </p:sp>
      <p:sp>
        <p:nvSpPr>
          <p:cNvPr id="26" name="">
            <a:extLst xmlns:a="http://schemas.openxmlformats.org/drawingml/2006/main">
              <a:ext uri="{FF2B5EF4-FFF2-40B4-BE49-F238E27FC236}">
                <a16:creationId xmlns:a16="http://schemas.microsoft.com/office/drawing/2014/main" id="{275F3CCF-A3AD-495F-8753-76B8D762DC66}"/>
              </a:ext>
            </a:extLst>
          </p:cNvPr>
          <p:cNvSpPr>
            <a:spLocks xmlns:a="http://schemas.openxmlformats.org/drawingml/2006/main" noGrp="1"/>
          </p:cNvSpPr>
          <p:nvPr/>
        </p:nvSpPr>
        <p:spPr>
          <a:xfrm xmlns:a="http://schemas.openxmlformats.org/drawingml/2006/main">
            <a:off x="4648200" y="3352800"/>
            <a:ext cx="1066800" cy="952500"/>
          </a:xfrm>
          <a:prstGeom xmlns:a="http://schemas.openxmlformats.org/drawingml/2006/main" prst="roundRect">
            <a:avLst>
              <a:gd name="adj" fmla="val 7000"/>
            </a:avLst>
          </a:prstGeom>
          <a:solidFill xmlns:a="http://schemas.openxmlformats.org/drawingml/2006/main">
            <a:srgbClr val="FFFFFF"/>
          </a:solidFill>
          <a:ln xmlns:a="http://schemas.openxmlformats.org/drawingml/2006/main" w="9525">
            <a:solidFill>
              <a:srgbClr val="D5DCE8"/>
            </a:solidFill>
            <a:prstDash val="solid"/>
          </a:ln>
        </p:spPr>
      </p:sp>
      <p:sp>
        <p:nvSpPr>
          <p:cNvPr id="27" name="">
            <a:extLst xmlns:a="http://schemas.openxmlformats.org/drawingml/2006/main">
              <a:ext uri="{FF2B5EF4-FFF2-40B4-BE49-F238E27FC236}">
                <a16:creationId xmlns:a16="http://schemas.microsoft.com/office/drawing/2014/main" id="{D9F2F218-5FB6-493C-8A51-86C384C98EE2}"/>
              </a:ext>
            </a:extLst>
          </p:cNvPr>
          <p:cNvSpPr>
            <a:spLocks xmlns:a="http://schemas.openxmlformats.org/drawingml/2006/main" noGrp="1"/>
          </p:cNvSpPr>
          <p:nvPr/>
        </p:nvSpPr>
        <p:spPr>
          <a:xfrm xmlns:a="http://schemas.openxmlformats.org/drawingml/2006/main">
            <a:off x="4648200" y="3352800"/>
            <a:ext cx="1066800" cy="57150"/>
          </a:xfrm>
          <a:prstGeom xmlns:a="http://schemas.openxmlformats.org/drawingml/2006/main" prst="roundRect">
            <a:avLst>
              <a:gd name="adj" fmla="val 50000"/>
            </a:avLst>
          </a:prstGeom>
          <a:solidFill xmlns:a="http://schemas.openxmlformats.org/drawingml/2006/main">
            <a:srgbClr val="43A896"/>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1FE04AA8-EE77-449B-97D6-CA3EF2775294}"/>
              </a:ext>
            </a:extLst>
          </p:cNvPr>
          <p:cNvSpPr>
            <a:spLocks xmlns:a="http://schemas.openxmlformats.org/drawingml/2006/main" noGrp="1"/>
          </p:cNvSpPr>
          <p:nvPr/>
        </p:nvSpPr>
        <p:spPr>
          <a:xfrm xmlns:a="http://schemas.openxmlformats.org/drawingml/2006/main">
            <a:off x="4743450" y="3505200"/>
            <a:ext cx="876300" cy="3048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071F46"/>
                </a:solidFill>
                <a:latin typeface="LM Roman 12"/>
                <a:ea typeface="LM Roman 12"/>
                <a:cs typeface="LM Roman 12"/>
              </a:defRPr>
            </a:pPr>
            <a:r>
              <a:rPr sz="975" b="1">
                <a:solidFill>
                  <a:srgbClr val="071F46"/>
                </a:solidFill>
                <a:latin typeface="LM Roman 12"/>
                <a:ea typeface="LM Roman 12"/>
                <a:cs typeface="LM Roman 12"/>
              </a:rPr>
              <a:t>Evidence</a:t>
            </a:r>
          </a:p>
        </p:txBody>
      </p:sp>
      <p:sp>
        <p:nvSpPr>
          <p:cNvPr id="29" name="">
            <a:extLst xmlns:a="http://schemas.openxmlformats.org/drawingml/2006/main">
              <a:ext uri="{FF2B5EF4-FFF2-40B4-BE49-F238E27FC236}">
                <a16:creationId xmlns:a16="http://schemas.microsoft.com/office/drawing/2014/main" id="{7754B1AA-C641-4105-9560-3013BA690D4A}"/>
              </a:ext>
            </a:extLst>
          </p:cNvPr>
          <p:cNvSpPr>
            <a:spLocks xmlns:a="http://schemas.openxmlformats.org/drawingml/2006/main" noGrp="1"/>
          </p:cNvSpPr>
          <p:nvPr/>
        </p:nvSpPr>
        <p:spPr>
          <a:xfrm xmlns:a="http://schemas.openxmlformats.org/drawingml/2006/main">
            <a:off x="4743450" y="3867150"/>
            <a:ext cx="876300" cy="3238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0">
                <a:solidFill>
                  <a:srgbClr val="5B6472"/>
                </a:solidFill>
                <a:latin typeface="LM Roman 12"/>
                <a:ea typeface="LM Roman 12"/>
                <a:cs typeface="LM Roman 12"/>
              </a:defRPr>
            </a:pPr>
            <a:r>
              <a:rPr sz="825" b="0">
                <a:solidFill>
                  <a:srgbClr val="5B6472"/>
                </a:solidFill>
                <a:latin typeface="LM Roman 12"/>
                <a:ea typeface="LM Roman 12"/>
                <a:cs typeface="LM Roman 12"/>
              </a:rPr>
              <a:t>device-labelled metrics</a:t>
            </a:r>
          </a:p>
        </p:txBody>
      </p:sp>
      <p:sp>
        <p:nvSpPr>
          <p:cNvPr id="30" name="">
            <a:extLst xmlns:a="http://schemas.openxmlformats.org/drawingml/2006/main">
              <a:ext uri="{FF2B5EF4-FFF2-40B4-BE49-F238E27FC236}">
                <a16:creationId xmlns:a16="http://schemas.microsoft.com/office/drawing/2014/main" id="{F712B41C-DD11-46A2-962A-4A61637D4D01}"/>
              </a:ext>
            </a:extLst>
          </p:cNvPr>
          <p:cNvSpPr>
            <a:spLocks xmlns:a="http://schemas.openxmlformats.org/drawingml/2006/main" noGrp="1"/>
          </p:cNvSpPr>
          <p:nvPr/>
        </p:nvSpPr>
        <p:spPr>
          <a:xfrm xmlns:a="http://schemas.openxmlformats.org/drawingml/2006/main">
            <a:off x="933450" y="4591050"/>
            <a:ext cx="4610100" cy="552450"/>
          </a:xfrm>
          <a:prstGeom xmlns:a="http://schemas.openxmlformats.org/drawingml/2006/main" prst="roundRect">
            <a:avLst>
              <a:gd name="adj" fmla="val 12069"/>
            </a:avLst>
          </a:prstGeom>
          <a:solidFill xmlns:a="http://schemas.openxmlformats.org/drawingml/2006/main">
            <a:srgbClr val="F1F5F9"/>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6D52EA1A-BEB9-43BC-A386-BD2A29B62B9B}"/>
              </a:ext>
            </a:extLst>
          </p:cNvPr>
          <p:cNvSpPr>
            <a:spLocks xmlns:a="http://schemas.openxmlformats.org/drawingml/2006/main" noGrp="1"/>
          </p:cNvSpPr>
          <p:nvPr/>
        </p:nvSpPr>
        <p:spPr>
          <a:xfrm xmlns:a="http://schemas.openxmlformats.org/drawingml/2006/main">
            <a:off x="1104900" y="4705350"/>
            <a:ext cx="4267200" cy="3238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111827"/>
                </a:solidFill>
                <a:latin typeface="LM Roman 12"/>
                <a:ea typeface="LM Roman 12"/>
                <a:cs typeface="LM Roman 12"/>
              </a:defRPr>
            </a:pPr>
            <a:r>
              <a:rPr sz="900" b="0">
                <a:solidFill>
                  <a:srgbClr val="111827"/>
                </a:solidFill>
                <a:latin typeface="LM Roman 12"/>
                <a:ea typeface="LM Roman 12"/>
                <a:cs typeface="LM Roman 12"/>
              </a:rPr>
              <a:t>The same Flower workload can be replayed on a different device mix while preserving client identity, device class, timing, and submodel metrics.</a:t>
            </a:r>
          </a:p>
        </p:txBody>
      </p:sp>
      <p:sp>
        <p:nvSpPr>
          <p:cNvPr id="32" name="">
            <a:extLst xmlns:a="http://schemas.openxmlformats.org/drawingml/2006/main">
              <a:ext uri="{FF2B5EF4-FFF2-40B4-BE49-F238E27FC236}">
                <a16:creationId xmlns:a16="http://schemas.microsoft.com/office/drawing/2014/main" id="{2F0789AA-5CCE-45EC-A394-F5FE8FF01CEE}"/>
              </a:ext>
            </a:extLst>
          </p:cNvPr>
          <p:cNvSpPr>
            <a:spLocks xmlns:a="http://schemas.openxmlformats.org/drawingml/2006/main" noGrp="1"/>
          </p:cNvSpPr>
          <p:nvPr/>
        </p:nvSpPr>
        <p:spPr>
          <a:xfrm xmlns:a="http://schemas.openxmlformats.org/drawingml/2006/main">
            <a:off x="6381750" y="2324100"/>
            <a:ext cx="5143500" cy="2990850"/>
          </a:xfrm>
          <a:prstGeom xmlns:a="http://schemas.openxmlformats.org/drawingml/2006/main" prst="roundRect">
            <a:avLst>
              <a:gd name="adj" fmla="val 2229"/>
            </a:avLst>
          </a:prstGeom>
          <a:solidFill xmlns:a="http://schemas.openxmlformats.org/drawingml/2006/main">
            <a:srgbClr val="FFFFFF"/>
          </a:solidFill>
          <a:ln xmlns:a="http://schemas.openxmlformats.org/drawingml/2006/main" w="9525">
            <a:solidFill>
              <a:srgbClr val="D5DCE8"/>
            </a:solidFill>
            <a:prstDash val="solid"/>
          </a:ln>
        </p:spPr>
      </p:sp>
      <p:sp>
        <p:nvSpPr>
          <p:cNvPr id="33" name="">
            <a:extLst xmlns:a="http://schemas.openxmlformats.org/drawingml/2006/main">
              <a:ext uri="{FF2B5EF4-FFF2-40B4-BE49-F238E27FC236}">
                <a16:creationId xmlns:a16="http://schemas.microsoft.com/office/drawing/2014/main" id="{A1255A2F-EFAE-4CCB-B254-6D143F23472D}"/>
              </a:ext>
            </a:extLst>
          </p:cNvPr>
          <p:cNvSpPr>
            <a:spLocks xmlns:a="http://schemas.openxmlformats.org/drawingml/2006/main" noGrp="1"/>
          </p:cNvSpPr>
          <p:nvPr/>
        </p:nvSpPr>
        <p:spPr>
          <a:xfrm xmlns:a="http://schemas.openxmlformats.org/drawingml/2006/main">
            <a:off x="6381750" y="2324100"/>
            <a:ext cx="76200" cy="299085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35D7731D-FF01-43C2-A435-B7B64EF95144}"/>
              </a:ext>
            </a:extLst>
          </p:cNvPr>
          <p:cNvSpPr>
            <a:spLocks xmlns:a="http://schemas.openxmlformats.org/drawingml/2006/main" noGrp="1"/>
          </p:cNvSpPr>
          <p:nvPr/>
        </p:nvSpPr>
        <p:spPr>
          <a:xfrm xmlns:a="http://schemas.openxmlformats.org/drawingml/2006/main">
            <a:off x="6648450" y="2590800"/>
            <a:ext cx="4476750" cy="2857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71F46"/>
                </a:solidFill>
                <a:latin typeface="LM Roman 12"/>
                <a:ea typeface="LM Roman 12"/>
                <a:cs typeface="LM Roman 12"/>
              </a:defRPr>
            </a:pPr>
            <a:r>
              <a:rPr sz="1650" b="1">
                <a:solidFill>
                  <a:srgbClr val="071F46"/>
                </a:solidFill>
                <a:latin typeface="LM Roman 12"/>
                <a:ea typeface="LM Roman 12"/>
                <a:cs typeface="LM Roman 12"/>
              </a:rPr>
              <a:t>Network impairment</a:t>
            </a:r>
          </a:p>
        </p:txBody>
      </p:sp>
      <p:sp>
        <p:nvSpPr>
          <p:cNvPr id="35" name="">
            <a:extLst xmlns:a="http://schemas.openxmlformats.org/drawingml/2006/main">
              <a:ext uri="{FF2B5EF4-FFF2-40B4-BE49-F238E27FC236}">
                <a16:creationId xmlns:a16="http://schemas.microsoft.com/office/drawing/2014/main" id="{1EC10C05-D125-4B83-A1EC-5B3132306969}"/>
              </a:ext>
            </a:extLst>
          </p:cNvPr>
          <p:cNvSpPr>
            <a:spLocks xmlns:a="http://schemas.openxmlformats.org/drawingml/2006/main" noGrp="1"/>
          </p:cNvSpPr>
          <p:nvPr/>
        </p:nvSpPr>
        <p:spPr>
          <a:xfrm xmlns:a="http://schemas.openxmlformats.org/drawingml/2006/main">
            <a:off x="6648450" y="2914650"/>
            <a:ext cx="428625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B6472"/>
                </a:solidFill>
                <a:latin typeface="LM Roman 12"/>
                <a:ea typeface="LM Roman 12"/>
                <a:cs typeface="LM Roman 12"/>
              </a:defRPr>
            </a:pPr>
            <a:r>
              <a:rPr sz="1050" b="0">
                <a:solidFill>
                  <a:srgbClr val="5B6472"/>
                </a:solidFill>
                <a:latin typeface="LM Roman 12"/>
                <a:ea typeface="LM Roman 12"/>
                <a:cs typeface="LM Roman 12"/>
              </a:rPr>
              <a:t>Communication heterogeneity is a deployment profile.</a:t>
            </a:r>
          </a:p>
        </p:txBody>
      </p:sp>
      <p:sp>
        <p:nvSpPr>
          <p:cNvPr id="36" name="">
            <a:extLst xmlns:a="http://schemas.openxmlformats.org/drawingml/2006/main">
              <a:ext uri="{FF2B5EF4-FFF2-40B4-BE49-F238E27FC236}">
                <a16:creationId xmlns:a16="http://schemas.microsoft.com/office/drawing/2014/main" id="{C9844801-839A-41DD-BC9F-4D261DA01E92}"/>
              </a:ext>
            </a:extLst>
          </p:cNvPr>
          <p:cNvSpPr>
            <a:spLocks xmlns:a="http://schemas.openxmlformats.org/drawingml/2006/main" noGrp="1"/>
          </p:cNvSpPr>
          <p:nvPr/>
        </p:nvSpPr>
        <p:spPr>
          <a:xfrm xmlns:a="http://schemas.openxmlformats.org/drawingml/2006/main">
            <a:off x="6648450" y="3352800"/>
            <a:ext cx="1066800" cy="952500"/>
          </a:xfrm>
          <a:prstGeom xmlns:a="http://schemas.openxmlformats.org/drawingml/2006/main" prst="roundRect">
            <a:avLst>
              <a:gd name="adj" fmla="val 7000"/>
            </a:avLst>
          </a:prstGeom>
          <a:solidFill xmlns:a="http://schemas.openxmlformats.org/drawingml/2006/main">
            <a:srgbClr val="FFFFFF"/>
          </a:solidFill>
          <a:ln xmlns:a="http://schemas.openxmlformats.org/drawingml/2006/main" w="9525">
            <a:solidFill>
              <a:srgbClr val="D5DCE8"/>
            </a:solidFill>
            <a:prstDash val="solid"/>
          </a:ln>
        </p:spPr>
      </p:sp>
      <p:sp>
        <p:nvSpPr>
          <p:cNvPr id="37" name="">
            <a:extLst xmlns:a="http://schemas.openxmlformats.org/drawingml/2006/main">
              <a:ext uri="{FF2B5EF4-FFF2-40B4-BE49-F238E27FC236}">
                <a16:creationId xmlns:a16="http://schemas.microsoft.com/office/drawing/2014/main" id="{74000FC8-B8DB-4E2B-A329-1071188D6510}"/>
              </a:ext>
            </a:extLst>
          </p:cNvPr>
          <p:cNvSpPr>
            <a:spLocks xmlns:a="http://schemas.openxmlformats.org/drawingml/2006/main" noGrp="1"/>
          </p:cNvSpPr>
          <p:nvPr/>
        </p:nvSpPr>
        <p:spPr>
          <a:xfrm xmlns:a="http://schemas.openxmlformats.org/drawingml/2006/main">
            <a:off x="6648450" y="3352800"/>
            <a:ext cx="1066800" cy="5715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9AB42EA1-B2BC-40E7-B234-EB74764A2CE0}"/>
              </a:ext>
            </a:extLst>
          </p:cNvPr>
          <p:cNvSpPr>
            <a:spLocks xmlns:a="http://schemas.openxmlformats.org/drawingml/2006/main" noGrp="1"/>
          </p:cNvSpPr>
          <p:nvPr/>
        </p:nvSpPr>
        <p:spPr>
          <a:xfrm xmlns:a="http://schemas.openxmlformats.org/drawingml/2006/main">
            <a:off x="6743700" y="3505200"/>
            <a:ext cx="876300" cy="3048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071F46"/>
                </a:solidFill>
                <a:latin typeface="LM Roman 12"/>
                <a:ea typeface="LM Roman 12"/>
                <a:cs typeface="LM Roman 12"/>
              </a:defRPr>
            </a:pPr>
            <a:r>
              <a:rPr sz="975" b="1">
                <a:solidFill>
                  <a:srgbClr val="071F46"/>
                </a:solidFill>
                <a:latin typeface="LM Roman 12"/>
                <a:ea typeface="LM Roman 12"/>
                <a:cs typeface="LM Roman 12"/>
              </a:rPr>
              <a:t>Deploy config</a:t>
            </a:r>
          </a:p>
        </p:txBody>
      </p:sp>
      <p:sp>
        <p:nvSpPr>
          <p:cNvPr id="39" name="">
            <a:extLst xmlns:a="http://schemas.openxmlformats.org/drawingml/2006/main">
              <a:ext uri="{FF2B5EF4-FFF2-40B4-BE49-F238E27FC236}">
                <a16:creationId xmlns:a16="http://schemas.microsoft.com/office/drawing/2014/main" id="{96743A51-60AA-4F89-A32F-B37720F3FC57}"/>
              </a:ext>
            </a:extLst>
          </p:cNvPr>
          <p:cNvSpPr>
            <a:spLocks xmlns:a="http://schemas.openxmlformats.org/drawingml/2006/main" noGrp="1"/>
          </p:cNvSpPr>
          <p:nvPr/>
        </p:nvSpPr>
        <p:spPr>
          <a:xfrm xmlns:a="http://schemas.openxmlformats.org/drawingml/2006/main">
            <a:off x="6743700" y="3867150"/>
            <a:ext cx="876300" cy="3238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0">
                <a:solidFill>
                  <a:srgbClr val="5B6472"/>
                </a:solidFill>
                <a:latin typeface="LM Roman 12"/>
                <a:ea typeface="LM Roman 12"/>
                <a:cs typeface="LM Roman 12"/>
              </a:defRPr>
            </a:pPr>
            <a:r>
              <a:rPr sz="825" b="0">
                <a:solidFill>
                  <a:srgbClr val="5B6472"/>
                </a:solidFill>
                <a:latin typeface="LM Roman 12"/>
                <a:ea typeface="LM Roman 12"/>
                <a:cs typeface="LM Roman 12"/>
              </a:rPr>
              <a:t>named netem profile</a:t>
            </a:r>
          </a:p>
        </p:txBody>
      </p:sp>
      <p:sp>
        <p:nvSpPr>
          <p:cNvPr id="40" name="">
            <a:extLst xmlns:a="http://schemas.openxmlformats.org/drawingml/2006/main">
              <a:ext uri="{FF2B5EF4-FFF2-40B4-BE49-F238E27FC236}">
                <a16:creationId xmlns:a16="http://schemas.microsoft.com/office/drawing/2014/main" id="{B7CCFF0A-8475-47C6-94BA-DEEF85794320}"/>
              </a:ext>
            </a:extLst>
          </p:cNvPr>
          <p:cNvSpPr>
            <a:spLocks xmlns:a="http://schemas.openxmlformats.org/drawingml/2006/main" noGrp="1"/>
          </p:cNvSpPr>
          <p:nvPr/>
        </p:nvSpPr>
        <p:spPr>
          <a:xfrm xmlns:a="http://schemas.openxmlformats.org/drawingml/2006/main">
            <a:off x="7715250" y="3695700"/>
            <a:ext cx="17145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8D9AAC"/>
                </a:solidFill>
                <a:latin typeface="LM Roman 12"/>
                <a:ea typeface="LM Roman 12"/>
                <a:cs typeface="LM Roman 12"/>
              </a:defRPr>
            </a:pPr>
            <a:r>
              <a:rPr sz="1500" b="1">
                <a:solidFill>
                  <a:srgbClr val="8D9AAC"/>
                </a:solidFill>
                <a:latin typeface="LM Roman 12"/>
                <a:ea typeface="LM Roman 12"/>
                <a:cs typeface="LM Roman 12"/>
              </a:rPr>
              <a:t>→</a:t>
            </a:r>
          </a:p>
        </p:txBody>
      </p:sp>
      <p:sp>
        <p:nvSpPr>
          <p:cNvPr id="41" name="">
            <a:extLst xmlns:a="http://schemas.openxmlformats.org/drawingml/2006/main">
              <a:ext uri="{FF2B5EF4-FFF2-40B4-BE49-F238E27FC236}">
                <a16:creationId xmlns:a16="http://schemas.microsoft.com/office/drawing/2014/main" id="{B97877C9-78D2-43BF-9813-59ECB60D5056}"/>
              </a:ext>
            </a:extLst>
          </p:cNvPr>
          <p:cNvSpPr>
            <a:spLocks xmlns:a="http://schemas.openxmlformats.org/drawingml/2006/main" noGrp="1"/>
          </p:cNvSpPr>
          <p:nvPr/>
        </p:nvSpPr>
        <p:spPr>
          <a:xfrm xmlns:a="http://schemas.openxmlformats.org/drawingml/2006/main">
            <a:off x="7886700" y="3352800"/>
            <a:ext cx="1066800" cy="952500"/>
          </a:xfrm>
          <a:prstGeom xmlns:a="http://schemas.openxmlformats.org/drawingml/2006/main" prst="roundRect">
            <a:avLst>
              <a:gd name="adj" fmla="val 7000"/>
            </a:avLst>
          </a:prstGeom>
          <a:solidFill xmlns:a="http://schemas.openxmlformats.org/drawingml/2006/main">
            <a:srgbClr val="FFFFFF"/>
          </a:solidFill>
          <a:ln xmlns:a="http://schemas.openxmlformats.org/drawingml/2006/main" w="9525">
            <a:solidFill>
              <a:srgbClr val="D5DCE8"/>
            </a:solidFill>
            <a:prstDash val="solid"/>
          </a:ln>
        </p:spPr>
      </p:sp>
      <p:sp>
        <p:nvSpPr>
          <p:cNvPr id="42" name="">
            <a:extLst xmlns:a="http://schemas.openxmlformats.org/drawingml/2006/main">
              <a:ext uri="{FF2B5EF4-FFF2-40B4-BE49-F238E27FC236}">
                <a16:creationId xmlns:a16="http://schemas.microsoft.com/office/drawing/2014/main" id="{B6B91694-19C3-4E6A-BCF0-1CDAEFEEE319}"/>
              </a:ext>
            </a:extLst>
          </p:cNvPr>
          <p:cNvSpPr>
            <a:spLocks xmlns:a="http://schemas.openxmlformats.org/drawingml/2006/main" noGrp="1"/>
          </p:cNvSpPr>
          <p:nvPr/>
        </p:nvSpPr>
        <p:spPr>
          <a:xfrm xmlns:a="http://schemas.openxmlformats.org/drawingml/2006/main">
            <a:off x="7886700" y="3352800"/>
            <a:ext cx="1066800" cy="5715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solidFill>
              <a:srgbClr val="000000">
                <a:alpha val="0"/>
              </a:srgbClr>
            </a:solidFill>
            <a:prstDash val="solid"/>
          </a:ln>
        </p:spPr>
      </p:sp>
      <p:sp>
        <p:nvSpPr>
          <p:cNvPr id="43" name="">
            <a:extLst xmlns:a="http://schemas.openxmlformats.org/drawingml/2006/main">
              <a:ext uri="{FF2B5EF4-FFF2-40B4-BE49-F238E27FC236}">
                <a16:creationId xmlns:a16="http://schemas.microsoft.com/office/drawing/2014/main" id="{E2FB7C78-081B-435D-BF76-E28A949BF9FC}"/>
              </a:ext>
            </a:extLst>
          </p:cNvPr>
          <p:cNvSpPr>
            <a:spLocks xmlns:a="http://schemas.openxmlformats.org/drawingml/2006/main" noGrp="1"/>
          </p:cNvSpPr>
          <p:nvPr/>
        </p:nvSpPr>
        <p:spPr>
          <a:xfrm xmlns:a="http://schemas.openxmlformats.org/drawingml/2006/main">
            <a:off x="7981950" y="3505200"/>
            <a:ext cx="876300" cy="3048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071F46"/>
                </a:solidFill>
                <a:latin typeface="LM Roman 12"/>
                <a:ea typeface="LM Roman 12"/>
                <a:cs typeface="LM Roman 12"/>
              </a:defRPr>
            </a:pPr>
            <a:r>
              <a:rPr sz="975" b="1">
                <a:solidFill>
                  <a:srgbClr val="071F46"/>
                </a:solidFill>
                <a:latin typeface="LM Roman 12"/>
                <a:ea typeface="LM Roman 12"/>
                <a:cs typeface="LM Roman 12"/>
              </a:rPr>
              <a:t>Selector</a:t>
            </a:r>
          </a:p>
        </p:txBody>
      </p:sp>
      <p:sp>
        <p:nvSpPr>
          <p:cNvPr id="44" name="">
            <a:extLst xmlns:a="http://schemas.openxmlformats.org/drawingml/2006/main">
              <a:ext uri="{FF2B5EF4-FFF2-40B4-BE49-F238E27FC236}">
                <a16:creationId xmlns:a16="http://schemas.microsoft.com/office/drawing/2014/main" id="{6DD4463D-B4E9-4F5D-BCD5-249C9067BBB0}"/>
              </a:ext>
            </a:extLst>
          </p:cNvPr>
          <p:cNvSpPr>
            <a:spLocks xmlns:a="http://schemas.openxmlformats.org/drawingml/2006/main" noGrp="1"/>
          </p:cNvSpPr>
          <p:nvPr/>
        </p:nvSpPr>
        <p:spPr>
          <a:xfrm xmlns:a="http://schemas.openxmlformats.org/drawingml/2006/main">
            <a:off x="7981950" y="3867150"/>
            <a:ext cx="876300" cy="3238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0">
                <a:solidFill>
                  <a:srgbClr val="5B6472"/>
                </a:solidFill>
                <a:latin typeface="LM Roman 12"/>
                <a:ea typeface="LM Roman 12"/>
                <a:cs typeface="LM Roman 12"/>
              </a:defRPr>
            </a:pPr>
            <a:r>
              <a:rPr sz="825" b="0">
                <a:solidFill>
                  <a:srgbClr val="5B6472"/>
                </a:solidFill>
                <a:latin typeface="LM Roman 12"/>
                <a:ea typeface="LM Roman 12"/>
                <a:cs typeface="LM Roman 12"/>
              </a:rPr>
              <a:t>rpi4[*] / rpi5[1]</a:t>
            </a:r>
          </a:p>
        </p:txBody>
      </p:sp>
      <p:sp>
        <p:nvSpPr>
          <p:cNvPr id="45" name="">
            <a:extLst xmlns:a="http://schemas.openxmlformats.org/drawingml/2006/main">
              <a:ext uri="{FF2B5EF4-FFF2-40B4-BE49-F238E27FC236}">
                <a16:creationId xmlns:a16="http://schemas.microsoft.com/office/drawing/2014/main" id="{BDECFECA-7BDD-4269-926A-56278D66D7CA}"/>
              </a:ext>
            </a:extLst>
          </p:cNvPr>
          <p:cNvSpPr>
            <a:spLocks xmlns:a="http://schemas.openxmlformats.org/drawingml/2006/main" noGrp="1"/>
          </p:cNvSpPr>
          <p:nvPr/>
        </p:nvSpPr>
        <p:spPr>
          <a:xfrm xmlns:a="http://schemas.openxmlformats.org/drawingml/2006/main">
            <a:off x="8953500" y="3695700"/>
            <a:ext cx="17145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8D9AAC"/>
                </a:solidFill>
                <a:latin typeface="LM Roman 12"/>
                <a:ea typeface="LM Roman 12"/>
                <a:cs typeface="LM Roman 12"/>
              </a:defRPr>
            </a:pPr>
            <a:r>
              <a:rPr sz="1500" b="1">
                <a:solidFill>
                  <a:srgbClr val="8D9AAC"/>
                </a:solidFill>
                <a:latin typeface="LM Roman 12"/>
                <a:ea typeface="LM Roman 12"/>
                <a:cs typeface="LM Roman 12"/>
              </a:rPr>
              <a:t>→</a:t>
            </a:r>
          </a:p>
        </p:txBody>
      </p:sp>
      <p:sp>
        <p:nvSpPr>
          <p:cNvPr id="46" name="">
            <a:extLst xmlns:a="http://schemas.openxmlformats.org/drawingml/2006/main">
              <a:ext uri="{FF2B5EF4-FFF2-40B4-BE49-F238E27FC236}">
                <a16:creationId xmlns:a16="http://schemas.microsoft.com/office/drawing/2014/main" id="{4119CF92-AF6E-48E1-8F4C-896274C53692}"/>
              </a:ext>
            </a:extLst>
          </p:cNvPr>
          <p:cNvSpPr>
            <a:spLocks xmlns:a="http://schemas.openxmlformats.org/drawingml/2006/main" noGrp="1"/>
          </p:cNvSpPr>
          <p:nvPr/>
        </p:nvSpPr>
        <p:spPr>
          <a:xfrm xmlns:a="http://schemas.openxmlformats.org/drawingml/2006/main">
            <a:off x="9124950" y="3352800"/>
            <a:ext cx="1066800" cy="952500"/>
          </a:xfrm>
          <a:prstGeom xmlns:a="http://schemas.openxmlformats.org/drawingml/2006/main" prst="roundRect">
            <a:avLst>
              <a:gd name="adj" fmla="val 7000"/>
            </a:avLst>
          </a:prstGeom>
          <a:solidFill xmlns:a="http://schemas.openxmlformats.org/drawingml/2006/main">
            <a:srgbClr val="FFFFFF"/>
          </a:solidFill>
          <a:ln xmlns:a="http://schemas.openxmlformats.org/drawingml/2006/main" w="9525">
            <a:solidFill>
              <a:srgbClr val="D5DCE8"/>
            </a:solidFill>
            <a:prstDash val="solid"/>
          </a:ln>
        </p:spPr>
      </p:sp>
      <p:sp>
        <p:nvSpPr>
          <p:cNvPr id="47" name="">
            <a:extLst xmlns:a="http://schemas.openxmlformats.org/drawingml/2006/main">
              <a:ext uri="{FF2B5EF4-FFF2-40B4-BE49-F238E27FC236}">
                <a16:creationId xmlns:a16="http://schemas.microsoft.com/office/drawing/2014/main" id="{267B01D4-EC39-4738-AC12-3206EDE617C5}"/>
              </a:ext>
            </a:extLst>
          </p:cNvPr>
          <p:cNvSpPr>
            <a:spLocks xmlns:a="http://schemas.openxmlformats.org/drawingml/2006/main" noGrp="1"/>
          </p:cNvSpPr>
          <p:nvPr/>
        </p:nvSpPr>
        <p:spPr>
          <a:xfrm xmlns:a="http://schemas.openxmlformats.org/drawingml/2006/main">
            <a:off x="9124950" y="3352800"/>
            <a:ext cx="1066800" cy="5715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solidFill>
              <a:srgbClr val="000000">
                <a:alpha val="0"/>
              </a:srgbClr>
            </a:solidFill>
            <a:prstDash val="solid"/>
          </a:ln>
        </p:spPr>
      </p:sp>
      <p:sp>
        <p:nvSpPr>
          <p:cNvPr id="48" name="">
            <a:extLst xmlns:a="http://schemas.openxmlformats.org/drawingml/2006/main">
              <a:ext uri="{FF2B5EF4-FFF2-40B4-BE49-F238E27FC236}">
                <a16:creationId xmlns:a16="http://schemas.microsoft.com/office/drawing/2014/main" id="{5869F31E-17CC-4CBF-8728-317F5EB55BB8}"/>
              </a:ext>
            </a:extLst>
          </p:cNvPr>
          <p:cNvSpPr>
            <a:spLocks xmlns:a="http://schemas.openxmlformats.org/drawingml/2006/main" noGrp="1"/>
          </p:cNvSpPr>
          <p:nvPr/>
        </p:nvSpPr>
        <p:spPr>
          <a:xfrm xmlns:a="http://schemas.openxmlformats.org/drawingml/2006/main">
            <a:off x="9220200" y="3505200"/>
            <a:ext cx="876300" cy="3048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071F46"/>
                </a:solidFill>
                <a:latin typeface="LM Roman 12"/>
                <a:ea typeface="LM Roman 12"/>
                <a:cs typeface="LM Roman 12"/>
              </a:defRPr>
            </a:pPr>
            <a:r>
              <a:rPr sz="975" b="1">
                <a:solidFill>
                  <a:srgbClr val="071F46"/>
                </a:solidFill>
                <a:latin typeface="LM Roman 12"/>
                <a:ea typeface="LM Roman 12"/>
                <a:cs typeface="LM Roman 12"/>
              </a:rPr>
              <a:t>Wrapper</a:t>
            </a:r>
          </a:p>
        </p:txBody>
      </p:sp>
      <p:sp>
        <p:nvSpPr>
          <p:cNvPr id="49" name="">
            <a:extLst xmlns:a="http://schemas.openxmlformats.org/drawingml/2006/main">
              <a:ext uri="{FF2B5EF4-FFF2-40B4-BE49-F238E27FC236}">
                <a16:creationId xmlns:a16="http://schemas.microsoft.com/office/drawing/2014/main" id="{D8768521-B1B1-43C9-8D2B-33B6E9352FA2}"/>
              </a:ext>
            </a:extLst>
          </p:cNvPr>
          <p:cNvSpPr>
            <a:spLocks xmlns:a="http://schemas.openxmlformats.org/drawingml/2006/main" noGrp="1"/>
          </p:cNvSpPr>
          <p:nvPr/>
        </p:nvSpPr>
        <p:spPr>
          <a:xfrm xmlns:a="http://schemas.openxmlformats.org/drawingml/2006/main">
            <a:off x="9220200" y="3867150"/>
            <a:ext cx="876300" cy="3238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0">
                <a:solidFill>
                  <a:srgbClr val="5B6472"/>
                </a:solidFill>
                <a:latin typeface="LM Roman 12"/>
                <a:ea typeface="LM Roman 12"/>
                <a:cs typeface="LM Roman 12"/>
              </a:defRPr>
            </a:pPr>
            <a:r>
              <a:rPr sz="825" b="0">
                <a:solidFill>
                  <a:srgbClr val="5B6472"/>
                </a:solidFill>
                <a:latin typeface="LM Roman 12"/>
                <a:ea typeface="LM Roman 12"/>
                <a:cs typeface="LM Roman 12"/>
              </a:rPr>
              <a:t>tc/netem before SuperNode</a:t>
            </a:r>
          </a:p>
        </p:txBody>
      </p:sp>
      <p:sp>
        <p:nvSpPr>
          <p:cNvPr id="50" name="">
            <a:extLst xmlns:a="http://schemas.openxmlformats.org/drawingml/2006/main">
              <a:ext uri="{FF2B5EF4-FFF2-40B4-BE49-F238E27FC236}">
                <a16:creationId xmlns:a16="http://schemas.microsoft.com/office/drawing/2014/main" id="{49B0D4F2-9643-4321-8803-04D84F789807}"/>
              </a:ext>
            </a:extLst>
          </p:cNvPr>
          <p:cNvSpPr>
            <a:spLocks xmlns:a="http://schemas.openxmlformats.org/drawingml/2006/main" noGrp="1"/>
          </p:cNvSpPr>
          <p:nvPr/>
        </p:nvSpPr>
        <p:spPr>
          <a:xfrm xmlns:a="http://schemas.openxmlformats.org/drawingml/2006/main">
            <a:off x="10191750" y="3695700"/>
            <a:ext cx="17145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8D9AAC"/>
                </a:solidFill>
                <a:latin typeface="LM Roman 12"/>
                <a:ea typeface="LM Roman 12"/>
                <a:cs typeface="LM Roman 12"/>
              </a:defRPr>
            </a:pPr>
            <a:r>
              <a:rPr sz="1500" b="1">
                <a:solidFill>
                  <a:srgbClr val="8D9AAC"/>
                </a:solidFill>
                <a:latin typeface="LM Roman 12"/>
                <a:ea typeface="LM Roman 12"/>
                <a:cs typeface="LM Roman 12"/>
              </a:rPr>
              <a:t>→</a:t>
            </a:r>
          </a:p>
        </p:txBody>
      </p:sp>
      <p:sp>
        <p:nvSpPr>
          <p:cNvPr id="51" name="">
            <a:extLst xmlns:a="http://schemas.openxmlformats.org/drawingml/2006/main">
              <a:ext uri="{FF2B5EF4-FFF2-40B4-BE49-F238E27FC236}">
                <a16:creationId xmlns:a16="http://schemas.microsoft.com/office/drawing/2014/main" id="{12842DC6-C0E9-4F6E-83DE-2637559B8D86}"/>
              </a:ext>
            </a:extLst>
          </p:cNvPr>
          <p:cNvSpPr>
            <a:spLocks xmlns:a="http://schemas.openxmlformats.org/drawingml/2006/main" noGrp="1"/>
          </p:cNvSpPr>
          <p:nvPr/>
        </p:nvSpPr>
        <p:spPr>
          <a:xfrm xmlns:a="http://schemas.openxmlformats.org/drawingml/2006/main">
            <a:off x="10363200" y="3352800"/>
            <a:ext cx="1066800" cy="952500"/>
          </a:xfrm>
          <a:prstGeom xmlns:a="http://schemas.openxmlformats.org/drawingml/2006/main" prst="roundRect">
            <a:avLst>
              <a:gd name="adj" fmla="val 7000"/>
            </a:avLst>
          </a:prstGeom>
          <a:solidFill xmlns:a="http://schemas.openxmlformats.org/drawingml/2006/main">
            <a:srgbClr val="FFFFFF"/>
          </a:solidFill>
          <a:ln xmlns:a="http://schemas.openxmlformats.org/drawingml/2006/main" w="9525">
            <a:solidFill>
              <a:srgbClr val="D5DCE8"/>
            </a:solidFill>
            <a:prstDash val="solid"/>
          </a:ln>
        </p:spPr>
      </p:sp>
      <p:sp>
        <p:nvSpPr>
          <p:cNvPr id="52" name="">
            <a:extLst xmlns:a="http://schemas.openxmlformats.org/drawingml/2006/main">
              <a:ext uri="{FF2B5EF4-FFF2-40B4-BE49-F238E27FC236}">
                <a16:creationId xmlns:a16="http://schemas.microsoft.com/office/drawing/2014/main" id="{3BF13A8D-2F65-4001-84D7-DA381034CD6E}"/>
              </a:ext>
            </a:extLst>
          </p:cNvPr>
          <p:cNvSpPr>
            <a:spLocks xmlns:a="http://schemas.openxmlformats.org/drawingml/2006/main" noGrp="1"/>
          </p:cNvSpPr>
          <p:nvPr/>
        </p:nvSpPr>
        <p:spPr>
          <a:xfrm xmlns:a="http://schemas.openxmlformats.org/drawingml/2006/main">
            <a:off x="10363200" y="3352800"/>
            <a:ext cx="1066800" cy="5715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solidFill>
              <a:srgbClr val="000000">
                <a:alpha val="0"/>
              </a:srgbClr>
            </a:solidFill>
            <a:prstDash val="solid"/>
          </a:ln>
        </p:spPr>
      </p:sp>
      <p:sp>
        <p:nvSpPr>
          <p:cNvPr id="53" name="">
            <a:extLst xmlns:a="http://schemas.openxmlformats.org/drawingml/2006/main">
              <a:ext uri="{FF2B5EF4-FFF2-40B4-BE49-F238E27FC236}">
                <a16:creationId xmlns:a16="http://schemas.microsoft.com/office/drawing/2014/main" id="{FFD85773-2C8E-466F-A167-25A234C08652}"/>
              </a:ext>
            </a:extLst>
          </p:cNvPr>
          <p:cNvSpPr>
            <a:spLocks xmlns:a="http://schemas.openxmlformats.org/drawingml/2006/main" noGrp="1"/>
          </p:cNvSpPr>
          <p:nvPr/>
        </p:nvSpPr>
        <p:spPr>
          <a:xfrm xmlns:a="http://schemas.openxmlformats.org/drawingml/2006/main">
            <a:off x="10458450" y="3505200"/>
            <a:ext cx="876300" cy="3048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071F46"/>
                </a:solidFill>
                <a:latin typeface="LM Roman 12"/>
                <a:ea typeface="LM Roman 12"/>
                <a:cs typeface="LM Roman 12"/>
              </a:defRPr>
            </a:pPr>
            <a:r>
              <a:rPr sz="975" b="1">
                <a:solidFill>
                  <a:srgbClr val="071F46"/>
                </a:solidFill>
                <a:latin typeface="LM Roman 12"/>
                <a:ea typeface="LM Roman 12"/>
                <a:cs typeface="LM Roman 12"/>
              </a:rPr>
              <a:t>Runtime</a:t>
            </a:r>
          </a:p>
        </p:txBody>
      </p:sp>
      <p:sp>
        <p:nvSpPr>
          <p:cNvPr id="54" name="">
            <a:extLst xmlns:a="http://schemas.openxmlformats.org/drawingml/2006/main">
              <a:ext uri="{FF2B5EF4-FFF2-40B4-BE49-F238E27FC236}">
                <a16:creationId xmlns:a16="http://schemas.microsoft.com/office/drawing/2014/main" id="{D35EEC70-98AB-449F-B733-129E0381D2A4}"/>
              </a:ext>
            </a:extLst>
          </p:cNvPr>
          <p:cNvSpPr>
            <a:spLocks xmlns:a="http://schemas.openxmlformats.org/drawingml/2006/main" noGrp="1"/>
          </p:cNvSpPr>
          <p:nvPr/>
        </p:nvSpPr>
        <p:spPr>
          <a:xfrm xmlns:a="http://schemas.openxmlformats.org/drawingml/2006/main">
            <a:off x="10458450" y="3867150"/>
            <a:ext cx="876300" cy="3238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0">
                <a:solidFill>
                  <a:srgbClr val="5B6472"/>
                </a:solidFill>
                <a:latin typeface="LM Roman 12"/>
                <a:ea typeface="LM Roman 12"/>
                <a:cs typeface="LM Roman 12"/>
              </a:defRPr>
            </a:pPr>
            <a:r>
              <a:rPr sz="825" b="0">
                <a:solidFill>
                  <a:srgbClr val="5B6472"/>
                </a:solidFill>
                <a:latin typeface="LM Roman 12"/>
                <a:ea typeface="LM Roman 12"/>
                <a:cs typeface="LM Roman 12"/>
              </a:rPr>
              <a:t>normal Flower interface</a:t>
            </a:r>
          </a:p>
        </p:txBody>
      </p:sp>
      <p:sp>
        <p:nvSpPr>
          <p:cNvPr id="55" name="">
            <a:extLst xmlns:a="http://schemas.openxmlformats.org/drawingml/2006/main">
              <a:ext uri="{FF2B5EF4-FFF2-40B4-BE49-F238E27FC236}">
                <a16:creationId xmlns:a16="http://schemas.microsoft.com/office/drawing/2014/main" id="{6373DF88-325E-4D64-A6C8-B48BC51168DB}"/>
              </a:ext>
            </a:extLst>
          </p:cNvPr>
          <p:cNvSpPr>
            <a:spLocks xmlns:a="http://schemas.openxmlformats.org/drawingml/2006/main" noGrp="1"/>
          </p:cNvSpPr>
          <p:nvPr/>
        </p:nvSpPr>
        <p:spPr>
          <a:xfrm xmlns:a="http://schemas.openxmlformats.org/drawingml/2006/main">
            <a:off x="6648450" y="4591050"/>
            <a:ext cx="4610100" cy="552450"/>
          </a:xfrm>
          <a:prstGeom xmlns:a="http://schemas.openxmlformats.org/drawingml/2006/main" prst="roundRect">
            <a:avLst>
              <a:gd name="adj" fmla="val 12069"/>
            </a:avLst>
          </a:prstGeom>
          <a:solidFill xmlns:a="http://schemas.openxmlformats.org/drawingml/2006/main">
            <a:srgbClr val="F1F5F9"/>
          </a:solidFill>
          <a:ln xmlns:a="http://schemas.openxmlformats.org/drawingml/2006/main" w="0">
            <a:solidFill>
              <a:srgbClr val="000000">
                <a:alpha val="0"/>
              </a:srgbClr>
            </a:solidFill>
            <a:prstDash val="solid"/>
          </a:ln>
        </p:spPr>
      </p:sp>
      <p:sp>
        <p:nvSpPr>
          <p:cNvPr id="56" name="">
            <a:extLst xmlns:a="http://schemas.openxmlformats.org/drawingml/2006/main">
              <a:ext uri="{FF2B5EF4-FFF2-40B4-BE49-F238E27FC236}">
                <a16:creationId xmlns:a16="http://schemas.microsoft.com/office/drawing/2014/main" id="{1811530F-7DCB-448B-BF2E-D0F75FDB7592}"/>
              </a:ext>
            </a:extLst>
          </p:cNvPr>
          <p:cNvSpPr>
            <a:spLocks xmlns:a="http://schemas.openxmlformats.org/drawingml/2006/main" noGrp="1"/>
          </p:cNvSpPr>
          <p:nvPr/>
        </p:nvSpPr>
        <p:spPr>
          <a:xfrm xmlns:a="http://schemas.openxmlformats.org/drawingml/2006/main">
            <a:off x="6819900" y="4705350"/>
            <a:ext cx="4267200" cy="3238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111827"/>
                </a:solidFill>
                <a:latin typeface="LM Roman 12"/>
                <a:ea typeface="LM Roman 12"/>
                <a:cs typeface="LM Roman 12"/>
              </a:defRPr>
            </a:pPr>
            <a:r>
              <a:rPr sz="900" b="0">
                <a:solidFill>
                  <a:srgbClr val="111827"/>
                </a:solidFill>
                <a:latin typeface="LM Roman 12"/>
                <a:ea typeface="LM Roman 12"/>
                <a:cs typeface="LM Roman 12"/>
              </a:rPr>
              <a:t>The application and aggregation code are unchanged; the deployment layer controls delay, jitter, loss, and bandwidth on selected logical clients.</a:t>
            </a:r>
          </a:p>
        </p:txBody>
      </p:sp>
      <p:sp>
        <p:nvSpPr>
          <p:cNvPr id="57" name="">
            <a:extLst xmlns:a="http://schemas.openxmlformats.org/drawingml/2006/main">
              <a:ext uri="{FF2B5EF4-FFF2-40B4-BE49-F238E27FC236}">
                <a16:creationId xmlns:a16="http://schemas.microsoft.com/office/drawing/2014/main" id="{065800DF-47A4-422D-B05F-ABBB16F5A39E}"/>
              </a:ext>
            </a:extLst>
          </p:cNvPr>
          <p:cNvSpPr>
            <a:spLocks xmlns:a="http://schemas.openxmlformats.org/drawingml/2006/main" noGrp="1"/>
          </p:cNvSpPr>
          <p:nvPr/>
        </p:nvSpPr>
        <p:spPr>
          <a:xfrm xmlns:a="http://schemas.openxmlformats.org/drawingml/2006/main">
            <a:off x="666750" y="6057900"/>
            <a:ext cx="8572500" cy="2095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5B6472"/>
                </a:solidFill>
                <a:latin typeface="LM Roman 12"/>
                <a:ea typeface="LM Roman 12"/>
                <a:cs typeface="LM Roman 12"/>
              </a:defRPr>
            </a:pPr>
            <a:r>
              <a:rPr sz="825" b="0">
                <a:solidFill>
                  <a:srgbClr val="5B6472"/>
                </a:solidFill>
                <a:latin typeface="LM Roman 12"/>
                <a:ea typeface="LM Roman 12"/>
                <a:cs typeface="LM Roman 12"/>
              </a:rPr>
              <a:t>Full typed-placement and network-impairment diagrams are retained in the appendix.</a:t>
            </a:r>
          </a:p>
        </p:txBody>
      </p:sp>
      <p:sp>
        <p:nvSpPr>
          <p:cNvPr id="58" name="">
            <a:extLst xmlns:a="http://schemas.openxmlformats.org/drawingml/2006/main">
              <a:ext uri="{FF2B5EF4-FFF2-40B4-BE49-F238E27FC236}">
                <a16:creationId xmlns:a16="http://schemas.microsoft.com/office/drawing/2014/main" id="{708F7552-03A6-4AAE-ABBF-0160EAC2808C}"/>
              </a:ext>
            </a:extLst>
          </p:cNvPr>
          <p:cNvSpPr>
            <a:spLocks xmlns:a="http://schemas.openxmlformats.org/drawingml/2006/main" noGrp="1"/>
          </p:cNvSpPr>
          <p:nvPr/>
        </p:nvSpPr>
        <p:spPr>
          <a:xfrm xmlns:a="http://schemas.openxmlformats.org/drawingml/2006/main">
            <a:off x="666750" y="6296025"/>
            <a:ext cx="10858500" cy="9525"/>
          </a:xfrm>
          <a:prstGeom xmlns:a="http://schemas.openxmlformats.org/drawingml/2006/main" prst="rect">
            <a:avLst/>
          </a:prstGeom>
          <a:solidFill xmlns:a="http://schemas.openxmlformats.org/drawingml/2006/main">
            <a:srgbClr val="E6EBF3"/>
          </a:solidFill>
          <a:ln xmlns:a="http://schemas.openxmlformats.org/drawingml/2006/main" w="0">
            <a:solidFill>
              <a:srgbClr val="000000">
                <a:alpha val="0"/>
              </a:srgbClr>
            </a:solidFill>
            <a:prstDash val="solid"/>
          </a:ln>
        </p:spPr>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a36bd5a86c2c4095"/>
          <a:stretch xmlns:a="http://schemas.openxmlformats.org/drawingml/2006/main"/>
        </p:blipFill>
        <p:spPr>
          <a:xfrm xmlns:a="http://schemas.openxmlformats.org/drawingml/2006/main">
            <a:off x="666977" y="6429375"/>
            <a:ext cx="269103" cy="228600"/>
          </a:xfrm>
          <a:prstGeom xmlns:a="http://schemas.openxmlformats.org/drawingml/2006/main" prst="rect">
            <a:avLst/>
          </a:prstGeom>
        </p:spPr>
      </p:pic>
      <p:sp>
        <p:nvSpPr>
          <p:cNvPr id="60" name="">
            <a:extLst xmlns:a="http://schemas.openxmlformats.org/drawingml/2006/main">
              <a:ext uri="{FF2B5EF4-FFF2-40B4-BE49-F238E27FC236}">
                <a16:creationId xmlns:a16="http://schemas.microsoft.com/office/drawing/2014/main" id="{C5BAA708-1BC2-4880-8594-A5C0B0B870B5}"/>
              </a:ext>
            </a:extLst>
          </p:cNvPr>
          <p:cNvSpPr>
            <a:spLocks xmlns:a="http://schemas.openxmlformats.org/drawingml/2006/main" noGrp="1"/>
          </p:cNvSpPr>
          <p:nvPr/>
        </p:nvSpPr>
        <p:spPr>
          <a:xfrm xmlns:a="http://schemas.openxmlformats.org/drawingml/2006/main">
            <a:off x="990600" y="6457950"/>
            <a:ext cx="400050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implementation: deployment-side heterogeneity controls</a:t>
            </a:r>
          </a:p>
        </p:txBody>
      </p:sp>
      <p:sp>
        <p:nvSpPr>
          <p:cNvPr id="61" name="">
            <a:extLst xmlns:a="http://schemas.openxmlformats.org/drawingml/2006/main">
              <a:ext uri="{FF2B5EF4-FFF2-40B4-BE49-F238E27FC236}">
                <a16:creationId xmlns:a16="http://schemas.microsoft.com/office/drawing/2014/main" id="{962F0991-E475-4AD8-B88B-B02280206D1E}"/>
              </a:ext>
            </a:extLst>
          </p:cNvPr>
          <p:cNvSpPr>
            <a:spLocks xmlns:a="http://schemas.openxmlformats.org/drawingml/2006/main" noGrp="1"/>
          </p:cNvSpPr>
          <p:nvPr/>
        </p:nvSpPr>
        <p:spPr>
          <a:xfrm xmlns:a="http://schemas.openxmlformats.org/drawingml/2006/main">
            <a:off x="11049000" y="6457950"/>
            <a:ext cx="47625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07</a:t>
            </a:r>
          </a:p>
        </p:txBody>
      </p:sp>
    </p:spTree>
    <p:extLst>
      <p:ext uri="{BB962C8B-B14F-4D97-AF65-F5344CB8AC3E}">
        <p14:creationId xmlns:p14="http://schemas.microsoft.com/office/powerpoint/2010/main" val="1254121317"/>
      </p:ext>
    </p:extLst>
  </p:cSld>
</p:sld>
</file>

<file path=ppt/slides/slide8.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8870B29-6729-4C3C-B0B4-278BA3779D78}"/>
              </a:ext>
            </a:extLst>
          </p:cNvPr>
          <p:cNvSpPr>
            <a:spLocks xmlns:a="http://schemas.openxmlformats.org/drawingml/2006/main" noGrp="1"/>
          </p:cNvSpPr>
          <p:nvPr/>
        </p:nvSpPr>
        <p:spPr>
          <a:xfrm xmlns:a="http://schemas.openxmlformats.org/drawingml/2006/main">
            <a:off x="666750" y="342900"/>
            <a:ext cx="4953000" cy="1905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43A896"/>
                </a:solidFill>
                <a:latin typeface="LM Roman 12"/>
                <a:ea typeface="LM Roman 12"/>
                <a:cs typeface="LM Roman 12"/>
              </a:defRPr>
            </a:pPr>
            <a:r>
              <a:rPr sz="975" b="1">
                <a:solidFill>
                  <a:srgbClr val="43A896"/>
                </a:solidFill>
                <a:latin typeface="LM Roman 12"/>
                <a:ea typeface="LM Roman 12"/>
                <a:cs typeface="LM Roman 12"/>
              </a:rPr>
              <a:t>COMPUTE HETEROGENEITY MOTIVATION</a:t>
            </a:r>
          </a:p>
        </p:txBody>
      </p:sp>
      <p:sp>
        <p:nvSpPr>
          <p:cNvPr id="2" name="">
            <a:extLst xmlns:a="http://schemas.openxmlformats.org/drawingml/2006/main">
              <a:ext uri="{FF2B5EF4-FFF2-40B4-BE49-F238E27FC236}">
                <a16:creationId xmlns:a16="http://schemas.microsoft.com/office/drawing/2014/main" id="{798F7D90-096B-4133-A9B9-CD2CFA06FE6B}"/>
              </a:ext>
            </a:extLst>
          </p:cNvPr>
          <p:cNvSpPr>
            <a:spLocks xmlns:a="http://schemas.openxmlformats.org/drawingml/2006/main" noGrp="1"/>
          </p:cNvSpPr>
          <p:nvPr/>
        </p:nvSpPr>
        <p:spPr>
          <a:xfrm xmlns:a="http://schemas.openxmlformats.org/drawingml/2006/main">
            <a:off x="666750" y="590550"/>
            <a:ext cx="9239250" cy="6477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71F46"/>
                </a:solidFill>
                <a:latin typeface="LM Roman 12"/>
                <a:ea typeface="LM Roman 12"/>
                <a:cs typeface="LM Roman 12"/>
              </a:defRPr>
            </a:pPr>
            <a:r>
              <a:rPr sz="2250" b="1">
                <a:solidFill>
                  <a:srgbClr val="071F46"/>
                </a:solidFill>
                <a:latin typeface="LM Roman 12"/>
                <a:ea typeface="LM Roman 12"/>
                <a:cs typeface="LM Roman 12"/>
              </a:rPr>
              <a:t>Weak-Client Inclusion</a:t>
            </a:r>
          </a:p>
        </p:txBody>
      </p:sp>
      <p:sp>
        <p:nvSpPr>
          <p:cNvPr id="3" name="">
            <a:extLst xmlns:a="http://schemas.openxmlformats.org/drawingml/2006/main">
              <a:ext uri="{FF2B5EF4-FFF2-40B4-BE49-F238E27FC236}">
                <a16:creationId xmlns:a16="http://schemas.microsoft.com/office/drawing/2014/main" id="{BF0F8850-181B-4CDE-8B98-2B6F4D25C7F9}"/>
              </a:ext>
            </a:extLst>
          </p:cNvPr>
          <p:cNvSpPr>
            <a:spLocks xmlns:a="http://schemas.openxmlformats.org/drawingml/2006/main" noGrp="1"/>
          </p:cNvSpPr>
          <p:nvPr/>
        </p:nvSpPr>
        <p:spPr>
          <a:xfrm xmlns:a="http://schemas.openxmlformats.org/drawingml/2006/main">
            <a:off x="666750" y="1005840"/>
            <a:ext cx="1143000" cy="47625"/>
          </a:xfrm>
          <a:prstGeom xmlns:a="http://schemas.openxmlformats.org/drawingml/2006/main" prst="rect">
            <a:avLst/>
          </a:prstGeom>
          <a:solidFill xmlns:a="http://schemas.openxmlformats.org/drawingml/2006/main">
            <a:srgbClr val="F3C43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0552F508-41A5-4DD5-AD8E-E373E399712C}"/>
              </a:ext>
            </a:extLst>
          </p:cNvPr>
          <p:cNvSpPr>
            <a:spLocks xmlns:a="http://schemas.openxmlformats.org/drawingml/2006/main" noGrp="1"/>
          </p:cNvSpPr>
          <p:nvPr/>
        </p:nvSpPr>
        <p:spPr>
          <a:xfrm xmlns:a="http://schemas.openxmlformats.org/drawingml/2006/main">
            <a:off x="666750" y="1371600"/>
            <a:ext cx="10858500" cy="609600"/>
          </a:xfrm>
          <a:prstGeom xmlns:a="http://schemas.openxmlformats.org/drawingml/2006/main" prst="roundRect">
            <a:avLst>
              <a:gd name="adj" fmla="val 10938"/>
            </a:avLst>
          </a:prstGeom>
          <a:solidFill xmlns:a="http://schemas.openxmlformats.org/drawingml/2006/main">
            <a:srgbClr val="EEF7F5"/>
          </a:solidFill>
          <a:ln xmlns:a="http://schemas.openxmlformats.org/drawingml/2006/main" w="9525">
            <a:solidFill>
              <a:srgbClr val="D5DCE8"/>
            </a:solidFill>
            <a:prstDash val="solid"/>
          </a:ln>
        </p:spPr>
      </p:sp>
      <p:sp>
        <p:nvSpPr>
          <p:cNvPr id="5" name="">
            <a:extLst xmlns:a="http://schemas.openxmlformats.org/drawingml/2006/main">
              <a:ext uri="{FF2B5EF4-FFF2-40B4-BE49-F238E27FC236}">
                <a16:creationId xmlns:a16="http://schemas.microsoft.com/office/drawing/2014/main" id="{9D295BD0-C0AE-4F1D-9F84-A2B33735BF95}"/>
              </a:ext>
            </a:extLst>
          </p:cNvPr>
          <p:cNvSpPr>
            <a:spLocks xmlns:a="http://schemas.openxmlformats.org/drawingml/2006/main" noGrp="1"/>
          </p:cNvSpPr>
          <p:nvPr/>
        </p:nvSpPr>
        <p:spPr>
          <a:xfrm xmlns:a="http://schemas.openxmlformats.org/drawingml/2006/main">
            <a:off x="666750" y="1371600"/>
            <a:ext cx="76200" cy="609600"/>
          </a:xfrm>
          <a:prstGeom xmlns:a="http://schemas.openxmlformats.org/drawingml/2006/main" prst="roundRect">
            <a:avLst>
              <a:gd name="adj" fmla="val 50000"/>
            </a:avLst>
          </a:prstGeom>
          <a:solidFill xmlns:a="http://schemas.openxmlformats.org/drawingml/2006/main">
            <a:srgbClr val="43A896"/>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DBBE22E3-2416-4535-B3A6-4CC2EEAFAB65}"/>
              </a:ext>
            </a:extLst>
          </p:cNvPr>
          <p:cNvSpPr>
            <a:spLocks xmlns:a="http://schemas.openxmlformats.org/drawingml/2006/main" noGrp="1"/>
          </p:cNvSpPr>
          <p:nvPr/>
        </p:nvSpPr>
        <p:spPr>
          <a:xfrm xmlns:a="http://schemas.openxmlformats.org/drawingml/2006/main">
            <a:off x="895350" y="1428750"/>
            <a:ext cx="10458450" cy="5143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71F46"/>
                </a:solidFill>
                <a:latin typeface="LM Roman 12"/>
                <a:ea typeface="LM Roman 12"/>
                <a:cs typeface="LM Roman 12"/>
              </a:defRPr>
            </a:pPr>
            <a:r>
              <a:rPr sz="1650" b="1">
                <a:solidFill>
                  <a:srgbClr val="071F46"/>
                </a:solidFill>
                <a:latin typeface="LM Roman 12"/>
                <a:ea typeface="LM Roman 12"/>
                <a:cs typeface="LM Roman 12"/>
              </a:rPr>
              <a:t>Reduced-rate inclusion keeps all non-IID partitions while avoiding the full-model cost of weak-device participation.</a:t>
            </a:r>
          </a:p>
        </p:txBody>
      </p:sp>
      <p:sp>
        <p:nvSpPr>
          <p:cNvPr id="7" name="">
            <a:extLst xmlns:a="http://schemas.openxmlformats.org/drawingml/2006/main">
              <a:ext uri="{FF2B5EF4-FFF2-40B4-BE49-F238E27FC236}">
                <a16:creationId xmlns:a16="http://schemas.microsoft.com/office/drawing/2014/main" id="{6453A5A5-DD9B-4A33-88EB-B850DE5E16AA}"/>
              </a:ext>
            </a:extLst>
          </p:cNvPr>
          <p:cNvSpPr>
            <a:spLocks xmlns:a="http://schemas.openxmlformats.org/drawingml/2006/main" noGrp="1"/>
          </p:cNvSpPr>
          <p:nvPr/>
        </p:nvSpPr>
        <p:spPr>
          <a:xfrm xmlns:a="http://schemas.openxmlformats.org/drawingml/2006/main">
            <a:off x="666750" y="2000250"/>
            <a:ext cx="10858500" cy="285750"/>
          </a:xfrm>
          <a:prstGeom xmlns:a="http://schemas.openxmlformats.org/drawingml/2006/main" prst="roundRect">
            <a:avLst>
              <a:gd name="adj" fmla="val 20000"/>
            </a:avLst>
          </a:prstGeom>
          <a:solidFill xmlns:a="http://schemas.openxmlformats.org/drawingml/2006/main">
            <a:srgbClr val="F8FAFC"/>
          </a:solidFill>
          <a:ln xmlns:a="http://schemas.openxmlformats.org/drawingml/2006/main" w="9525">
            <a:solidFill>
              <a:srgbClr val="D5DCE8"/>
            </a:solidFill>
            <a:prstDash val="solid"/>
          </a:ln>
        </p:spPr>
      </p:sp>
      <p:sp>
        <p:nvSpPr>
          <p:cNvPr id="8" name="">
            <a:extLst xmlns:a="http://schemas.openxmlformats.org/drawingml/2006/main">
              <a:ext uri="{FF2B5EF4-FFF2-40B4-BE49-F238E27FC236}">
                <a16:creationId xmlns:a16="http://schemas.microsoft.com/office/drawing/2014/main" id="{4A6F3B25-778C-49B1-B8C2-37C6C99BB30C}"/>
              </a:ext>
            </a:extLst>
          </p:cNvPr>
          <p:cNvSpPr>
            <a:spLocks xmlns:a="http://schemas.openxmlformats.org/drawingml/2006/main" noGrp="1"/>
          </p:cNvSpPr>
          <p:nvPr/>
        </p:nvSpPr>
        <p:spPr>
          <a:xfrm xmlns:a="http://schemas.openxmlformats.org/drawingml/2006/main">
            <a:off x="666750" y="2000250"/>
            <a:ext cx="66675" cy="285750"/>
          </a:xfrm>
          <a:prstGeom xmlns:a="http://schemas.openxmlformats.org/drawingml/2006/main" prst="roundRect">
            <a:avLst>
              <a:gd name="adj" fmla="val 50000"/>
            </a:avLst>
          </a:prstGeom>
          <a:solidFill xmlns:a="http://schemas.openxmlformats.org/drawingml/2006/main">
            <a:srgbClr val="43A896"/>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DEAE6A70-F0EE-47E4-A9B7-57A0248E408C}"/>
              </a:ext>
            </a:extLst>
          </p:cNvPr>
          <p:cNvSpPr>
            <a:spLocks xmlns:a="http://schemas.openxmlformats.org/drawingml/2006/main" noGrp="1"/>
          </p:cNvSpPr>
          <p:nvPr/>
        </p:nvSpPr>
        <p:spPr>
          <a:xfrm xmlns:a="http://schemas.openxmlformats.org/drawingml/2006/main">
            <a:off x="895350" y="2047875"/>
            <a:ext cx="514350" cy="190500"/>
          </a:xfrm>
          <a:prstGeom xmlns:a="http://schemas.openxmlformats.org/drawingml/2006/main" prst="roundRect">
            <a:avLst>
              <a:gd name="adj" fmla="val 25000"/>
            </a:avLst>
          </a:prstGeom>
          <a:solidFill xmlns:a="http://schemas.openxmlformats.org/drawingml/2006/main">
            <a:srgbClr val="EEF2F7"/>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C3FB2900-0BDC-466E-B741-B99CC53D93B5}"/>
              </a:ext>
            </a:extLst>
          </p:cNvPr>
          <p:cNvSpPr>
            <a:spLocks xmlns:a="http://schemas.openxmlformats.org/drawingml/2006/main" noGrp="1"/>
          </p:cNvSpPr>
          <p:nvPr/>
        </p:nvSpPr>
        <p:spPr>
          <a:xfrm xmlns:a="http://schemas.openxmlformats.org/drawingml/2006/main">
            <a:off x="990600" y="2076450"/>
            <a:ext cx="323850" cy="1333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43A896"/>
                </a:solidFill>
                <a:latin typeface="LM Roman 12"/>
                <a:ea typeface="LM Roman 12"/>
                <a:cs typeface="LM Roman 12"/>
              </a:defRPr>
            </a:pPr>
            <a:r>
              <a:rPr sz="863" b="1">
                <a:solidFill>
                  <a:srgbClr val="43A896"/>
                </a:solidFill>
                <a:latin typeface="LM Roman 12"/>
                <a:ea typeface="LM Roman 12"/>
                <a:cs typeface="LM Roman 12"/>
              </a:rPr>
              <a:t>C1</a:t>
            </a:r>
          </a:p>
        </p:txBody>
      </p:sp>
      <p:sp>
        <p:nvSpPr>
          <p:cNvPr id="11" name="">
            <a:extLst xmlns:a="http://schemas.openxmlformats.org/drawingml/2006/main">
              <a:ext uri="{FF2B5EF4-FFF2-40B4-BE49-F238E27FC236}">
                <a16:creationId xmlns:a16="http://schemas.microsoft.com/office/drawing/2014/main" id="{440B8E88-F9CE-4398-AA95-AC3A17656CF1}"/>
              </a:ext>
            </a:extLst>
          </p:cNvPr>
          <p:cNvSpPr>
            <a:spLocks xmlns:a="http://schemas.openxmlformats.org/drawingml/2006/main" noGrp="1"/>
          </p:cNvSpPr>
          <p:nvPr/>
        </p:nvSpPr>
        <p:spPr>
          <a:xfrm xmlns:a="http://schemas.openxmlformats.org/drawingml/2006/main">
            <a:off x="1543050" y="2066925"/>
            <a:ext cx="9810750" cy="1524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5B6472"/>
                </a:solidFill>
                <a:latin typeface="LM Roman 12"/>
                <a:ea typeface="LM Roman 12"/>
                <a:cs typeface="LM Roman 12"/>
              </a:defRPr>
            </a:pPr>
            <a:r>
              <a:rPr sz="863" b="1">
                <a:solidFill>
                  <a:srgbClr val="5B6472"/>
                </a:solidFill>
                <a:latin typeface="LM Roman 12"/>
                <a:ea typeface="LM Roman 12"/>
                <a:cs typeface="LM Roman 12"/>
              </a:rPr>
              <a:t>CIFAR-10 non-IID  |  5 rpi5 + 10 rpi4  |  20 rounds  |  compare exclusion, full inclusion, reduced-rate inclusion</a:t>
            </a:r>
          </a:p>
        </p:txBody>
      </p:sp>
      <p:sp>
        <p:nvSpPr>
          <p:cNvPr id="12" name="">
            <a:extLst xmlns:a="http://schemas.openxmlformats.org/drawingml/2006/main">
              <a:ext uri="{FF2B5EF4-FFF2-40B4-BE49-F238E27FC236}">
                <a16:creationId xmlns:a16="http://schemas.microsoft.com/office/drawing/2014/main" id="{CE34FF17-0817-45AE-803A-BF50F091BFBB}"/>
              </a:ext>
            </a:extLst>
          </p:cNvPr>
          <p:cNvSpPr>
            <a:spLocks xmlns:a="http://schemas.openxmlformats.org/drawingml/2006/main" noGrp="1"/>
          </p:cNvSpPr>
          <p:nvPr/>
        </p:nvSpPr>
        <p:spPr>
          <a:xfrm xmlns:a="http://schemas.openxmlformats.org/drawingml/2006/main">
            <a:off x="666750" y="2400300"/>
            <a:ext cx="10858500" cy="2743200"/>
          </a:xfrm>
          <a:prstGeom xmlns:a="http://schemas.openxmlformats.org/drawingml/2006/main" prst="roundRect">
            <a:avLst>
              <a:gd name="adj" fmla="val 2431"/>
            </a:avLst>
          </a:prstGeom>
          <a:solidFill xmlns:a="http://schemas.openxmlformats.org/drawingml/2006/main">
            <a:srgbClr val="FFFFFF"/>
          </a:solidFill>
          <a:ln xmlns:a="http://schemas.openxmlformats.org/drawingml/2006/main" w="9525">
            <a:solidFill>
              <a:srgbClr val="D5DCE8"/>
            </a:solidFill>
            <a:prstDash val="solid"/>
          </a:ln>
        </p:spPr>
      </p:sp>
      <p:graphicFrame>
        <p:nvGraphicFramePr>
          <p:cNvPr id="13" name=""/>
          <p:cNvGraphicFramePr/>
          <p:nvPr/>
        </p:nvGraphicFramePr>
        <p:xfrm>
          <a:off xmlns:a="http://schemas.openxmlformats.org/drawingml/2006/main" x="838200" y="2552700"/>
          <a:ext xmlns:a="http://schemas.openxmlformats.org/drawingml/2006/main" cx="10515600" cy="2133600"/>
        </p:xfrm>
        <a:graphic xmlns:a="http://schemas.openxmlformats.org/drawingml/2006/main">
          <a:graphicData uri="http://schemas.openxmlformats.org/drawingml/2006/table">
            <a:tbl>
              <a:tblPr/>
              <a:tblGrid>
                <a:gridCol w="514350"/>
                <a:gridCol w="2133600"/>
                <a:gridCol w="1333500"/>
                <a:gridCol w="1047750"/>
                <a:gridCol w="1123950"/>
                <a:gridCol w="1619250"/>
                <a:gridCol w="1428750"/>
                <a:gridCol w="1314450"/>
              </a:tblGrid>
              <a:tr h="514350">
                <a:tc>
                  <a:txBody>
                    <a:bodyPr anchor="b"/>
                    <a:lstStyle/>
                    <a:p>
                      <a:r>
                        <a:rPr sz="1200" b="0">
                          <a:solidFill>
                            <a:srgbClr val="111827"/>
                          </a:solidFill>
                          <a:latin typeface="LM Roman 12"/>
                          <a:ea typeface="LM Roman 12"/>
                          <a:cs typeface="LM Roman 12"/>
                        </a:rPr>
                        <a:t>Case</a:t>
                      </a:r>
                    </a:p>
                  </a:txBody>
                  <a:tcPr marL="28575"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c>
                  <a:txBody>
                    <a:bodyPr anchor="b"/>
                    <a:lstStyle/>
                    <a:p>
                      <a:r>
                        <a:rPr sz="1200" b="0">
                          <a:solidFill>
                            <a:srgbClr val="111827"/>
                          </a:solidFill>
                          <a:latin typeface="LM Roman 12"/>
                          <a:ea typeface="LM Roman 12"/>
                          <a:cs typeface="LM Roman 12"/>
                        </a:rPr>
                        <a:t>Clients</a:t>
                      </a:r>
                    </a:p>
                  </a:txBody>
                  <a:tcPr marL="57150"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c>
                  <a:txBody>
                    <a:bodyPr anchor="b"/>
                    <a:lstStyle/>
                    <a:p>
                      <a:r>
                        <a:rPr sz="1200" b="0">
                          <a:solidFill>
                            <a:srgbClr val="111827"/>
                          </a:solidFill>
                          <a:latin typeface="LM Roman 12"/>
                          <a:ea typeface="LM Roman 12"/>
                          <a:cs typeface="LM Roman 12"/>
                        </a:rPr>
                        <a:t>Method</a:t>
                      </a:r>
                    </a:p>
                  </a:txBody>
                  <a:tcPr marL="57150"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c>
                  <a:txBody>
                    <a:bodyPr anchor="b"/>
                    <a:lstStyle/>
                    <a:p>
                      <a:r>
                        <a:rPr sz="1200" b="0">
                          <a:solidFill>
                            <a:srgbClr val="111827"/>
                          </a:solidFill>
                          <a:latin typeface="LM Roman 12"/>
                          <a:ea typeface="LM Roman 12"/>
                          <a:cs typeface="LM Roman 12"/>
                        </a:rPr>
                        <a:t>Data used</a:t>
                      </a:r>
                    </a:p>
                  </a:txBody>
                  <a:tcPr marL="28575"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c>
                  <a:txBody>
                    <a:bodyPr anchor="b"/>
                    <a:lstStyle/>
                    <a:p>
                      <a:r>
                        <a:rPr sz="1200" b="0">
                          <a:solidFill>
                            <a:srgbClr val="111827"/>
                          </a:solidFill>
                          <a:latin typeface="LM Roman 12"/>
                          <a:ea typeface="LM Roman 12"/>
                          <a:cs typeface="LM Roman 12"/>
                        </a:rPr>
                        <a:t>rpi4 rate</a:t>
                      </a:r>
                    </a:p>
                  </a:txBody>
                  <a:tcPr marL="28575"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c>
                  <a:txBody>
                    <a:bodyPr anchor="b"/>
                    <a:lstStyle/>
                    <a:p>
                      <a:r>
                        <a:rPr sz="1200" b="0">
                          <a:solidFill>
                            <a:srgbClr val="111827"/>
                          </a:solidFill>
                          <a:latin typeface="LM Roman 12"/>
                          <a:ea typeface="LM Roman 12"/>
                          <a:cs typeface="LM Roman 12"/>
                        </a:rPr>
                        <a:t>Accuracy</a:t>
                      </a:r>
                    </a:p>
                  </a:txBody>
                  <a:tcPr marL="28575"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c>
                  <a:txBody>
                    <a:bodyPr anchor="b"/>
                    <a:lstStyle/>
                    <a:p>
                      <a:r>
                        <a:rPr sz="1200" b="0">
                          <a:solidFill>
                            <a:srgbClr val="111827"/>
                          </a:solidFill>
                          <a:latin typeface="LM Roman 12"/>
                          <a:ea typeface="LM Roman 12"/>
                          <a:cs typeface="LM Roman 12"/>
                        </a:rPr>
                        <a:t>Runtime</a:t>
                      </a:r>
                    </a:p>
                    <a:p>
                      <a:r>
                        <a:rPr sz="1200" b="0">
                          <a:solidFill>
                            <a:srgbClr val="111827"/>
                          </a:solidFill>
                          <a:latin typeface="LM Roman 12"/>
                          <a:ea typeface="LM Roman 12"/>
                          <a:cs typeface="LM Roman 12"/>
                        </a:rPr>
                        <a:t>(min)</a:t>
                      </a:r>
                    </a:p>
                  </a:txBody>
                  <a:tcPr marL="28575"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c>
                  <a:txBody>
                    <a:bodyPr anchor="b"/>
                    <a:lstStyle/>
                    <a:p>
                      <a:r>
                        <a:rPr sz="1200" b="0">
                          <a:solidFill>
                            <a:srgbClr val="111827"/>
                          </a:solidFill>
                          <a:latin typeface="LM Roman 12"/>
                          <a:ea typeface="LM Roman 12"/>
                          <a:cs typeface="LM Roman 12"/>
                        </a:rPr>
                        <a:t>Mean train</a:t>
                      </a:r>
                    </a:p>
                    <a:p>
                      <a:r>
                        <a:rPr sz="1200" b="0">
                          <a:solidFill>
                            <a:srgbClr val="111827"/>
                          </a:solidFill>
                          <a:latin typeface="LM Roman 12"/>
                          <a:ea typeface="LM Roman 12"/>
                          <a:cs typeface="LM Roman 12"/>
                        </a:rPr>
                        <a:t>round (s)</a:t>
                      </a:r>
                    </a:p>
                  </a:txBody>
                  <a:tcPr marL="28575"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r>
              <a:tr h="323850">
                <a:tc>
                  <a:txBody>
                    <a:bodyPr anchor="b"/>
                    <a:lstStyle/>
                    <a:p>
                      <a:r>
                        <a:rPr sz="1163" b="1">
                          <a:solidFill>
                            <a:srgbClr val="1F77B4"/>
                          </a:solidFill>
                          <a:latin typeface="LM Roman 12"/>
                          <a:ea typeface="LM Roman 12"/>
                          <a:cs typeface="LM Roman 12"/>
                        </a:rPr>
                        <a:t>A</a:t>
                      </a:r>
                    </a:p>
                  </a:txBody>
                  <a:tcPr marL="28575"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c>
                  <a:txBody>
                    <a:bodyPr anchor="b"/>
                    <a:lstStyle/>
                    <a:p>
                      <a:r>
                        <a:rPr sz="1163" b="0">
                          <a:solidFill>
                            <a:srgbClr val="111827"/>
                          </a:solidFill>
                          <a:latin typeface="LM Roman 12"/>
                          <a:ea typeface="LM Roman 12"/>
                          <a:cs typeface="LM Roman 12"/>
                        </a:rPr>
                        <a:t>5 rpi5</a:t>
                      </a:r>
                    </a:p>
                  </a:txBody>
                  <a:tcPr marL="57150"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c>
                  <a:txBody>
                    <a:bodyPr anchor="b"/>
                    <a:lstStyle/>
                    <a:p>
                      <a:r>
                        <a:rPr sz="1163" b="0">
                          <a:solidFill>
                            <a:srgbClr val="111827"/>
                          </a:solidFill>
                          <a:latin typeface="LM Roman 12"/>
                          <a:ea typeface="LM Roman 12"/>
                          <a:cs typeface="LM Roman 12"/>
                        </a:rPr>
                        <a:t>FedAvg</a:t>
                      </a:r>
                    </a:p>
                  </a:txBody>
                  <a:tcPr marL="57150"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c>
                  <a:txBody>
                    <a:bodyPr anchor="b"/>
                    <a:lstStyle/>
                    <a:p>
                      <a:r>
                        <a:rPr sz="1163" b="0">
                          <a:solidFill>
                            <a:srgbClr val="111827"/>
                          </a:solidFill>
                          <a:latin typeface="LM Roman 12"/>
                          <a:ea typeface="LM Roman 12"/>
                          <a:cs typeface="LM Roman 12"/>
                        </a:rPr>
                        <a:t>5/15</a:t>
                      </a:r>
                    </a:p>
                  </a:txBody>
                  <a:tcPr marL="28575"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c>
                  <a:txBody>
                    <a:bodyPr anchor="b"/>
                    <a:lstStyle/>
                    <a:p>
                      <a:r>
                        <a:rPr sz="1163" b="0">
                          <a:solidFill>
                            <a:srgbClr val="111827"/>
                          </a:solidFill>
                          <a:latin typeface="LM Roman 12"/>
                          <a:ea typeface="LM Roman 12"/>
                          <a:cs typeface="LM Roman 12"/>
                        </a:rPr>
                        <a:t>excluded</a:t>
                      </a:r>
                    </a:p>
                  </a:txBody>
                  <a:tcPr marL="28575"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c>
                  <a:txBody>
                    <a:bodyPr anchor="b"/>
                    <a:lstStyle/>
                    <a:p>
                      <a:r>
                        <a:rPr sz="1163" b="0">
                          <a:solidFill>
                            <a:srgbClr val="111827"/>
                          </a:solidFill>
                          <a:latin typeface="LM Roman 12"/>
                          <a:ea typeface="LM Roman 12"/>
                          <a:cs typeface="LM Roman 12"/>
                        </a:rPr>
                        <a:t>63.59 ± 2.69</a:t>
                      </a:r>
                    </a:p>
                  </a:txBody>
                  <a:tcPr marL="28575"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c>
                  <a:txBody>
                    <a:bodyPr anchor="b"/>
                    <a:lstStyle/>
                    <a:p>
                      <a:r>
                        <a:rPr sz="1163" b="0">
                          <a:solidFill>
                            <a:srgbClr val="111827"/>
                          </a:solidFill>
                          <a:latin typeface="LM Roman 12"/>
                          <a:ea typeface="LM Roman 12"/>
                          <a:cs typeface="LM Roman 12"/>
                        </a:rPr>
                        <a:t>38.8 ± 3.9</a:t>
                      </a:r>
                    </a:p>
                  </a:txBody>
                  <a:tcPr marL="28575"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c>
                  <a:txBody>
                    <a:bodyPr anchor="b"/>
                    <a:lstStyle/>
                    <a:p>
                      <a:r>
                        <a:rPr sz="1163" b="0">
                          <a:solidFill>
                            <a:srgbClr val="111827"/>
                          </a:solidFill>
                          <a:latin typeface="LM Roman 12"/>
                          <a:ea typeface="LM Roman 12"/>
                          <a:cs typeface="LM Roman 12"/>
                        </a:rPr>
                        <a:t>76.1 ± 11.5</a:t>
                      </a:r>
                    </a:p>
                  </a:txBody>
                  <a:tcPr marL="28575"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r>
              <a:tr h="323850">
                <a:tc>
                  <a:txBody>
                    <a:bodyPr anchor="b"/>
                    <a:lstStyle/>
                    <a:p>
                      <a:r>
                        <a:rPr sz="1163" b="1">
                          <a:solidFill>
                            <a:srgbClr val="1DB954"/>
                          </a:solidFill>
                          <a:latin typeface="LM Roman 12"/>
                          <a:ea typeface="LM Roman 12"/>
                          <a:cs typeface="LM Roman 12"/>
                        </a:rPr>
                        <a:t>B</a:t>
                      </a:r>
                    </a:p>
                  </a:txBody>
                  <a:tcPr marL="28575"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c>
                  <a:txBody>
                    <a:bodyPr anchor="b"/>
                    <a:lstStyle/>
                    <a:p>
                      <a:r>
                        <a:rPr sz="1163" b="0">
                          <a:solidFill>
                            <a:srgbClr val="111827"/>
                          </a:solidFill>
                          <a:latin typeface="LM Roman 12"/>
                          <a:ea typeface="LM Roman 12"/>
                          <a:cs typeface="LM Roman 12"/>
                        </a:rPr>
                        <a:t>5 rpi5+10 rpi4</a:t>
                      </a:r>
                    </a:p>
                  </a:txBody>
                  <a:tcPr marL="57150"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c>
                  <a:txBody>
                    <a:bodyPr anchor="b"/>
                    <a:lstStyle/>
                    <a:p>
                      <a:r>
                        <a:rPr sz="1163" b="0">
                          <a:solidFill>
                            <a:srgbClr val="111827"/>
                          </a:solidFill>
                          <a:latin typeface="LM Roman 12"/>
                          <a:ea typeface="LM Roman 12"/>
                          <a:cs typeface="LM Roman 12"/>
                        </a:rPr>
                        <a:t>FedAvg</a:t>
                      </a:r>
                    </a:p>
                  </a:txBody>
                  <a:tcPr marL="57150"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c>
                  <a:txBody>
                    <a:bodyPr anchor="b"/>
                    <a:lstStyle/>
                    <a:p>
                      <a:r>
                        <a:rPr sz="1163" b="0">
                          <a:solidFill>
                            <a:srgbClr val="111827"/>
                          </a:solidFill>
                          <a:latin typeface="LM Roman 12"/>
                          <a:ea typeface="LM Roman 12"/>
                          <a:cs typeface="LM Roman 12"/>
                        </a:rPr>
                        <a:t>15/15</a:t>
                      </a:r>
                    </a:p>
                  </a:txBody>
                  <a:tcPr marL="28575"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c>
                  <a:txBody>
                    <a:bodyPr anchor="b"/>
                    <a:lstStyle/>
                    <a:p>
                      <a:r>
                        <a:rPr sz="1163" b="0">
                          <a:solidFill>
                            <a:srgbClr val="111827"/>
                          </a:solidFill>
                          <a:latin typeface="LM Roman 12"/>
                          <a:ea typeface="LM Roman 12"/>
                          <a:cs typeface="LM Roman 12"/>
                        </a:rPr>
                        <a:t>1.0</a:t>
                      </a:r>
                    </a:p>
                  </a:txBody>
                  <a:tcPr marL="28575"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c>
                  <a:txBody>
                    <a:bodyPr anchor="b"/>
                    <a:lstStyle/>
                    <a:p>
                      <a:r>
                        <a:rPr sz="1163" b="0">
                          <a:solidFill>
                            <a:srgbClr val="111827"/>
                          </a:solidFill>
                          <a:latin typeface="LM Roman 12"/>
                          <a:ea typeface="LM Roman 12"/>
                          <a:cs typeface="LM Roman 12"/>
                        </a:rPr>
                        <a:t>73.12 ± 0.95</a:t>
                      </a:r>
                    </a:p>
                  </a:txBody>
                  <a:tcPr marL="28575"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c>
                  <a:txBody>
                    <a:bodyPr anchor="b"/>
                    <a:lstStyle/>
                    <a:p>
                      <a:r>
                        <a:rPr sz="1163" b="0">
                          <a:solidFill>
                            <a:srgbClr val="111827"/>
                          </a:solidFill>
                          <a:latin typeface="LM Roman 12"/>
                          <a:ea typeface="LM Roman 12"/>
                          <a:cs typeface="LM Roman 12"/>
                        </a:rPr>
                        <a:t>137.5 ± 8.5</a:t>
                      </a:r>
                    </a:p>
                  </a:txBody>
                  <a:tcPr marL="28575"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c>
                  <a:txBody>
                    <a:bodyPr anchor="b"/>
                    <a:lstStyle/>
                    <a:p>
                      <a:r>
                        <a:rPr sz="1163" b="0">
                          <a:solidFill>
                            <a:srgbClr val="111827"/>
                          </a:solidFill>
                          <a:latin typeface="LM Roman 12"/>
                          <a:ea typeface="LM Roman 12"/>
                          <a:cs typeface="LM Roman 12"/>
                        </a:rPr>
                        <a:t>373.4 ± 17.5</a:t>
                      </a:r>
                    </a:p>
                  </a:txBody>
                  <a:tcPr marL="28575"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r>
              <a:tr h="323850">
                <a:tc>
                  <a:txBody>
                    <a:bodyPr anchor="b"/>
                    <a:lstStyle/>
                    <a:p>
                      <a:r>
                        <a:rPr sz="1163" b="1">
                          <a:solidFill>
                            <a:srgbClr val="F59E0B"/>
                          </a:solidFill>
                          <a:latin typeface="LM Roman 12"/>
                          <a:ea typeface="LM Roman 12"/>
                          <a:cs typeface="LM Roman 12"/>
                        </a:rPr>
                        <a:t>C</a:t>
                      </a:r>
                    </a:p>
                  </a:txBody>
                  <a:tcPr marL="28575"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c>
                  <a:txBody>
                    <a:bodyPr anchor="b"/>
                    <a:lstStyle/>
                    <a:p>
                      <a:r>
                        <a:rPr sz="1163" b="0">
                          <a:solidFill>
                            <a:srgbClr val="111827"/>
                          </a:solidFill>
                          <a:latin typeface="LM Roman 12"/>
                          <a:ea typeface="LM Roman 12"/>
                          <a:cs typeface="LM Roman 12"/>
                        </a:rPr>
                        <a:t>5 rpi5+10 rpi4</a:t>
                      </a:r>
                    </a:p>
                  </a:txBody>
                  <a:tcPr marL="57150"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c>
                  <a:txBody>
                    <a:bodyPr anchor="b"/>
                    <a:lstStyle/>
                    <a:p>
                      <a:r>
                        <a:rPr sz="1163" b="0">
                          <a:solidFill>
                            <a:srgbClr val="111827"/>
                          </a:solidFill>
                          <a:latin typeface="LM Roman 12"/>
                          <a:ea typeface="LM Roman 12"/>
                          <a:cs typeface="LM Roman 12"/>
                        </a:rPr>
                        <a:t>HeteroFL</a:t>
                      </a:r>
                    </a:p>
                  </a:txBody>
                  <a:tcPr marL="57150"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c>
                  <a:txBody>
                    <a:bodyPr anchor="b"/>
                    <a:lstStyle/>
                    <a:p>
                      <a:r>
                        <a:rPr sz="1163" b="0">
                          <a:solidFill>
                            <a:srgbClr val="111827"/>
                          </a:solidFill>
                          <a:latin typeface="LM Roman 12"/>
                          <a:ea typeface="LM Roman 12"/>
                          <a:cs typeface="LM Roman 12"/>
                        </a:rPr>
                        <a:t>15/15</a:t>
                      </a:r>
                    </a:p>
                  </a:txBody>
                  <a:tcPr marL="28575"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c>
                  <a:txBody>
                    <a:bodyPr anchor="b"/>
                    <a:lstStyle/>
                    <a:p>
                      <a:r>
                        <a:rPr sz="1163" b="0">
                          <a:solidFill>
                            <a:srgbClr val="111827"/>
                          </a:solidFill>
                          <a:latin typeface="LM Roman 12"/>
                          <a:ea typeface="LM Roman 12"/>
                          <a:cs typeface="LM Roman 12"/>
                        </a:rPr>
                        <a:t>1/8</a:t>
                      </a:r>
                    </a:p>
                  </a:txBody>
                  <a:tcPr marL="28575"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c>
                  <a:txBody>
                    <a:bodyPr anchor="b"/>
                    <a:lstStyle/>
                    <a:p>
                      <a:r>
                        <a:rPr sz="1163" b="0">
                          <a:solidFill>
                            <a:srgbClr val="356DB8"/>
                          </a:solidFill>
                          <a:latin typeface="LM Roman 12"/>
                          <a:ea typeface="LM Roman 12"/>
                          <a:cs typeface="LM Roman 12"/>
                        </a:rPr>
                        <a:t>64.30 ± 2.35</a:t>
                      </a:r>
                    </a:p>
                  </a:txBody>
                  <a:tcPr marL="28575"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c>
                  <a:txBody>
                    <a:bodyPr anchor="b"/>
                    <a:lstStyle/>
                    <a:p>
                      <a:r>
                        <a:rPr sz="1163" b="1">
                          <a:solidFill>
                            <a:srgbClr val="C84A4A"/>
                          </a:solidFill>
                          <a:latin typeface="LM Roman 12"/>
                          <a:ea typeface="LM Roman 12"/>
                          <a:cs typeface="LM Roman 12"/>
                        </a:rPr>
                        <a:t>56.5 ± 15.2</a:t>
                      </a:r>
                    </a:p>
                  </a:txBody>
                  <a:tcPr marL="28575"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c>
                  <a:txBody>
                    <a:bodyPr anchor="b"/>
                    <a:lstStyle/>
                    <a:p>
                      <a:r>
                        <a:rPr sz="1163" b="0">
                          <a:solidFill>
                            <a:srgbClr val="111827"/>
                          </a:solidFill>
                          <a:latin typeface="LM Roman 12"/>
                          <a:ea typeface="LM Roman 12"/>
                          <a:cs typeface="LM Roman 12"/>
                        </a:rPr>
                        <a:t>125.9 ± 25.6</a:t>
                      </a:r>
                    </a:p>
                  </a:txBody>
                  <a:tcPr marL="28575"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r>
              <a:tr h="323850">
                <a:tc>
                  <a:txBody>
                    <a:bodyPr anchor="b"/>
                    <a:lstStyle/>
                    <a:p>
                      <a:r>
                        <a:rPr sz="1163" b="1">
                          <a:solidFill>
                            <a:srgbClr val="F04A23"/>
                          </a:solidFill>
                          <a:latin typeface="LM Roman 12"/>
                          <a:ea typeface="LM Roman 12"/>
                          <a:cs typeface="LM Roman 12"/>
                        </a:rPr>
                        <a:t>D</a:t>
                      </a:r>
                    </a:p>
                  </a:txBody>
                  <a:tcPr marL="28575"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c>
                  <a:txBody>
                    <a:bodyPr anchor="b"/>
                    <a:lstStyle/>
                    <a:p>
                      <a:r>
                        <a:rPr sz="1163" b="0">
                          <a:solidFill>
                            <a:srgbClr val="111827"/>
                          </a:solidFill>
                          <a:latin typeface="LM Roman 12"/>
                          <a:ea typeface="LM Roman 12"/>
                          <a:cs typeface="LM Roman 12"/>
                        </a:rPr>
                        <a:t>5 rpi5+10 rpi4</a:t>
                      </a:r>
                    </a:p>
                  </a:txBody>
                  <a:tcPr marL="57150"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c>
                  <a:txBody>
                    <a:bodyPr anchor="b"/>
                    <a:lstStyle/>
                    <a:p>
                      <a:r>
                        <a:rPr sz="1163" b="0">
                          <a:solidFill>
                            <a:srgbClr val="111827"/>
                          </a:solidFill>
                          <a:latin typeface="LM Roman 12"/>
                          <a:ea typeface="LM Roman 12"/>
                          <a:cs typeface="LM Roman 12"/>
                        </a:rPr>
                        <a:t>FedRolex</a:t>
                      </a:r>
                    </a:p>
                  </a:txBody>
                  <a:tcPr marL="57150"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c>
                  <a:txBody>
                    <a:bodyPr anchor="b"/>
                    <a:lstStyle/>
                    <a:p>
                      <a:r>
                        <a:rPr sz="1163" b="0">
                          <a:solidFill>
                            <a:srgbClr val="111827"/>
                          </a:solidFill>
                          <a:latin typeface="LM Roman 12"/>
                          <a:ea typeface="LM Roman 12"/>
                          <a:cs typeface="LM Roman 12"/>
                        </a:rPr>
                        <a:t>15/15</a:t>
                      </a:r>
                    </a:p>
                  </a:txBody>
                  <a:tcPr marL="28575"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c>
                  <a:txBody>
                    <a:bodyPr anchor="b"/>
                    <a:lstStyle/>
                    <a:p>
                      <a:r>
                        <a:rPr sz="1163" b="0">
                          <a:solidFill>
                            <a:srgbClr val="111827"/>
                          </a:solidFill>
                          <a:latin typeface="LM Roman 12"/>
                          <a:ea typeface="LM Roman 12"/>
                          <a:cs typeface="LM Roman 12"/>
                        </a:rPr>
                        <a:t>1/8</a:t>
                      </a:r>
                    </a:p>
                  </a:txBody>
                  <a:tcPr marL="28575"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c>
                  <a:txBody>
                    <a:bodyPr anchor="b"/>
                    <a:lstStyle/>
                    <a:p>
                      <a:r>
                        <a:rPr sz="1163" b="0">
                          <a:solidFill>
                            <a:srgbClr val="111827"/>
                          </a:solidFill>
                          <a:latin typeface="LM Roman 12"/>
                          <a:ea typeface="LM Roman 12"/>
                          <a:cs typeface="LM Roman 12"/>
                        </a:rPr>
                        <a:t>62.74 ± 2.87</a:t>
                      </a:r>
                    </a:p>
                  </a:txBody>
                  <a:tcPr marL="28575"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c>
                  <a:txBody>
                    <a:bodyPr anchor="b"/>
                    <a:lstStyle/>
                    <a:p>
                      <a:r>
                        <a:rPr sz="1163" b="0">
                          <a:solidFill>
                            <a:srgbClr val="356DB8"/>
                          </a:solidFill>
                          <a:latin typeface="LM Roman 12"/>
                          <a:ea typeface="LM Roman 12"/>
                          <a:cs typeface="LM Roman 12"/>
                        </a:rPr>
                        <a:t>60.8 ± 17.6</a:t>
                      </a:r>
                    </a:p>
                  </a:txBody>
                  <a:tcPr marL="28575"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c>
                  <a:txBody>
                    <a:bodyPr anchor="b"/>
                    <a:lstStyle/>
                    <a:p>
                      <a:r>
                        <a:rPr sz="1163" b="0">
                          <a:solidFill>
                            <a:srgbClr val="111827"/>
                          </a:solidFill>
                          <a:latin typeface="LM Roman 12"/>
                          <a:ea typeface="LM Roman 12"/>
                          <a:cs typeface="LM Roman 12"/>
                        </a:rPr>
                        <a:t>127.8 ± 29.5</a:t>
                      </a:r>
                    </a:p>
                  </a:txBody>
                  <a:tcPr marL="28575"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r>
              <a:tr h="323850">
                <a:tc>
                  <a:txBody>
                    <a:bodyPr anchor="b"/>
                    <a:lstStyle/>
                    <a:p>
                      <a:r>
                        <a:rPr sz="1163" b="1">
                          <a:solidFill>
                            <a:srgbClr val="845B97"/>
                          </a:solidFill>
                          <a:latin typeface="LM Roman 12"/>
                          <a:ea typeface="LM Roman 12"/>
                          <a:cs typeface="LM Roman 12"/>
                        </a:rPr>
                        <a:t>E</a:t>
                      </a:r>
                    </a:p>
                  </a:txBody>
                  <a:tcPr marL="28575"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c>
                  <a:txBody>
                    <a:bodyPr anchor="b"/>
                    <a:lstStyle/>
                    <a:p>
                      <a:r>
                        <a:rPr sz="1163" b="0">
                          <a:solidFill>
                            <a:srgbClr val="111827"/>
                          </a:solidFill>
                          <a:latin typeface="LM Roman 12"/>
                          <a:ea typeface="LM Roman 12"/>
                          <a:cs typeface="LM Roman 12"/>
                        </a:rPr>
                        <a:t>5 rpi5+10 rpi4</a:t>
                      </a:r>
                    </a:p>
                  </a:txBody>
                  <a:tcPr marL="57150"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c>
                  <a:txBody>
                    <a:bodyPr anchor="b"/>
                    <a:lstStyle/>
                    <a:p>
                      <a:r>
                        <a:rPr sz="1163" b="0">
                          <a:solidFill>
                            <a:srgbClr val="111827"/>
                          </a:solidFill>
                          <a:latin typeface="LM Roman 12"/>
                          <a:ea typeface="LM Roman 12"/>
                          <a:cs typeface="LM Roman 12"/>
                        </a:rPr>
                        <a:t>FIARSE</a:t>
                      </a:r>
                    </a:p>
                  </a:txBody>
                  <a:tcPr marL="57150"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c>
                  <a:txBody>
                    <a:bodyPr anchor="b"/>
                    <a:lstStyle/>
                    <a:p>
                      <a:r>
                        <a:rPr sz="1163" b="0">
                          <a:solidFill>
                            <a:srgbClr val="111827"/>
                          </a:solidFill>
                          <a:latin typeface="LM Roman 12"/>
                          <a:ea typeface="LM Roman 12"/>
                          <a:cs typeface="LM Roman 12"/>
                        </a:rPr>
                        <a:t>15/15</a:t>
                      </a:r>
                    </a:p>
                  </a:txBody>
                  <a:tcPr marL="28575"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c>
                  <a:txBody>
                    <a:bodyPr anchor="b"/>
                    <a:lstStyle/>
                    <a:p>
                      <a:r>
                        <a:rPr sz="1163" b="0">
                          <a:solidFill>
                            <a:srgbClr val="111827"/>
                          </a:solidFill>
                          <a:latin typeface="LM Roman 12"/>
                          <a:ea typeface="LM Roman 12"/>
                          <a:cs typeface="LM Roman 12"/>
                        </a:rPr>
                        <a:t>1/8</a:t>
                      </a:r>
                    </a:p>
                  </a:txBody>
                  <a:tcPr marL="28575"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c>
                  <a:txBody>
                    <a:bodyPr anchor="b"/>
                    <a:lstStyle/>
                    <a:p>
                      <a:r>
                        <a:rPr sz="1163" b="1">
                          <a:solidFill>
                            <a:srgbClr val="C84A4A"/>
                          </a:solidFill>
                          <a:latin typeface="LM Roman 12"/>
                          <a:ea typeface="LM Roman 12"/>
                          <a:cs typeface="LM Roman 12"/>
                        </a:rPr>
                        <a:t>67.83 ± 1.71</a:t>
                      </a:r>
                    </a:p>
                  </a:txBody>
                  <a:tcPr marL="28575"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c>
                  <a:txBody>
                    <a:bodyPr anchor="b"/>
                    <a:lstStyle/>
                    <a:p>
                      <a:r>
                        <a:rPr sz="1163" b="0">
                          <a:solidFill>
                            <a:srgbClr val="111827"/>
                          </a:solidFill>
                          <a:latin typeface="LM Roman 12"/>
                          <a:ea typeface="LM Roman 12"/>
                          <a:cs typeface="LM Roman 12"/>
                        </a:rPr>
                        <a:t>155.1 ± 14.9</a:t>
                      </a:r>
                    </a:p>
                  </a:txBody>
                  <a:tcPr marL="28575"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c>
                  <a:txBody>
                    <a:bodyPr anchor="b"/>
                    <a:lstStyle/>
                    <a:p>
                      <a:r>
                        <a:rPr sz="1163" b="0">
                          <a:solidFill>
                            <a:srgbClr val="111827"/>
                          </a:solidFill>
                          <a:latin typeface="LM Roman 12"/>
                          <a:ea typeface="LM Roman 12"/>
                          <a:cs typeface="LM Roman 12"/>
                        </a:rPr>
                        <a:t>425.2 ± 32.9</a:t>
                      </a:r>
                    </a:p>
                  </a:txBody>
                  <a:tcPr marL="28575" marR="28575" marT="9525" marB="9525">
                    <a:lnL w="0">
                      <a:solidFill>
                        <a:srgbClr val="000000">
                          <a:alpha val="0"/>
                        </a:srgbClr>
                      </a:solidFill>
                    </a:lnL>
                    <a:lnR w="0">
                      <a:solidFill>
                        <a:srgbClr val="000000">
                          <a:alpha val="0"/>
                        </a:srgbClr>
                      </a:solidFill>
                    </a:lnR>
                    <a:lnT w="0">
                      <a:solidFill>
                        <a:srgbClr val="000000">
                          <a:alpha val="0"/>
                        </a:srgbClr>
                      </a:solidFill>
                    </a:lnT>
                    <a:lnB w="0">
                      <a:solidFill>
                        <a:srgbClr val="000000">
                          <a:alpha val="0"/>
                        </a:srgbClr>
                      </a:solidFill>
                    </a:lnB>
                  </a:tcPr>
                </a:tc>
              </a:tr>
            </a:tbl>
          </a:graphicData>
        </a:graphic>
      </p:graphicFrame>
      <p:sp>
        <p:nvSpPr>
          <p:cNvPr id="14" name="">
            <a:extLst xmlns:a="http://schemas.openxmlformats.org/drawingml/2006/main">
              <a:ext uri="{FF2B5EF4-FFF2-40B4-BE49-F238E27FC236}">
                <a16:creationId xmlns:a16="http://schemas.microsoft.com/office/drawing/2014/main" id="{83F5F262-E5A4-4C31-80D1-D96B3D3B8C51}"/>
              </a:ext>
            </a:extLst>
          </p:cNvPr>
          <p:cNvSpPr>
            <a:spLocks xmlns:a="http://schemas.openxmlformats.org/drawingml/2006/main" noGrp="1"/>
          </p:cNvSpPr>
          <p:nvPr/>
        </p:nvSpPr>
        <p:spPr>
          <a:xfrm xmlns:a="http://schemas.openxmlformats.org/drawingml/2006/main">
            <a:off x="838200" y="2552700"/>
            <a:ext cx="10515600" cy="19050"/>
          </a:xfrm>
          <a:prstGeom xmlns:a="http://schemas.openxmlformats.org/drawingml/2006/main" prst="rect">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CDC4E3BE-96C2-4632-A628-892C4B5AA185}"/>
              </a:ext>
            </a:extLst>
          </p:cNvPr>
          <p:cNvSpPr>
            <a:spLocks xmlns:a="http://schemas.openxmlformats.org/drawingml/2006/main" noGrp="1"/>
          </p:cNvSpPr>
          <p:nvPr/>
        </p:nvSpPr>
        <p:spPr>
          <a:xfrm xmlns:a="http://schemas.openxmlformats.org/drawingml/2006/main">
            <a:off x="838200" y="3067050"/>
            <a:ext cx="10515600" cy="9525"/>
          </a:xfrm>
          <a:prstGeom xmlns:a="http://schemas.openxmlformats.org/drawingml/2006/main" prst="rect">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05B06468-0B68-4154-B981-EA06D104D5EF}"/>
              </a:ext>
            </a:extLst>
          </p:cNvPr>
          <p:cNvSpPr>
            <a:spLocks xmlns:a="http://schemas.openxmlformats.org/drawingml/2006/main" noGrp="1"/>
          </p:cNvSpPr>
          <p:nvPr/>
        </p:nvSpPr>
        <p:spPr>
          <a:xfrm xmlns:a="http://schemas.openxmlformats.org/drawingml/2006/main">
            <a:off x="838200" y="4686300"/>
            <a:ext cx="10515600" cy="19050"/>
          </a:xfrm>
          <a:prstGeom xmlns:a="http://schemas.openxmlformats.org/drawingml/2006/main" prst="rect">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30077868-1877-423A-B5F7-BF40AD116162}"/>
              </a:ext>
            </a:extLst>
          </p:cNvPr>
          <p:cNvSpPr>
            <a:spLocks xmlns:a="http://schemas.openxmlformats.org/drawingml/2006/main" noGrp="1"/>
          </p:cNvSpPr>
          <p:nvPr/>
        </p:nvSpPr>
        <p:spPr>
          <a:xfrm xmlns:a="http://schemas.openxmlformats.org/drawingml/2006/main">
            <a:off x="1695450" y="4800600"/>
            <a:ext cx="880110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Red bold marks the best comparable value; blue marks the second-best comparable value.</a:t>
            </a:r>
          </a:p>
        </p:txBody>
      </p:sp>
      <p:sp>
        <p:nvSpPr>
          <p:cNvPr id="18" name="">
            <a:extLst xmlns:a="http://schemas.openxmlformats.org/drawingml/2006/main">
              <a:ext uri="{FF2B5EF4-FFF2-40B4-BE49-F238E27FC236}">
                <a16:creationId xmlns:a16="http://schemas.microsoft.com/office/drawing/2014/main" id="{F714F53C-4ED8-4B51-AEA7-239193A35E72}"/>
              </a:ext>
            </a:extLst>
          </p:cNvPr>
          <p:cNvSpPr>
            <a:spLocks xmlns:a="http://schemas.openxmlformats.org/drawingml/2006/main" noGrp="1"/>
          </p:cNvSpPr>
          <p:nvPr/>
        </p:nvSpPr>
        <p:spPr>
          <a:xfrm xmlns:a="http://schemas.openxmlformats.org/drawingml/2006/main">
            <a:off x="1619250" y="5581650"/>
            <a:ext cx="8953500" cy="457200"/>
          </a:xfrm>
          <a:prstGeom xmlns:a="http://schemas.openxmlformats.org/drawingml/2006/main" prst="roundRect">
            <a:avLst>
              <a:gd name="adj" fmla="val 14583"/>
            </a:avLst>
          </a:prstGeom>
          <a:solidFill xmlns:a="http://schemas.openxmlformats.org/drawingml/2006/main">
            <a:srgbClr val="F1F5F9"/>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E4B08B45-5EA8-4CF4-91A4-3E64D8148DB0}"/>
              </a:ext>
            </a:extLst>
          </p:cNvPr>
          <p:cNvSpPr>
            <a:spLocks xmlns:a="http://schemas.openxmlformats.org/drawingml/2006/main" noGrp="1"/>
          </p:cNvSpPr>
          <p:nvPr/>
        </p:nvSpPr>
        <p:spPr>
          <a:xfrm xmlns:a="http://schemas.openxmlformats.org/drawingml/2006/main">
            <a:off x="1866900" y="5657850"/>
            <a:ext cx="8458200" cy="3238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071F46"/>
                </a:solidFill>
                <a:latin typeface="LM Roman 12"/>
                <a:ea typeface="LM Roman 12"/>
                <a:cs typeface="LM Roman 12"/>
              </a:defRPr>
            </a:pPr>
            <a:r>
              <a:rPr sz="1050" b="1">
                <a:solidFill>
                  <a:srgbClr val="071F46"/>
                </a:solidFill>
                <a:latin typeface="LM Roman 12"/>
                <a:ea typeface="LM Roman 12"/>
                <a:cs typeface="LM Roman 12"/>
              </a:rPr>
              <a:t>Table 5.1 makes the trade-off explicit: excluding weak clients is fastest, full inclusion is accurate but slow, and reduced-rate inclusion keeps all partitions.</a:t>
            </a:r>
          </a:p>
        </p:txBody>
      </p:sp>
      <p:sp>
        <p:nvSpPr>
          <p:cNvPr id="20" name="">
            <a:extLst xmlns:a="http://schemas.openxmlformats.org/drawingml/2006/main">
              <a:ext uri="{FF2B5EF4-FFF2-40B4-BE49-F238E27FC236}">
                <a16:creationId xmlns:a16="http://schemas.microsoft.com/office/drawing/2014/main" id="{787F437A-9D6C-4626-BB3C-9D5B2D6C09BE}"/>
              </a:ext>
            </a:extLst>
          </p:cNvPr>
          <p:cNvSpPr>
            <a:spLocks xmlns:a="http://schemas.openxmlformats.org/drawingml/2006/main" noGrp="1"/>
          </p:cNvSpPr>
          <p:nvPr/>
        </p:nvSpPr>
        <p:spPr>
          <a:xfrm xmlns:a="http://schemas.openxmlformats.org/drawingml/2006/main">
            <a:off x="666750" y="6057900"/>
            <a:ext cx="8572500" cy="2095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5B6472"/>
                </a:solidFill>
                <a:latin typeface="LM Roman 12"/>
                <a:ea typeface="LM Roman 12"/>
                <a:cs typeface="LM Roman 12"/>
              </a:defRPr>
            </a:pPr>
            <a:r>
              <a:rPr sz="825" b="0">
                <a:solidFill>
                  <a:srgbClr val="5B6472"/>
                </a:solidFill>
                <a:latin typeface="LM Roman 12"/>
                <a:ea typeface="LM Roman 12"/>
                <a:cs typeface="LM Roman 12"/>
              </a:rPr>
              <a:t>Source: writeup/5_evaluation.tex, Table 5.1 slow-client inclusion trade-off.</a:t>
            </a:r>
          </a:p>
        </p:txBody>
      </p:sp>
      <p:sp>
        <p:nvSpPr>
          <p:cNvPr id="21" name="">
            <a:extLst xmlns:a="http://schemas.openxmlformats.org/drawingml/2006/main">
              <a:ext uri="{FF2B5EF4-FFF2-40B4-BE49-F238E27FC236}">
                <a16:creationId xmlns:a16="http://schemas.microsoft.com/office/drawing/2014/main" id="{17158BCE-BB35-485C-83B7-C42C13A18C10}"/>
              </a:ext>
            </a:extLst>
          </p:cNvPr>
          <p:cNvSpPr>
            <a:spLocks xmlns:a="http://schemas.openxmlformats.org/drawingml/2006/main" noGrp="1"/>
          </p:cNvSpPr>
          <p:nvPr/>
        </p:nvSpPr>
        <p:spPr>
          <a:xfrm xmlns:a="http://schemas.openxmlformats.org/drawingml/2006/main">
            <a:off x="666750" y="6296025"/>
            <a:ext cx="10858500" cy="9525"/>
          </a:xfrm>
          <a:prstGeom xmlns:a="http://schemas.openxmlformats.org/drawingml/2006/main" prst="rect">
            <a:avLst/>
          </a:prstGeom>
          <a:solidFill xmlns:a="http://schemas.openxmlformats.org/drawingml/2006/main">
            <a:srgbClr val="E6EBF3"/>
          </a:solidFill>
          <a:ln xmlns:a="http://schemas.openxmlformats.org/drawingml/2006/main" w="0">
            <a:solidFill>
              <a:srgbClr val="000000">
                <a:alpha val="0"/>
              </a:srgbClr>
            </a:solidFill>
            <a:prstDash val="solid"/>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97715979ba7a4154"/>
          <a:stretch xmlns:a="http://schemas.openxmlformats.org/drawingml/2006/main"/>
        </p:blipFill>
        <p:spPr>
          <a:xfrm xmlns:a="http://schemas.openxmlformats.org/drawingml/2006/main">
            <a:off x="666977" y="6429375"/>
            <a:ext cx="269103" cy="22860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C1AFEA47-EA21-4A5F-B1BD-894B80B14E2C}"/>
              </a:ext>
            </a:extLst>
          </p:cNvPr>
          <p:cNvSpPr>
            <a:spLocks xmlns:a="http://schemas.openxmlformats.org/drawingml/2006/main" noGrp="1"/>
          </p:cNvSpPr>
          <p:nvPr/>
        </p:nvSpPr>
        <p:spPr>
          <a:xfrm xmlns:a="http://schemas.openxmlformats.org/drawingml/2006/main">
            <a:off x="990600" y="6457950"/>
            <a:ext cx="400050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C1: weak-client inclusion decision</a:t>
            </a:r>
          </a:p>
        </p:txBody>
      </p:sp>
      <p:sp>
        <p:nvSpPr>
          <p:cNvPr id="24" name="">
            <a:extLst xmlns:a="http://schemas.openxmlformats.org/drawingml/2006/main">
              <a:ext uri="{FF2B5EF4-FFF2-40B4-BE49-F238E27FC236}">
                <a16:creationId xmlns:a16="http://schemas.microsoft.com/office/drawing/2014/main" id="{169A482A-38EE-4C4D-A014-57896F53815F}"/>
              </a:ext>
            </a:extLst>
          </p:cNvPr>
          <p:cNvSpPr>
            <a:spLocks xmlns:a="http://schemas.openxmlformats.org/drawingml/2006/main" noGrp="1"/>
          </p:cNvSpPr>
          <p:nvPr/>
        </p:nvSpPr>
        <p:spPr>
          <a:xfrm xmlns:a="http://schemas.openxmlformats.org/drawingml/2006/main">
            <a:off x="11049000" y="6457950"/>
            <a:ext cx="47625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08</a:t>
            </a:r>
          </a:p>
        </p:txBody>
      </p:sp>
    </p:spTree>
    <p:extLst>
      <p:ext uri="{BB962C8B-B14F-4D97-AF65-F5344CB8AC3E}">
        <p14:creationId xmlns:p14="http://schemas.microsoft.com/office/powerpoint/2010/main" val="793981408"/>
      </p:ext>
    </p:extLst>
  </p:cSld>
</p:sld>
</file>

<file path=ppt/slides/slide9.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D02C7E2-04BC-439D-985C-0BC85342EB85}"/>
              </a:ext>
            </a:extLst>
          </p:cNvPr>
          <p:cNvSpPr>
            <a:spLocks xmlns:a="http://schemas.openxmlformats.org/drawingml/2006/main" noGrp="1"/>
          </p:cNvSpPr>
          <p:nvPr/>
        </p:nvSpPr>
        <p:spPr>
          <a:xfrm xmlns:a="http://schemas.openxmlformats.org/drawingml/2006/main">
            <a:off x="666750" y="342900"/>
            <a:ext cx="4953000" cy="1905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43A896"/>
                </a:solidFill>
                <a:latin typeface="LM Roman 12"/>
                <a:ea typeface="LM Roman 12"/>
                <a:cs typeface="LM Roman 12"/>
              </a:defRPr>
            </a:pPr>
            <a:r>
              <a:rPr sz="975" b="1">
                <a:solidFill>
                  <a:srgbClr val="43A896"/>
                </a:solidFill>
                <a:latin typeface="LM Roman 12"/>
                <a:ea typeface="LM Roman 12"/>
                <a:cs typeface="LM Roman 12"/>
              </a:rPr>
              <a:t>COMPUTE HETEROGENEITY EVIDENCE</a:t>
            </a:r>
          </a:p>
        </p:txBody>
      </p:sp>
      <p:sp>
        <p:nvSpPr>
          <p:cNvPr id="2" name="">
            <a:extLst xmlns:a="http://schemas.openxmlformats.org/drawingml/2006/main">
              <a:ext uri="{FF2B5EF4-FFF2-40B4-BE49-F238E27FC236}">
                <a16:creationId xmlns:a16="http://schemas.microsoft.com/office/drawing/2014/main" id="{42E3F12C-02A9-4EBE-AEBE-08828267A427}"/>
              </a:ext>
            </a:extLst>
          </p:cNvPr>
          <p:cNvSpPr>
            <a:spLocks xmlns:a="http://schemas.openxmlformats.org/drawingml/2006/main" noGrp="1"/>
          </p:cNvSpPr>
          <p:nvPr/>
        </p:nvSpPr>
        <p:spPr>
          <a:xfrm xmlns:a="http://schemas.openxmlformats.org/drawingml/2006/main">
            <a:off x="666750" y="590550"/>
            <a:ext cx="9239250" cy="6477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71F46"/>
                </a:solidFill>
                <a:latin typeface="LM Roman 12"/>
                <a:ea typeface="LM Roman 12"/>
                <a:cs typeface="LM Roman 12"/>
              </a:defRPr>
            </a:pPr>
            <a:r>
              <a:rPr sz="2250" b="1">
                <a:solidFill>
                  <a:srgbClr val="071F46"/>
                </a:solidFill>
                <a:latin typeface="LM Roman 12"/>
                <a:ea typeface="LM Roman 12"/>
                <a:cs typeface="LM Roman 12"/>
              </a:rPr>
              <a:t>Submodel Quality-Speed Frontier</a:t>
            </a:r>
          </a:p>
        </p:txBody>
      </p:sp>
      <p:sp>
        <p:nvSpPr>
          <p:cNvPr id="3" name="">
            <a:extLst xmlns:a="http://schemas.openxmlformats.org/drawingml/2006/main">
              <a:ext uri="{FF2B5EF4-FFF2-40B4-BE49-F238E27FC236}">
                <a16:creationId xmlns:a16="http://schemas.microsoft.com/office/drawing/2014/main" id="{E93D6578-3530-4490-826D-48095B6C7747}"/>
              </a:ext>
            </a:extLst>
          </p:cNvPr>
          <p:cNvSpPr>
            <a:spLocks xmlns:a="http://schemas.openxmlformats.org/drawingml/2006/main" noGrp="1"/>
          </p:cNvSpPr>
          <p:nvPr/>
        </p:nvSpPr>
        <p:spPr>
          <a:xfrm xmlns:a="http://schemas.openxmlformats.org/drawingml/2006/main">
            <a:off x="666750" y="1005840"/>
            <a:ext cx="1143000" cy="47625"/>
          </a:xfrm>
          <a:prstGeom xmlns:a="http://schemas.openxmlformats.org/drawingml/2006/main" prst="rect">
            <a:avLst/>
          </a:prstGeom>
          <a:solidFill xmlns:a="http://schemas.openxmlformats.org/drawingml/2006/main">
            <a:srgbClr val="F3C43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CB756033-7611-4748-A791-EAA600A518B1}"/>
              </a:ext>
            </a:extLst>
          </p:cNvPr>
          <p:cNvSpPr>
            <a:spLocks xmlns:a="http://schemas.openxmlformats.org/drawingml/2006/main" noGrp="1"/>
          </p:cNvSpPr>
          <p:nvPr/>
        </p:nvSpPr>
        <p:spPr>
          <a:xfrm xmlns:a="http://schemas.openxmlformats.org/drawingml/2006/main">
            <a:off x="666750" y="1257300"/>
            <a:ext cx="10858500" cy="285750"/>
          </a:xfrm>
          <a:prstGeom xmlns:a="http://schemas.openxmlformats.org/drawingml/2006/main" prst="roundRect">
            <a:avLst>
              <a:gd name="adj" fmla="val 20000"/>
            </a:avLst>
          </a:prstGeom>
          <a:solidFill xmlns:a="http://schemas.openxmlformats.org/drawingml/2006/main">
            <a:srgbClr val="F8FAFC"/>
          </a:solidFill>
          <a:ln xmlns:a="http://schemas.openxmlformats.org/drawingml/2006/main" w="9525">
            <a:solidFill>
              <a:srgbClr val="D5DCE8"/>
            </a:solidFill>
            <a:prstDash val="solid"/>
          </a:ln>
        </p:spPr>
      </p:sp>
      <p:sp>
        <p:nvSpPr>
          <p:cNvPr id="5" name="">
            <a:extLst xmlns:a="http://schemas.openxmlformats.org/drawingml/2006/main">
              <a:ext uri="{FF2B5EF4-FFF2-40B4-BE49-F238E27FC236}">
                <a16:creationId xmlns:a16="http://schemas.microsoft.com/office/drawing/2014/main" id="{4EE25313-7F99-4F27-8D5A-444F1B7C3C5F}"/>
              </a:ext>
            </a:extLst>
          </p:cNvPr>
          <p:cNvSpPr>
            <a:spLocks xmlns:a="http://schemas.openxmlformats.org/drawingml/2006/main" noGrp="1"/>
          </p:cNvSpPr>
          <p:nvPr/>
        </p:nvSpPr>
        <p:spPr>
          <a:xfrm xmlns:a="http://schemas.openxmlformats.org/drawingml/2006/main">
            <a:off x="666750" y="1257300"/>
            <a:ext cx="66675" cy="285750"/>
          </a:xfrm>
          <a:prstGeom xmlns:a="http://schemas.openxmlformats.org/drawingml/2006/main" prst="roundRect">
            <a:avLst>
              <a:gd name="adj" fmla="val 50000"/>
            </a:avLst>
          </a:prstGeom>
          <a:solidFill xmlns:a="http://schemas.openxmlformats.org/drawingml/2006/main">
            <a:srgbClr val="43A896"/>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061B1C83-1D61-4BB2-B362-B89B23E9DD32}"/>
              </a:ext>
            </a:extLst>
          </p:cNvPr>
          <p:cNvSpPr>
            <a:spLocks xmlns:a="http://schemas.openxmlformats.org/drawingml/2006/main" noGrp="1"/>
          </p:cNvSpPr>
          <p:nvPr/>
        </p:nvSpPr>
        <p:spPr>
          <a:xfrm xmlns:a="http://schemas.openxmlformats.org/drawingml/2006/main">
            <a:off x="895350" y="1304925"/>
            <a:ext cx="514350" cy="190500"/>
          </a:xfrm>
          <a:prstGeom xmlns:a="http://schemas.openxmlformats.org/drawingml/2006/main" prst="roundRect">
            <a:avLst>
              <a:gd name="adj" fmla="val 25000"/>
            </a:avLst>
          </a:prstGeom>
          <a:solidFill xmlns:a="http://schemas.openxmlformats.org/drawingml/2006/main">
            <a:srgbClr val="EEF2F7"/>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703F3766-D611-4E0B-94A4-D7732AA0BB5E}"/>
              </a:ext>
            </a:extLst>
          </p:cNvPr>
          <p:cNvSpPr>
            <a:spLocks xmlns:a="http://schemas.openxmlformats.org/drawingml/2006/main" noGrp="1"/>
          </p:cNvSpPr>
          <p:nvPr/>
        </p:nvSpPr>
        <p:spPr>
          <a:xfrm xmlns:a="http://schemas.openxmlformats.org/drawingml/2006/main">
            <a:off x="990600" y="1333500"/>
            <a:ext cx="323850" cy="1333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43A896"/>
                </a:solidFill>
                <a:latin typeface="LM Roman 12"/>
                <a:ea typeface="LM Roman 12"/>
                <a:cs typeface="LM Roman 12"/>
              </a:defRPr>
            </a:pPr>
            <a:r>
              <a:rPr sz="863" b="1">
                <a:solidFill>
                  <a:srgbClr val="43A896"/>
                </a:solidFill>
                <a:latin typeface="LM Roman 12"/>
                <a:ea typeface="LM Roman 12"/>
                <a:cs typeface="LM Roman 12"/>
              </a:rPr>
              <a:t>C2</a:t>
            </a:r>
          </a:p>
        </p:txBody>
      </p:sp>
      <p:sp>
        <p:nvSpPr>
          <p:cNvPr id="8" name="">
            <a:extLst xmlns:a="http://schemas.openxmlformats.org/drawingml/2006/main">
              <a:ext uri="{FF2B5EF4-FFF2-40B4-BE49-F238E27FC236}">
                <a16:creationId xmlns:a16="http://schemas.microsoft.com/office/drawing/2014/main" id="{7AC1BD0C-203C-4F38-9630-DFB880598728}"/>
              </a:ext>
            </a:extLst>
          </p:cNvPr>
          <p:cNvSpPr>
            <a:spLocks xmlns:a="http://schemas.openxmlformats.org/drawingml/2006/main" noGrp="1"/>
          </p:cNvSpPr>
          <p:nvPr/>
        </p:nvSpPr>
        <p:spPr>
          <a:xfrm xmlns:a="http://schemas.openxmlformats.org/drawingml/2006/main">
            <a:off x="1543050" y="1323975"/>
            <a:ext cx="9810750" cy="1524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5B6472"/>
                </a:solidFill>
                <a:latin typeface="LM Roman 12"/>
                <a:ea typeface="LM Roman 12"/>
                <a:cs typeface="LM Roman 12"/>
              </a:defRPr>
            </a:pPr>
            <a:r>
              <a:rPr sz="863" b="1">
                <a:solidFill>
                  <a:srgbClr val="5B6472"/>
                </a:solidFill>
                <a:latin typeface="LM Roman 12"/>
                <a:ea typeface="LM Roman 12"/>
                <a:cs typeface="LM Roman 12"/>
              </a:rPr>
              <a:t>20 logical clients  |  10 rpi4 + 10 rpi5  |  rates 1/8, 1/4, 1/2, 1  |  California Housing, Fashion-MNIST, CIFAR-10</a:t>
            </a:r>
          </a:p>
        </p:txBody>
      </p:sp>
      <p:sp>
        <p:nvSpPr>
          <p:cNvPr id="9" name="">
            <a:extLst xmlns:a="http://schemas.openxmlformats.org/drawingml/2006/main">
              <a:ext uri="{FF2B5EF4-FFF2-40B4-BE49-F238E27FC236}">
                <a16:creationId xmlns:a16="http://schemas.microsoft.com/office/drawing/2014/main" id="{E4EB4455-6818-45CE-8618-FF23CDAF4517}"/>
              </a:ext>
            </a:extLst>
          </p:cNvPr>
          <p:cNvSpPr>
            <a:spLocks xmlns:a="http://schemas.openxmlformats.org/drawingml/2006/main" noGrp="1"/>
          </p:cNvSpPr>
          <p:nvPr/>
        </p:nvSpPr>
        <p:spPr>
          <a:xfrm xmlns:a="http://schemas.openxmlformats.org/drawingml/2006/main">
            <a:off x="666750" y="1676400"/>
            <a:ext cx="7239000" cy="3695700"/>
          </a:xfrm>
          <a:prstGeom xmlns:a="http://schemas.openxmlformats.org/drawingml/2006/main" prst="roundRect">
            <a:avLst>
              <a:gd name="adj" fmla="val 1804"/>
            </a:avLst>
          </a:prstGeom>
          <a:solidFill xmlns:a="http://schemas.openxmlformats.org/drawingml/2006/main">
            <a:srgbClr val="FFFFFF"/>
          </a:solidFill>
          <a:ln xmlns:a="http://schemas.openxmlformats.org/drawingml/2006/main" w="9525">
            <a:solidFill>
              <a:srgbClr val="D5DCE8"/>
            </a:solid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eab7447f2754de1"/>
          <a:stretch xmlns:a="http://schemas.openxmlformats.org/drawingml/2006/main"/>
        </p:blipFill>
        <p:spPr>
          <a:xfrm xmlns:a="http://schemas.openxmlformats.org/drawingml/2006/main">
            <a:off x="876300" y="1971300"/>
            <a:ext cx="6819900" cy="24772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59BAC66E-B6E9-4D0E-BB03-B6C2BE9052E2}"/>
              </a:ext>
            </a:extLst>
          </p:cNvPr>
          <p:cNvSpPr>
            <a:spLocks xmlns:a="http://schemas.openxmlformats.org/drawingml/2006/main" noGrp="1"/>
          </p:cNvSpPr>
          <p:nvPr/>
        </p:nvSpPr>
        <p:spPr>
          <a:xfrm xmlns:a="http://schemas.openxmlformats.org/drawingml/2006/main">
            <a:off x="1028700" y="4724400"/>
            <a:ext cx="6515100" cy="4000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5B6472"/>
                </a:solidFill>
                <a:latin typeface="LM Roman 12"/>
                <a:ea typeface="LM Roman 12"/>
                <a:cs typeface="LM Roman 12"/>
              </a:defRPr>
            </a:pPr>
            <a:r>
              <a:rPr sz="900" b="0">
                <a:solidFill>
                  <a:srgbClr val="5B6472"/>
                </a:solidFill>
                <a:latin typeface="LM Roman 12"/>
                <a:ea typeface="LM Roman 12"/>
                <a:cs typeface="LM Roman 12"/>
              </a:rPr>
              <a:t>x-axis is wall-clock speedup over FedAvg; y-axis is global score change, so each point exposes a quality-speed trade-off.</a:t>
            </a:r>
          </a:p>
        </p:txBody>
      </p:sp>
      <p:sp>
        <p:nvSpPr>
          <p:cNvPr id="12" name="">
            <a:extLst xmlns:a="http://schemas.openxmlformats.org/drawingml/2006/main">
              <a:ext uri="{FF2B5EF4-FFF2-40B4-BE49-F238E27FC236}">
                <a16:creationId xmlns:a16="http://schemas.microsoft.com/office/drawing/2014/main" id="{9D1472E9-364C-4743-8E77-784D9838C49E}"/>
              </a:ext>
            </a:extLst>
          </p:cNvPr>
          <p:cNvSpPr>
            <a:spLocks xmlns:a="http://schemas.openxmlformats.org/drawingml/2006/main" noGrp="1"/>
          </p:cNvSpPr>
          <p:nvPr/>
        </p:nvSpPr>
        <p:spPr>
          <a:xfrm xmlns:a="http://schemas.openxmlformats.org/drawingml/2006/main">
            <a:off x="8001000" y="1676400"/>
            <a:ext cx="3524250" cy="2076450"/>
          </a:xfrm>
          <a:prstGeom xmlns:a="http://schemas.openxmlformats.org/drawingml/2006/main" prst="roundRect">
            <a:avLst>
              <a:gd name="adj" fmla="val 3211"/>
            </a:avLst>
          </a:prstGeom>
          <a:solidFill xmlns:a="http://schemas.openxmlformats.org/drawingml/2006/main">
            <a:srgbClr val="FFFFFF"/>
          </a:solidFill>
          <a:ln xmlns:a="http://schemas.openxmlformats.org/drawingml/2006/main" w="9525">
            <a:solidFill>
              <a:srgbClr val="D5DCE8"/>
            </a:solidFill>
            <a:prstDash val="solid"/>
          </a:ln>
        </p:spPr>
      </p:sp>
      <p:sp>
        <p:nvSpPr>
          <p:cNvPr id="13" name="">
            <a:extLst xmlns:a="http://schemas.openxmlformats.org/drawingml/2006/main">
              <a:ext uri="{FF2B5EF4-FFF2-40B4-BE49-F238E27FC236}">
                <a16:creationId xmlns:a16="http://schemas.microsoft.com/office/drawing/2014/main" id="{27A63A9F-6109-4780-8FF4-A75A14557570}"/>
              </a:ext>
            </a:extLst>
          </p:cNvPr>
          <p:cNvSpPr>
            <a:spLocks xmlns:a="http://schemas.openxmlformats.org/drawingml/2006/main" noGrp="1"/>
          </p:cNvSpPr>
          <p:nvPr/>
        </p:nvSpPr>
        <p:spPr>
          <a:xfrm xmlns:a="http://schemas.openxmlformats.org/drawingml/2006/main">
            <a:off x="8210550" y="1809750"/>
            <a:ext cx="310515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71F46"/>
                </a:solidFill>
                <a:latin typeface="LM Roman 12"/>
                <a:ea typeface="LM Roman 12"/>
                <a:cs typeface="LM Roman 12"/>
              </a:defRPr>
            </a:pPr>
            <a:r>
              <a:rPr sz="1350" b="1">
                <a:solidFill>
                  <a:srgbClr val="071F46"/>
                </a:solidFill>
                <a:latin typeface="LM Roman 12"/>
                <a:ea typeface="LM Roman 12"/>
                <a:cs typeface="LM Roman 12"/>
              </a:rPr>
              <a:t>Rate assignment</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23488a36881478e">
            <a:extLst>
              <a:ext uri="{96DAC541-7B7A-43D3-8B79-37D633B846F1}">
                <asvg:svgBlip xmlns:asvg="http://schemas.microsoft.com/office/drawing/2016/SVG/main" r:embed="Rdb79c3e8d10c44f7"/>
              </a:ext>
            </a:extLst>
          </a:blip>
          <a:stretch xmlns:a="http://schemas.openxmlformats.org/drawingml/2006/main"/>
        </p:blipFill>
        <p:spPr>
          <a:xfrm xmlns:a="http://schemas.openxmlformats.org/drawingml/2006/main">
            <a:off x="8261679" y="2095500"/>
            <a:ext cx="3002892" cy="12573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E52B922F-16FC-40C7-8A66-660AE0A32D18}"/>
              </a:ext>
            </a:extLst>
          </p:cNvPr>
          <p:cNvSpPr>
            <a:spLocks xmlns:a="http://schemas.openxmlformats.org/drawingml/2006/main" noGrp="1"/>
          </p:cNvSpPr>
          <p:nvPr/>
        </p:nvSpPr>
        <p:spPr>
          <a:xfrm xmlns:a="http://schemas.openxmlformats.org/drawingml/2006/main">
            <a:off x="8210550" y="3371850"/>
            <a:ext cx="3105150" cy="3048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5B6472"/>
                </a:solidFill>
                <a:latin typeface="LM Roman 12"/>
                <a:ea typeface="LM Roman 12"/>
                <a:cs typeface="LM Roman 12"/>
              </a:defRPr>
            </a:pPr>
            <a:r>
              <a:rPr sz="900" b="0">
                <a:solidFill>
                  <a:srgbClr val="5B6472"/>
                </a:solidFill>
                <a:latin typeface="LM Roman 12"/>
                <a:ea typeface="LM Roman 12"/>
                <a:cs typeface="LM Roman 12"/>
              </a:rPr>
              <a:t>Four configured rates map weak clients to smaller trainable submodels.</a:t>
            </a:r>
          </a:p>
        </p:txBody>
      </p:sp>
      <p:sp>
        <p:nvSpPr>
          <p:cNvPr id="16" name="">
            <a:extLst xmlns:a="http://schemas.openxmlformats.org/drawingml/2006/main">
              <a:ext uri="{FF2B5EF4-FFF2-40B4-BE49-F238E27FC236}">
                <a16:creationId xmlns:a16="http://schemas.microsoft.com/office/drawing/2014/main" id="{C052F405-80B2-424C-99BB-55E487862606}"/>
              </a:ext>
            </a:extLst>
          </p:cNvPr>
          <p:cNvSpPr>
            <a:spLocks xmlns:a="http://schemas.openxmlformats.org/drawingml/2006/main" noGrp="1"/>
          </p:cNvSpPr>
          <p:nvPr/>
        </p:nvSpPr>
        <p:spPr>
          <a:xfrm xmlns:a="http://schemas.openxmlformats.org/drawingml/2006/main">
            <a:off x="8172450" y="3943350"/>
            <a:ext cx="3143250" cy="2667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71F46"/>
                </a:solidFill>
                <a:latin typeface="LM Roman 12"/>
                <a:ea typeface="LM Roman 12"/>
                <a:cs typeface="LM Roman 12"/>
              </a:defRPr>
            </a:pPr>
            <a:r>
              <a:rPr sz="1650" b="1">
                <a:solidFill>
                  <a:srgbClr val="071F46"/>
                </a:solidFill>
                <a:latin typeface="LM Roman 12"/>
                <a:ea typeface="LM Roman 12"/>
                <a:cs typeface="LM Roman 12"/>
              </a:rPr>
              <a:t>Interpretation</a:t>
            </a:r>
          </a:p>
        </p:txBody>
      </p:sp>
      <p:sp>
        <p:nvSpPr>
          <p:cNvPr id="17" name="">
            <a:extLst xmlns:a="http://schemas.openxmlformats.org/drawingml/2006/main">
              <a:ext uri="{FF2B5EF4-FFF2-40B4-BE49-F238E27FC236}">
                <a16:creationId xmlns:a16="http://schemas.microsoft.com/office/drawing/2014/main" id="{E26774F4-3B65-476A-8DC4-684F24662571}"/>
              </a:ext>
            </a:extLst>
          </p:cNvPr>
          <p:cNvSpPr>
            <a:spLocks xmlns:a="http://schemas.openxmlformats.org/drawingml/2006/main" noGrp="1"/>
          </p:cNvSpPr>
          <p:nvPr/>
        </p:nvSpPr>
        <p:spPr>
          <a:xfrm xmlns:a="http://schemas.openxmlformats.org/drawingml/2006/main">
            <a:off x="8210550" y="4362450"/>
            <a:ext cx="76200" cy="76200"/>
          </a:xfrm>
          <a:prstGeom xmlns:a="http://schemas.openxmlformats.org/drawingml/2006/main" prst="roundRect">
            <a:avLst>
              <a:gd name="adj" fmla="val 50000"/>
            </a:avLst>
          </a:prstGeom>
          <a:solidFill xmlns:a="http://schemas.openxmlformats.org/drawingml/2006/main">
            <a:srgbClr val="F3C432"/>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2CDB3716-8E5A-4422-B5AD-CA6E357C5955}"/>
              </a:ext>
            </a:extLst>
          </p:cNvPr>
          <p:cNvSpPr>
            <a:spLocks xmlns:a="http://schemas.openxmlformats.org/drawingml/2006/main" noGrp="1"/>
          </p:cNvSpPr>
          <p:nvPr/>
        </p:nvSpPr>
        <p:spPr>
          <a:xfrm xmlns:a="http://schemas.openxmlformats.org/drawingml/2006/main">
            <a:off x="8420100" y="4286250"/>
            <a:ext cx="2933700" cy="4000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11827"/>
                </a:solidFill>
                <a:latin typeface="LM Roman 12"/>
                <a:ea typeface="LM Roman 12"/>
                <a:cs typeface="LM Roman 12"/>
              </a:defRPr>
            </a:pPr>
            <a:r>
              <a:rPr sz="975" b="0">
                <a:solidFill>
                  <a:srgbClr val="111827"/>
                </a:solidFill>
                <a:latin typeface="LM Roman 12"/>
                <a:ea typeface="LM Roman 12"/>
                <a:cs typeface="LM Roman 12"/>
              </a:rPr>
              <a:t>FIARSE gives strongest deployable submodel quality.</a:t>
            </a:r>
          </a:p>
        </p:txBody>
      </p:sp>
      <p:sp>
        <p:nvSpPr>
          <p:cNvPr id="19" name="">
            <a:extLst xmlns:a="http://schemas.openxmlformats.org/drawingml/2006/main">
              <a:ext uri="{FF2B5EF4-FFF2-40B4-BE49-F238E27FC236}">
                <a16:creationId xmlns:a16="http://schemas.microsoft.com/office/drawing/2014/main" id="{5C7161B9-4C05-4F53-A731-A57ECA5B41C3}"/>
              </a:ext>
            </a:extLst>
          </p:cNvPr>
          <p:cNvSpPr>
            <a:spLocks xmlns:a="http://schemas.openxmlformats.org/drawingml/2006/main" noGrp="1"/>
          </p:cNvSpPr>
          <p:nvPr/>
        </p:nvSpPr>
        <p:spPr>
          <a:xfrm xmlns:a="http://schemas.openxmlformats.org/drawingml/2006/main">
            <a:off x="8210550" y="4781550"/>
            <a:ext cx="76200" cy="76200"/>
          </a:xfrm>
          <a:prstGeom xmlns:a="http://schemas.openxmlformats.org/drawingml/2006/main" prst="roundRect">
            <a:avLst>
              <a:gd name="adj" fmla="val 50000"/>
            </a:avLst>
          </a:prstGeom>
          <a:solidFill xmlns:a="http://schemas.openxmlformats.org/drawingml/2006/main">
            <a:srgbClr val="F3C432"/>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FB60BB7F-A170-40E8-9A9A-8CF719BD482F}"/>
              </a:ext>
            </a:extLst>
          </p:cNvPr>
          <p:cNvSpPr>
            <a:spLocks xmlns:a="http://schemas.openxmlformats.org/drawingml/2006/main" noGrp="1"/>
          </p:cNvSpPr>
          <p:nvPr/>
        </p:nvSpPr>
        <p:spPr>
          <a:xfrm xmlns:a="http://schemas.openxmlformats.org/drawingml/2006/main">
            <a:off x="8420100" y="4705350"/>
            <a:ext cx="2933700" cy="4000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11827"/>
                </a:solidFill>
                <a:latin typeface="LM Roman 12"/>
                <a:ea typeface="LM Roman 12"/>
                <a:cs typeface="LM Roman 12"/>
              </a:defRPr>
            </a:pPr>
            <a:r>
              <a:rPr sz="975" b="0">
                <a:solidFill>
                  <a:srgbClr val="111827"/>
                </a:solidFill>
                <a:latin typeface="LM Roman 12"/>
                <a:ea typeface="LM Roman 12"/>
                <a:cs typeface="LM Roman 12"/>
              </a:rPr>
              <a:t>HeteroFL and FedRolex give clearer image-task wall-clock savings.</a:t>
            </a:r>
          </a:p>
        </p:txBody>
      </p:sp>
      <p:sp>
        <p:nvSpPr>
          <p:cNvPr id="21" name="">
            <a:extLst xmlns:a="http://schemas.openxmlformats.org/drawingml/2006/main">
              <a:ext uri="{FF2B5EF4-FFF2-40B4-BE49-F238E27FC236}">
                <a16:creationId xmlns:a16="http://schemas.microsoft.com/office/drawing/2014/main" id="{68CB5924-F71E-4DFD-987B-F23E2736068C}"/>
              </a:ext>
            </a:extLst>
          </p:cNvPr>
          <p:cNvSpPr>
            <a:spLocks xmlns:a="http://schemas.openxmlformats.org/drawingml/2006/main" noGrp="1"/>
          </p:cNvSpPr>
          <p:nvPr/>
        </p:nvSpPr>
        <p:spPr>
          <a:xfrm xmlns:a="http://schemas.openxmlformats.org/drawingml/2006/main">
            <a:off x="8210550" y="5200650"/>
            <a:ext cx="76200" cy="76200"/>
          </a:xfrm>
          <a:prstGeom xmlns:a="http://schemas.openxmlformats.org/drawingml/2006/main" prst="roundRect">
            <a:avLst>
              <a:gd name="adj" fmla="val 50000"/>
            </a:avLst>
          </a:prstGeom>
          <a:solidFill xmlns:a="http://schemas.openxmlformats.org/drawingml/2006/main">
            <a:srgbClr val="F3C432"/>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B630611D-0AD2-4903-8460-8FE0FC060B7B}"/>
              </a:ext>
            </a:extLst>
          </p:cNvPr>
          <p:cNvSpPr>
            <a:spLocks xmlns:a="http://schemas.openxmlformats.org/drawingml/2006/main" noGrp="1"/>
          </p:cNvSpPr>
          <p:nvPr/>
        </p:nvSpPr>
        <p:spPr>
          <a:xfrm xmlns:a="http://schemas.openxmlformats.org/drawingml/2006/main">
            <a:off x="8420100" y="5124450"/>
            <a:ext cx="2933700" cy="4000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11827"/>
                </a:solidFill>
                <a:latin typeface="LM Roman 12"/>
                <a:ea typeface="LM Roman 12"/>
                <a:cs typeface="LM Roman 12"/>
              </a:defRPr>
            </a:pPr>
            <a:r>
              <a:rPr sz="975" b="0">
                <a:solidFill>
                  <a:srgbClr val="111827"/>
                </a:solidFill>
                <a:latin typeface="LM Roman 12"/>
                <a:ea typeface="LM Roman 12"/>
                <a:cs typeface="LM Roman 12"/>
              </a:rPr>
              <a:t>FedAvg is the full-model quality control, not deployment-neutral.</a:t>
            </a:r>
          </a:p>
        </p:txBody>
      </p:sp>
      <p:sp>
        <p:nvSpPr>
          <p:cNvPr id="23" name="">
            <a:extLst xmlns:a="http://schemas.openxmlformats.org/drawingml/2006/main">
              <a:ext uri="{FF2B5EF4-FFF2-40B4-BE49-F238E27FC236}">
                <a16:creationId xmlns:a16="http://schemas.microsoft.com/office/drawing/2014/main" id="{B8C946A0-C63A-476C-B9B6-2E654668878C}"/>
              </a:ext>
            </a:extLst>
          </p:cNvPr>
          <p:cNvSpPr>
            <a:spLocks xmlns:a="http://schemas.openxmlformats.org/drawingml/2006/main" noGrp="1"/>
          </p:cNvSpPr>
          <p:nvPr/>
        </p:nvSpPr>
        <p:spPr>
          <a:xfrm xmlns:a="http://schemas.openxmlformats.org/drawingml/2006/main">
            <a:off x="8172450" y="5619750"/>
            <a:ext cx="3143250" cy="4000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Read the chart as a frontier: speed, score, and local utility pull in different directions.</a:t>
            </a:r>
          </a:p>
        </p:txBody>
      </p:sp>
      <p:sp>
        <p:nvSpPr>
          <p:cNvPr id="24" name="">
            <a:extLst xmlns:a="http://schemas.openxmlformats.org/drawingml/2006/main">
              <a:ext uri="{FF2B5EF4-FFF2-40B4-BE49-F238E27FC236}">
                <a16:creationId xmlns:a16="http://schemas.microsoft.com/office/drawing/2014/main" id="{12FE61FD-247A-4F85-9AC2-00806877D5EB}"/>
              </a:ext>
            </a:extLst>
          </p:cNvPr>
          <p:cNvSpPr>
            <a:spLocks xmlns:a="http://schemas.openxmlformats.org/drawingml/2006/main" noGrp="1"/>
          </p:cNvSpPr>
          <p:nvPr/>
        </p:nvSpPr>
        <p:spPr>
          <a:xfrm xmlns:a="http://schemas.openxmlformats.org/drawingml/2006/main">
            <a:off x="666750" y="6296025"/>
            <a:ext cx="10858500" cy="9525"/>
          </a:xfrm>
          <a:prstGeom xmlns:a="http://schemas.openxmlformats.org/drawingml/2006/main" prst="rect">
            <a:avLst/>
          </a:prstGeom>
          <a:solidFill xmlns:a="http://schemas.openxmlformats.org/drawingml/2006/main">
            <a:srgbClr val="E6EBF3"/>
          </a:solidFill>
          <a:ln xmlns:a="http://schemas.openxmlformats.org/drawingml/2006/main" w="0">
            <a:solidFill>
              <a:srgbClr val="000000">
                <a:alpha val="0"/>
              </a:srgbClr>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ac76ac4bf9cb47a4"/>
          <a:stretch xmlns:a="http://schemas.openxmlformats.org/drawingml/2006/main"/>
        </p:blipFill>
        <p:spPr>
          <a:xfrm xmlns:a="http://schemas.openxmlformats.org/drawingml/2006/main">
            <a:off x="666977" y="6429375"/>
            <a:ext cx="269103" cy="228600"/>
          </a:xfrm>
          <a:prstGeom xmlns:a="http://schemas.openxmlformats.org/drawingml/2006/main" prst="rect">
            <a:avLst/>
          </a:prstGeom>
        </p:spPr>
      </p:pic>
      <p:sp>
        <p:nvSpPr>
          <p:cNvPr id="26" name="">
            <a:extLst xmlns:a="http://schemas.openxmlformats.org/drawingml/2006/main">
              <a:ext uri="{FF2B5EF4-FFF2-40B4-BE49-F238E27FC236}">
                <a16:creationId xmlns:a16="http://schemas.microsoft.com/office/drawing/2014/main" id="{0D0FD1BA-B6CD-4E72-B26E-8192E0110900}"/>
              </a:ext>
            </a:extLst>
          </p:cNvPr>
          <p:cNvSpPr>
            <a:spLocks xmlns:a="http://schemas.openxmlformats.org/drawingml/2006/main" noGrp="1"/>
          </p:cNvSpPr>
          <p:nvPr/>
        </p:nvSpPr>
        <p:spPr>
          <a:xfrm xmlns:a="http://schemas.openxmlformats.org/drawingml/2006/main">
            <a:off x="990600" y="6457950"/>
            <a:ext cx="400050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C2: quality-speed frontier</a:t>
            </a:r>
          </a:p>
        </p:txBody>
      </p:sp>
      <p:sp>
        <p:nvSpPr>
          <p:cNvPr id="27" name="">
            <a:extLst xmlns:a="http://schemas.openxmlformats.org/drawingml/2006/main">
              <a:ext uri="{FF2B5EF4-FFF2-40B4-BE49-F238E27FC236}">
                <a16:creationId xmlns:a16="http://schemas.microsoft.com/office/drawing/2014/main" id="{64B43C66-63D6-458F-AA43-3E72B1037C0B}"/>
              </a:ext>
            </a:extLst>
          </p:cNvPr>
          <p:cNvSpPr>
            <a:spLocks xmlns:a="http://schemas.openxmlformats.org/drawingml/2006/main" noGrp="1"/>
          </p:cNvSpPr>
          <p:nvPr/>
        </p:nvSpPr>
        <p:spPr>
          <a:xfrm xmlns:a="http://schemas.openxmlformats.org/drawingml/2006/main">
            <a:off x="11049000" y="6457950"/>
            <a:ext cx="47625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09</a:t>
            </a:r>
          </a:p>
        </p:txBody>
      </p:sp>
    </p:spTree>
    <p:extLst>
      <p:ext uri="{BB962C8B-B14F-4D97-AF65-F5344CB8AC3E}">
        <p14:creationId xmlns:p14="http://schemas.microsoft.com/office/powerpoint/2010/main" val="1348397418"/>
      </p:ext>
    </p:extLst>
  </p:cSld>
</p:sld>
</file>

<file path=ppt/slides/slide10.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D71902D-41C3-452C-AC9B-D26554C81EEB}"/>
              </a:ext>
            </a:extLst>
          </p:cNvPr>
          <p:cNvSpPr>
            <a:spLocks xmlns:a="http://schemas.openxmlformats.org/drawingml/2006/main" noGrp="1"/>
          </p:cNvSpPr>
          <p:nvPr/>
        </p:nvSpPr>
        <p:spPr>
          <a:xfrm xmlns:a="http://schemas.openxmlformats.org/drawingml/2006/main">
            <a:off x="666750" y="342900"/>
            <a:ext cx="4953000" cy="1905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43A896"/>
                </a:solidFill>
                <a:latin typeface="LM Roman 12"/>
                <a:ea typeface="LM Roman 12"/>
                <a:cs typeface="LM Roman 12"/>
              </a:defRPr>
            </a:pPr>
            <a:r>
              <a:rPr sz="975" b="1">
                <a:solidFill>
                  <a:srgbClr val="43A896"/>
                </a:solidFill>
                <a:latin typeface="LM Roman 12"/>
                <a:ea typeface="LM Roman 12"/>
                <a:cs typeface="LM Roman 12"/>
              </a:rPr>
              <a:t>COMPUTE DIAGNOSTIC</a:t>
            </a:r>
          </a:p>
        </p:txBody>
      </p:sp>
      <p:sp>
        <p:nvSpPr>
          <p:cNvPr id="2" name="">
            <a:extLst xmlns:a="http://schemas.openxmlformats.org/drawingml/2006/main">
              <a:ext uri="{FF2B5EF4-FFF2-40B4-BE49-F238E27FC236}">
                <a16:creationId xmlns:a16="http://schemas.microsoft.com/office/drawing/2014/main" id="{B0AAB335-EDB7-4115-8E4D-9DF97FC8B649}"/>
              </a:ext>
            </a:extLst>
          </p:cNvPr>
          <p:cNvSpPr>
            <a:spLocks xmlns:a="http://schemas.openxmlformats.org/drawingml/2006/main" noGrp="1"/>
          </p:cNvSpPr>
          <p:nvPr/>
        </p:nvSpPr>
        <p:spPr>
          <a:xfrm xmlns:a="http://schemas.openxmlformats.org/drawingml/2006/main">
            <a:off x="666750" y="590550"/>
            <a:ext cx="9239250" cy="6477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71F46"/>
                </a:solidFill>
                <a:latin typeface="LM Roman 12"/>
                <a:ea typeface="LM Roman 12"/>
                <a:cs typeface="LM Roman 12"/>
              </a:defRPr>
            </a:pPr>
            <a:r>
              <a:rPr sz="2250" b="1">
                <a:solidFill>
                  <a:srgbClr val="071F46"/>
                </a:solidFill>
                <a:latin typeface="LM Roman 12"/>
                <a:ea typeface="LM Roman 12"/>
                <a:cs typeface="LM Roman 12"/>
              </a:rPr>
              <a:t>Submodel Quality Diagnostics</a:t>
            </a:r>
          </a:p>
        </p:txBody>
      </p:sp>
      <p:sp>
        <p:nvSpPr>
          <p:cNvPr id="3" name="">
            <a:extLst xmlns:a="http://schemas.openxmlformats.org/drawingml/2006/main">
              <a:ext uri="{FF2B5EF4-FFF2-40B4-BE49-F238E27FC236}">
                <a16:creationId xmlns:a16="http://schemas.microsoft.com/office/drawing/2014/main" id="{65A5203E-2FAB-4EF9-98B8-C3FC6F0F917A}"/>
              </a:ext>
            </a:extLst>
          </p:cNvPr>
          <p:cNvSpPr>
            <a:spLocks xmlns:a="http://schemas.openxmlformats.org/drawingml/2006/main" noGrp="1"/>
          </p:cNvSpPr>
          <p:nvPr/>
        </p:nvSpPr>
        <p:spPr>
          <a:xfrm xmlns:a="http://schemas.openxmlformats.org/drawingml/2006/main">
            <a:off x="666750" y="1005840"/>
            <a:ext cx="1143000" cy="47625"/>
          </a:xfrm>
          <a:prstGeom xmlns:a="http://schemas.openxmlformats.org/drawingml/2006/main" prst="rect">
            <a:avLst/>
          </a:prstGeom>
          <a:solidFill xmlns:a="http://schemas.openxmlformats.org/drawingml/2006/main">
            <a:srgbClr val="F3C43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AB339E6D-5DA2-45C3-BD19-00FB7EB3D8BB}"/>
              </a:ext>
            </a:extLst>
          </p:cNvPr>
          <p:cNvSpPr>
            <a:spLocks xmlns:a="http://schemas.openxmlformats.org/drawingml/2006/main" noGrp="1"/>
          </p:cNvSpPr>
          <p:nvPr/>
        </p:nvSpPr>
        <p:spPr>
          <a:xfrm xmlns:a="http://schemas.openxmlformats.org/drawingml/2006/main">
            <a:off x="666750" y="1371600"/>
            <a:ext cx="10858500" cy="609600"/>
          </a:xfrm>
          <a:prstGeom xmlns:a="http://schemas.openxmlformats.org/drawingml/2006/main" prst="roundRect">
            <a:avLst>
              <a:gd name="adj" fmla="val 10938"/>
            </a:avLst>
          </a:prstGeom>
          <a:solidFill xmlns:a="http://schemas.openxmlformats.org/drawingml/2006/main">
            <a:srgbClr val="EEF7F5"/>
          </a:solidFill>
          <a:ln xmlns:a="http://schemas.openxmlformats.org/drawingml/2006/main" w="9525">
            <a:solidFill>
              <a:srgbClr val="D5DCE8"/>
            </a:solidFill>
            <a:prstDash val="solid"/>
          </a:ln>
        </p:spPr>
      </p:sp>
      <p:sp>
        <p:nvSpPr>
          <p:cNvPr id="5" name="">
            <a:extLst xmlns:a="http://schemas.openxmlformats.org/drawingml/2006/main">
              <a:ext uri="{FF2B5EF4-FFF2-40B4-BE49-F238E27FC236}">
                <a16:creationId xmlns:a16="http://schemas.microsoft.com/office/drawing/2014/main" id="{2D945E39-EADB-41F1-8A48-6CF80D2CE733}"/>
              </a:ext>
            </a:extLst>
          </p:cNvPr>
          <p:cNvSpPr>
            <a:spLocks xmlns:a="http://schemas.openxmlformats.org/drawingml/2006/main" noGrp="1"/>
          </p:cNvSpPr>
          <p:nvPr/>
        </p:nvSpPr>
        <p:spPr>
          <a:xfrm xmlns:a="http://schemas.openxmlformats.org/drawingml/2006/main">
            <a:off x="666750" y="1371600"/>
            <a:ext cx="76200" cy="609600"/>
          </a:xfrm>
          <a:prstGeom xmlns:a="http://schemas.openxmlformats.org/drawingml/2006/main" prst="roundRect">
            <a:avLst>
              <a:gd name="adj" fmla="val 50000"/>
            </a:avLst>
          </a:prstGeom>
          <a:solidFill xmlns:a="http://schemas.openxmlformats.org/drawingml/2006/main">
            <a:srgbClr val="43A896"/>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86F2A580-EC55-4174-867C-90595D232560}"/>
              </a:ext>
            </a:extLst>
          </p:cNvPr>
          <p:cNvSpPr>
            <a:spLocks xmlns:a="http://schemas.openxmlformats.org/drawingml/2006/main" noGrp="1"/>
          </p:cNvSpPr>
          <p:nvPr/>
        </p:nvSpPr>
        <p:spPr>
          <a:xfrm xmlns:a="http://schemas.openxmlformats.org/drawingml/2006/main">
            <a:off x="895350" y="1428750"/>
            <a:ext cx="10458450" cy="5143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71F46"/>
                </a:solidFill>
                <a:latin typeface="LM Roman 12"/>
                <a:ea typeface="LM Roman 12"/>
                <a:cs typeface="LM Roman 12"/>
              </a:defRPr>
            </a:pPr>
            <a:r>
              <a:rPr sz="1650" b="1">
                <a:solidFill>
                  <a:srgbClr val="071F46"/>
                </a:solidFill>
                <a:latin typeface="LM Roman 12"/>
                <a:ea typeface="LM Roman 12"/>
                <a:cs typeface="LM Roman 12"/>
              </a:rPr>
              <a:t>Local submodel evaluation shows whether weak clients receive usable models, not only whether the global model scores well.</a:t>
            </a:r>
          </a:p>
        </p:txBody>
      </p:sp>
      <p:sp>
        <p:nvSpPr>
          <p:cNvPr id="7" name="">
            <a:extLst xmlns:a="http://schemas.openxmlformats.org/drawingml/2006/main">
              <a:ext uri="{FF2B5EF4-FFF2-40B4-BE49-F238E27FC236}">
                <a16:creationId xmlns:a16="http://schemas.microsoft.com/office/drawing/2014/main" id="{15B7999F-CC30-4D6B-A5AB-465E836904D1}"/>
              </a:ext>
            </a:extLst>
          </p:cNvPr>
          <p:cNvSpPr>
            <a:spLocks xmlns:a="http://schemas.openxmlformats.org/drawingml/2006/main" noGrp="1"/>
          </p:cNvSpPr>
          <p:nvPr/>
        </p:nvSpPr>
        <p:spPr>
          <a:xfrm xmlns:a="http://schemas.openxmlformats.org/drawingml/2006/main">
            <a:off x="666750" y="2000250"/>
            <a:ext cx="10858500" cy="285750"/>
          </a:xfrm>
          <a:prstGeom xmlns:a="http://schemas.openxmlformats.org/drawingml/2006/main" prst="roundRect">
            <a:avLst>
              <a:gd name="adj" fmla="val 20000"/>
            </a:avLst>
          </a:prstGeom>
          <a:solidFill xmlns:a="http://schemas.openxmlformats.org/drawingml/2006/main">
            <a:srgbClr val="F8FAFC"/>
          </a:solidFill>
          <a:ln xmlns:a="http://schemas.openxmlformats.org/drawingml/2006/main" w="9525">
            <a:solidFill>
              <a:srgbClr val="D5DCE8"/>
            </a:solidFill>
            <a:prstDash val="solid"/>
          </a:ln>
        </p:spPr>
      </p:sp>
      <p:sp>
        <p:nvSpPr>
          <p:cNvPr id="8" name="">
            <a:extLst xmlns:a="http://schemas.openxmlformats.org/drawingml/2006/main">
              <a:ext uri="{FF2B5EF4-FFF2-40B4-BE49-F238E27FC236}">
                <a16:creationId xmlns:a16="http://schemas.microsoft.com/office/drawing/2014/main" id="{66C9A5BE-6565-4CF7-B8B2-A56A9FC979E5}"/>
              </a:ext>
            </a:extLst>
          </p:cNvPr>
          <p:cNvSpPr>
            <a:spLocks xmlns:a="http://schemas.openxmlformats.org/drawingml/2006/main" noGrp="1"/>
          </p:cNvSpPr>
          <p:nvPr/>
        </p:nvSpPr>
        <p:spPr>
          <a:xfrm xmlns:a="http://schemas.openxmlformats.org/drawingml/2006/main">
            <a:off x="666750" y="2000250"/>
            <a:ext cx="66675" cy="285750"/>
          </a:xfrm>
          <a:prstGeom xmlns:a="http://schemas.openxmlformats.org/drawingml/2006/main" prst="roundRect">
            <a:avLst>
              <a:gd name="adj" fmla="val 50000"/>
            </a:avLst>
          </a:prstGeom>
          <a:solidFill xmlns:a="http://schemas.openxmlformats.org/drawingml/2006/main">
            <a:srgbClr val="43A896"/>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24517541-470D-49C5-816A-B4A3BAF8EFA8}"/>
              </a:ext>
            </a:extLst>
          </p:cNvPr>
          <p:cNvSpPr>
            <a:spLocks xmlns:a="http://schemas.openxmlformats.org/drawingml/2006/main" noGrp="1"/>
          </p:cNvSpPr>
          <p:nvPr/>
        </p:nvSpPr>
        <p:spPr>
          <a:xfrm xmlns:a="http://schemas.openxmlformats.org/drawingml/2006/main">
            <a:off x="895350" y="2047875"/>
            <a:ext cx="514350" cy="190500"/>
          </a:xfrm>
          <a:prstGeom xmlns:a="http://schemas.openxmlformats.org/drawingml/2006/main" prst="roundRect">
            <a:avLst>
              <a:gd name="adj" fmla="val 25000"/>
            </a:avLst>
          </a:prstGeom>
          <a:solidFill xmlns:a="http://schemas.openxmlformats.org/drawingml/2006/main">
            <a:srgbClr val="EEF2F7"/>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9713B18F-58CE-4210-8024-29148F39EA04}"/>
              </a:ext>
            </a:extLst>
          </p:cNvPr>
          <p:cNvSpPr>
            <a:spLocks xmlns:a="http://schemas.openxmlformats.org/drawingml/2006/main" noGrp="1"/>
          </p:cNvSpPr>
          <p:nvPr/>
        </p:nvSpPr>
        <p:spPr>
          <a:xfrm xmlns:a="http://schemas.openxmlformats.org/drawingml/2006/main">
            <a:off x="990600" y="2076450"/>
            <a:ext cx="323850" cy="1333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43A896"/>
                </a:solidFill>
                <a:latin typeface="LM Roman 12"/>
                <a:ea typeface="LM Roman 12"/>
                <a:cs typeface="LM Roman 12"/>
              </a:defRPr>
            </a:pPr>
            <a:r>
              <a:rPr sz="863" b="1">
                <a:solidFill>
                  <a:srgbClr val="43A896"/>
                </a:solidFill>
                <a:latin typeface="LM Roman 12"/>
                <a:ea typeface="LM Roman 12"/>
                <a:cs typeface="LM Roman 12"/>
              </a:rPr>
              <a:t>C3</a:t>
            </a:r>
          </a:p>
        </p:txBody>
      </p:sp>
      <p:sp>
        <p:nvSpPr>
          <p:cNvPr id="11" name="">
            <a:extLst xmlns:a="http://schemas.openxmlformats.org/drawingml/2006/main">
              <a:ext uri="{FF2B5EF4-FFF2-40B4-BE49-F238E27FC236}">
                <a16:creationId xmlns:a16="http://schemas.microsoft.com/office/drawing/2014/main" id="{83AE9D76-6985-4174-8D22-C9BD4D018C9B}"/>
              </a:ext>
            </a:extLst>
          </p:cNvPr>
          <p:cNvSpPr>
            <a:spLocks xmlns:a="http://schemas.openxmlformats.org/drawingml/2006/main" noGrp="1"/>
          </p:cNvSpPr>
          <p:nvPr/>
        </p:nvSpPr>
        <p:spPr>
          <a:xfrm xmlns:a="http://schemas.openxmlformats.org/drawingml/2006/main">
            <a:off x="1543050" y="2066925"/>
            <a:ext cx="9810750" cy="1524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5B6472"/>
                </a:solidFill>
                <a:latin typeface="LM Roman 12"/>
                <a:ea typeface="LM Roman 12"/>
                <a:cs typeface="LM Roman 12"/>
              </a:defRPr>
            </a:pPr>
            <a:r>
              <a:rPr sz="863" b="1">
                <a:solidFill>
                  <a:srgbClr val="5B6472"/>
                </a:solidFill>
                <a:latin typeface="LM Roman 12"/>
                <a:ea typeface="LM Roman 12"/>
                <a:cs typeface="LM Roman 12"/>
              </a:rPr>
              <a:t>CIFAR-10 non-IID + California Housing  |  local evaluation of extracted rate-specific submodels</a:t>
            </a:r>
          </a:p>
        </p:txBody>
      </p:sp>
      <p:sp>
        <p:nvSpPr>
          <p:cNvPr id="12" name="">
            <a:extLst xmlns:a="http://schemas.openxmlformats.org/drawingml/2006/main">
              <a:ext uri="{FF2B5EF4-FFF2-40B4-BE49-F238E27FC236}">
                <a16:creationId xmlns:a16="http://schemas.microsoft.com/office/drawing/2014/main" id="{649751AC-4646-48DF-BBD8-6714B1DC713D}"/>
              </a:ext>
            </a:extLst>
          </p:cNvPr>
          <p:cNvSpPr>
            <a:spLocks xmlns:a="http://schemas.openxmlformats.org/drawingml/2006/main" noGrp="1"/>
          </p:cNvSpPr>
          <p:nvPr/>
        </p:nvSpPr>
        <p:spPr>
          <a:xfrm xmlns:a="http://schemas.openxmlformats.org/drawingml/2006/main">
            <a:off x="666750" y="2381250"/>
            <a:ext cx="5619750" cy="3143250"/>
          </a:xfrm>
          <a:prstGeom xmlns:a="http://schemas.openxmlformats.org/drawingml/2006/main" prst="roundRect">
            <a:avLst>
              <a:gd name="adj" fmla="val 2121"/>
            </a:avLst>
          </a:prstGeom>
          <a:solidFill xmlns:a="http://schemas.openxmlformats.org/drawingml/2006/main">
            <a:srgbClr val="FFFFFF"/>
          </a:solidFill>
          <a:ln xmlns:a="http://schemas.openxmlformats.org/drawingml/2006/main" w="9525">
            <a:solidFill>
              <a:srgbClr val="D5DCE8"/>
            </a:solidFill>
            <a:prstDash val="solid"/>
          </a:ln>
        </p:spPr>
      </p:sp>
      <p:sp>
        <p:nvSpPr>
          <p:cNvPr id="13" name="">
            <a:extLst xmlns:a="http://schemas.openxmlformats.org/drawingml/2006/main">
              <a:ext uri="{FF2B5EF4-FFF2-40B4-BE49-F238E27FC236}">
                <a16:creationId xmlns:a16="http://schemas.microsoft.com/office/drawing/2014/main" id="{BF7238FB-5071-479B-B566-2C9EBA78D5C0}"/>
              </a:ext>
            </a:extLst>
          </p:cNvPr>
          <p:cNvSpPr>
            <a:spLocks xmlns:a="http://schemas.openxmlformats.org/drawingml/2006/main" noGrp="1"/>
          </p:cNvSpPr>
          <p:nvPr/>
        </p:nvSpPr>
        <p:spPr>
          <a:xfrm xmlns:a="http://schemas.openxmlformats.org/drawingml/2006/main">
            <a:off x="952500" y="2476500"/>
            <a:ext cx="4286250" cy="2667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71F46"/>
                </a:solidFill>
                <a:latin typeface="LM Roman 12"/>
                <a:ea typeface="LM Roman 12"/>
                <a:cs typeface="LM Roman 12"/>
              </a:defRPr>
            </a:pPr>
            <a:r>
              <a:rPr sz="1500" b="1">
                <a:solidFill>
                  <a:srgbClr val="071F46"/>
                </a:solidFill>
                <a:latin typeface="LM Roman 12"/>
                <a:ea typeface="LM Roman 12"/>
                <a:cs typeface="LM Roman 12"/>
              </a:rPr>
              <a:t>CIFAR-10 non-IID local submodel utility</a:t>
            </a:r>
          </a:p>
        </p:txBody>
      </p:sp>
      <p:sp>
        <p:nvSpPr>
          <p:cNvPr id="14" name="">
            <a:extLst xmlns:a="http://schemas.openxmlformats.org/drawingml/2006/main">
              <a:ext uri="{FF2B5EF4-FFF2-40B4-BE49-F238E27FC236}">
                <a16:creationId xmlns:a16="http://schemas.microsoft.com/office/drawing/2014/main" id="{8F605C79-A847-47CF-B52B-5028219F1BAD}"/>
              </a:ext>
            </a:extLst>
          </p:cNvPr>
          <p:cNvSpPr>
            <a:spLocks xmlns:a="http://schemas.openxmlformats.org/drawingml/2006/main" noGrp="1"/>
          </p:cNvSpPr>
          <p:nvPr/>
        </p:nvSpPr>
        <p:spPr>
          <a:xfrm xmlns:a="http://schemas.openxmlformats.org/drawingml/2006/main">
            <a:off x="952500" y="2762250"/>
            <a:ext cx="4286250" cy="1905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B6472"/>
                </a:solidFill>
                <a:latin typeface="LM Roman 12"/>
                <a:ea typeface="LM Roman 12"/>
                <a:cs typeface="LM Roman 12"/>
              </a:defRPr>
            </a:pPr>
            <a:r>
              <a:rPr sz="900" b="0">
                <a:solidFill>
                  <a:srgbClr val="5B6472"/>
                </a:solidFill>
                <a:latin typeface="LM Roman 12"/>
                <a:ea typeface="LM Roman 12"/>
                <a:cs typeface="LM Roman 12"/>
              </a:rPr>
              <a:t>Mean local test accuracy by evaluated submodel rate, seed 1340</a:t>
            </a:r>
          </a:p>
        </p:txBody>
      </p:sp>
      <p:sp>
        <p:nvSpPr>
          <p:cNvPr id="15" name="">
            <a:extLst xmlns:a="http://schemas.openxmlformats.org/drawingml/2006/main">
              <a:ext uri="{FF2B5EF4-FFF2-40B4-BE49-F238E27FC236}">
                <a16:creationId xmlns:a16="http://schemas.microsoft.com/office/drawing/2014/main" id="{77132BF8-EBC7-46D0-8819-BE1E6E842BDD}"/>
              </a:ext>
            </a:extLst>
          </p:cNvPr>
          <p:cNvSpPr>
            <a:spLocks xmlns:a="http://schemas.openxmlformats.org/drawingml/2006/main" noGrp="1"/>
          </p:cNvSpPr>
          <p:nvPr/>
        </p:nvSpPr>
        <p:spPr>
          <a:xfrm xmlns:a="http://schemas.openxmlformats.org/drawingml/2006/main">
            <a:off x="1695450" y="3028950"/>
            <a:ext cx="1200150" cy="285750"/>
          </a:xfrm>
          <a:prstGeom xmlns:a="http://schemas.openxmlformats.org/drawingml/2006/main" prst="roundRect">
            <a:avLst>
              <a:gd name="adj" fmla="val 16667"/>
            </a:avLst>
          </a:prstGeom>
          <a:solidFill xmlns:a="http://schemas.openxmlformats.org/drawingml/2006/main">
            <a:srgbClr val="EEF2F7"/>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85173D05-DBBC-4AB2-A8E3-911A0BF37635}"/>
              </a:ext>
            </a:extLst>
          </p:cNvPr>
          <p:cNvSpPr>
            <a:spLocks xmlns:a="http://schemas.openxmlformats.org/drawingml/2006/main" noGrp="1"/>
          </p:cNvSpPr>
          <p:nvPr/>
        </p:nvSpPr>
        <p:spPr>
          <a:xfrm xmlns:a="http://schemas.openxmlformats.org/drawingml/2006/main">
            <a:off x="1771650" y="3095625"/>
            <a:ext cx="1047750" cy="1524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43A896"/>
                </a:solidFill>
                <a:latin typeface="LM Roman 12"/>
                <a:ea typeface="LM Roman 12"/>
                <a:cs typeface="LM Roman 12"/>
              </a:defRPr>
            </a:pPr>
            <a:r>
              <a:rPr sz="900" b="1">
                <a:solidFill>
                  <a:srgbClr val="43A896"/>
                </a:solidFill>
                <a:latin typeface="LM Roman 12"/>
                <a:ea typeface="LM Roman 12"/>
                <a:cs typeface="LM Roman 12"/>
              </a:rPr>
              <a:t>HeteroFL</a:t>
            </a:r>
          </a:p>
        </p:txBody>
      </p:sp>
      <p:sp>
        <p:nvSpPr>
          <p:cNvPr id="17" name="">
            <a:extLst xmlns:a="http://schemas.openxmlformats.org/drawingml/2006/main">
              <a:ext uri="{FF2B5EF4-FFF2-40B4-BE49-F238E27FC236}">
                <a16:creationId xmlns:a16="http://schemas.microsoft.com/office/drawing/2014/main" id="{9E9FC360-6599-4D99-B1A1-A68F096ACAFF}"/>
              </a:ext>
            </a:extLst>
          </p:cNvPr>
          <p:cNvSpPr>
            <a:spLocks xmlns:a="http://schemas.openxmlformats.org/drawingml/2006/main" noGrp="1"/>
          </p:cNvSpPr>
          <p:nvPr/>
        </p:nvSpPr>
        <p:spPr>
          <a:xfrm xmlns:a="http://schemas.openxmlformats.org/drawingml/2006/main">
            <a:off x="2952750" y="3028950"/>
            <a:ext cx="1200150" cy="285750"/>
          </a:xfrm>
          <a:prstGeom xmlns:a="http://schemas.openxmlformats.org/drawingml/2006/main" prst="roundRect">
            <a:avLst>
              <a:gd name="adj" fmla="val 16667"/>
            </a:avLst>
          </a:prstGeom>
          <a:solidFill xmlns:a="http://schemas.openxmlformats.org/drawingml/2006/main">
            <a:srgbClr val="EEF2F7"/>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A58DA220-6A2C-4183-97CC-DC2D7E93905D}"/>
              </a:ext>
            </a:extLst>
          </p:cNvPr>
          <p:cNvSpPr>
            <a:spLocks xmlns:a="http://schemas.openxmlformats.org/drawingml/2006/main" noGrp="1"/>
          </p:cNvSpPr>
          <p:nvPr/>
        </p:nvSpPr>
        <p:spPr>
          <a:xfrm xmlns:a="http://schemas.openxmlformats.org/drawingml/2006/main">
            <a:off x="3028950" y="3095625"/>
            <a:ext cx="1047750" cy="1524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F59E0B"/>
                </a:solidFill>
                <a:latin typeface="LM Roman 12"/>
                <a:ea typeface="LM Roman 12"/>
                <a:cs typeface="LM Roman 12"/>
              </a:defRPr>
            </a:pPr>
            <a:r>
              <a:rPr sz="900" b="1">
                <a:solidFill>
                  <a:srgbClr val="F59E0B"/>
                </a:solidFill>
                <a:latin typeface="LM Roman 12"/>
                <a:ea typeface="LM Roman 12"/>
                <a:cs typeface="LM Roman 12"/>
              </a:rPr>
              <a:t>FedRolex</a:t>
            </a:r>
          </a:p>
        </p:txBody>
      </p:sp>
      <p:sp>
        <p:nvSpPr>
          <p:cNvPr id="19" name="">
            <a:extLst xmlns:a="http://schemas.openxmlformats.org/drawingml/2006/main">
              <a:ext uri="{FF2B5EF4-FFF2-40B4-BE49-F238E27FC236}">
                <a16:creationId xmlns:a16="http://schemas.microsoft.com/office/drawing/2014/main" id="{DECC995F-A94D-42D2-8A9E-9E4CF38D7787}"/>
              </a:ext>
            </a:extLst>
          </p:cNvPr>
          <p:cNvSpPr>
            <a:spLocks xmlns:a="http://schemas.openxmlformats.org/drawingml/2006/main" noGrp="1"/>
          </p:cNvSpPr>
          <p:nvPr/>
        </p:nvSpPr>
        <p:spPr>
          <a:xfrm xmlns:a="http://schemas.openxmlformats.org/drawingml/2006/main">
            <a:off x="4210050" y="3028950"/>
            <a:ext cx="1200150" cy="285750"/>
          </a:xfrm>
          <a:prstGeom xmlns:a="http://schemas.openxmlformats.org/drawingml/2006/main" prst="roundRect">
            <a:avLst>
              <a:gd name="adj" fmla="val 16667"/>
            </a:avLst>
          </a:prstGeom>
          <a:solidFill xmlns:a="http://schemas.openxmlformats.org/drawingml/2006/main">
            <a:srgbClr val="EEF2F7"/>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45DFE34E-8A9D-4DA6-90B1-0485D6E4A089}"/>
              </a:ext>
            </a:extLst>
          </p:cNvPr>
          <p:cNvSpPr>
            <a:spLocks xmlns:a="http://schemas.openxmlformats.org/drawingml/2006/main" noGrp="1"/>
          </p:cNvSpPr>
          <p:nvPr/>
        </p:nvSpPr>
        <p:spPr>
          <a:xfrm xmlns:a="http://schemas.openxmlformats.org/drawingml/2006/main">
            <a:off x="4286250" y="3095625"/>
            <a:ext cx="1047750" cy="1524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F04A23"/>
                </a:solidFill>
                <a:latin typeface="LM Roman 12"/>
                <a:ea typeface="LM Roman 12"/>
                <a:cs typeface="LM Roman 12"/>
              </a:defRPr>
            </a:pPr>
            <a:r>
              <a:rPr sz="900" b="1">
                <a:solidFill>
                  <a:srgbClr val="F04A23"/>
                </a:solidFill>
                <a:latin typeface="LM Roman 12"/>
                <a:ea typeface="LM Roman 12"/>
                <a:cs typeface="LM Roman 12"/>
              </a:rPr>
              <a:t>FIARSE</a:t>
            </a:r>
          </a:p>
        </p:txBody>
      </p:sp>
      <p:sp>
        <p:nvSpPr>
          <p:cNvPr id="21" name="">
            <a:extLst xmlns:a="http://schemas.openxmlformats.org/drawingml/2006/main">
              <a:ext uri="{FF2B5EF4-FFF2-40B4-BE49-F238E27FC236}">
                <a16:creationId xmlns:a16="http://schemas.microsoft.com/office/drawing/2014/main" id="{A99C03B4-CDED-4886-9471-A2F78B8079FF}"/>
              </a:ext>
            </a:extLst>
          </p:cNvPr>
          <p:cNvSpPr>
            <a:spLocks xmlns:a="http://schemas.openxmlformats.org/drawingml/2006/main" noGrp="1"/>
          </p:cNvSpPr>
          <p:nvPr/>
        </p:nvSpPr>
        <p:spPr>
          <a:xfrm xmlns:a="http://schemas.openxmlformats.org/drawingml/2006/main">
            <a:off x="952500" y="3486150"/>
            <a:ext cx="66675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71F46"/>
                </a:solidFill>
                <a:latin typeface="LM Roman 12"/>
                <a:ea typeface="LM Roman 12"/>
                <a:cs typeface="LM Roman 12"/>
              </a:defRPr>
            </a:pPr>
            <a:r>
              <a:rPr sz="900" b="1">
                <a:solidFill>
                  <a:srgbClr val="071F46"/>
                </a:solidFill>
                <a:latin typeface="LM Roman 12"/>
                <a:ea typeface="LM Roman 12"/>
                <a:cs typeface="LM Roman 12"/>
              </a:rPr>
              <a:t>rate 1/8</a:t>
            </a:r>
          </a:p>
        </p:txBody>
      </p:sp>
      <p:sp>
        <p:nvSpPr>
          <p:cNvPr id="22" name="">
            <a:extLst xmlns:a="http://schemas.openxmlformats.org/drawingml/2006/main">
              <a:ext uri="{FF2B5EF4-FFF2-40B4-BE49-F238E27FC236}">
                <a16:creationId xmlns:a16="http://schemas.microsoft.com/office/drawing/2014/main" id="{2F3B83C3-3EFA-4019-8E47-F368611B721F}"/>
              </a:ext>
            </a:extLst>
          </p:cNvPr>
          <p:cNvSpPr>
            <a:spLocks xmlns:a="http://schemas.openxmlformats.org/drawingml/2006/main" noGrp="1"/>
          </p:cNvSpPr>
          <p:nvPr/>
        </p:nvSpPr>
        <p:spPr>
          <a:xfrm xmlns:a="http://schemas.openxmlformats.org/drawingml/2006/main">
            <a:off x="1695450" y="3390900"/>
            <a:ext cx="1200150" cy="323850"/>
          </a:xfrm>
          <a:prstGeom xmlns:a="http://schemas.openxmlformats.org/drawingml/2006/main" prst="roundRect">
            <a:avLst>
              <a:gd name="adj" fmla="val 14706"/>
            </a:avLst>
          </a:prstGeom>
          <a:solidFill xmlns:a="http://schemas.openxmlformats.org/drawingml/2006/main">
            <a:srgbClr val="FFF7ED"/>
          </a:solidFill>
          <a:ln xmlns:a="http://schemas.openxmlformats.org/drawingml/2006/main" w="9525">
            <a:solidFill>
              <a:srgbClr val="D5DCE8"/>
            </a:solidFill>
            <a:prstDash val="solid"/>
          </a:ln>
        </p:spPr>
      </p:sp>
      <p:sp>
        <p:nvSpPr>
          <p:cNvPr id="23" name="">
            <a:extLst xmlns:a="http://schemas.openxmlformats.org/drawingml/2006/main">
              <a:ext uri="{FF2B5EF4-FFF2-40B4-BE49-F238E27FC236}">
                <a16:creationId xmlns:a16="http://schemas.microsoft.com/office/drawing/2014/main" id="{BE8445C4-6EC7-4523-9C14-A32BACBAB901}"/>
              </a:ext>
            </a:extLst>
          </p:cNvPr>
          <p:cNvSpPr>
            <a:spLocks xmlns:a="http://schemas.openxmlformats.org/drawingml/2006/main" noGrp="1"/>
          </p:cNvSpPr>
          <p:nvPr/>
        </p:nvSpPr>
        <p:spPr>
          <a:xfrm xmlns:a="http://schemas.openxmlformats.org/drawingml/2006/main">
            <a:off x="1771650" y="3467100"/>
            <a:ext cx="104775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F59E0B"/>
                </a:solidFill>
                <a:latin typeface="LM Roman 12"/>
                <a:ea typeface="LM Roman 12"/>
                <a:cs typeface="LM Roman 12"/>
              </a:defRPr>
            </a:pPr>
            <a:r>
              <a:rPr sz="1125" b="1">
                <a:solidFill>
                  <a:srgbClr val="F59E0B"/>
                </a:solidFill>
                <a:latin typeface="LM Roman 12"/>
                <a:ea typeface="LM Roman 12"/>
                <a:cs typeface="LM Roman 12"/>
              </a:rPr>
              <a:t>46.7%</a:t>
            </a:r>
          </a:p>
        </p:txBody>
      </p:sp>
      <p:sp>
        <p:nvSpPr>
          <p:cNvPr id="24" name="">
            <a:extLst xmlns:a="http://schemas.openxmlformats.org/drawingml/2006/main">
              <a:ext uri="{FF2B5EF4-FFF2-40B4-BE49-F238E27FC236}">
                <a16:creationId xmlns:a16="http://schemas.microsoft.com/office/drawing/2014/main" id="{E6B95831-9754-4D1E-8558-E761E9BA5B4C}"/>
              </a:ext>
            </a:extLst>
          </p:cNvPr>
          <p:cNvSpPr>
            <a:spLocks xmlns:a="http://schemas.openxmlformats.org/drawingml/2006/main" noGrp="1"/>
          </p:cNvSpPr>
          <p:nvPr/>
        </p:nvSpPr>
        <p:spPr>
          <a:xfrm xmlns:a="http://schemas.openxmlformats.org/drawingml/2006/main">
            <a:off x="2952750" y="3390900"/>
            <a:ext cx="1200150" cy="323850"/>
          </a:xfrm>
          <a:prstGeom xmlns:a="http://schemas.openxmlformats.org/drawingml/2006/main" prst="roundRect">
            <a:avLst>
              <a:gd name="adj" fmla="val 14706"/>
            </a:avLst>
          </a:prstGeom>
          <a:solidFill xmlns:a="http://schemas.openxmlformats.org/drawingml/2006/main">
            <a:srgbClr val="FFF7ED"/>
          </a:solidFill>
          <a:ln xmlns:a="http://schemas.openxmlformats.org/drawingml/2006/main" w="9525">
            <a:solidFill>
              <a:srgbClr val="D5DCE8"/>
            </a:solidFill>
            <a:prstDash val="solid"/>
          </a:ln>
        </p:spPr>
      </p:sp>
      <p:sp>
        <p:nvSpPr>
          <p:cNvPr id="25" name="">
            <a:extLst xmlns:a="http://schemas.openxmlformats.org/drawingml/2006/main">
              <a:ext uri="{FF2B5EF4-FFF2-40B4-BE49-F238E27FC236}">
                <a16:creationId xmlns:a16="http://schemas.microsoft.com/office/drawing/2014/main" id="{841C9B3B-C2CF-4F6F-906A-77A611C018ED}"/>
              </a:ext>
            </a:extLst>
          </p:cNvPr>
          <p:cNvSpPr>
            <a:spLocks xmlns:a="http://schemas.openxmlformats.org/drawingml/2006/main" noGrp="1"/>
          </p:cNvSpPr>
          <p:nvPr/>
        </p:nvSpPr>
        <p:spPr>
          <a:xfrm xmlns:a="http://schemas.openxmlformats.org/drawingml/2006/main">
            <a:off x="3028950" y="3467100"/>
            <a:ext cx="104775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F59E0B"/>
                </a:solidFill>
                <a:latin typeface="LM Roman 12"/>
                <a:ea typeface="LM Roman 12"/>
                <a:cs typeface="LM Roman 12"/>
              </a:defRPr>
            </a:pPr>
            <a:r>
              <a:rPr sz="1125" b="1">
                <a:solidFill>
                  <a:srgbClr val="F59E0B"/>
                </a:solidFill>
                <a:latin typeface="LM Roman 12"/>
                <a:ea typeface="LM Roman 12"/>
                <a:cs typeface="LM Roman 12"/>
              </a:rPr>
              <a:t>34.9%</a:t>
            </a:r>
          </a:p>
        </p:txBody>
      </p:sp>
      <p:sp>
        <p:nvSpPr>
          <p:cNvPr id="26" name="">
            <a:extLst xmlns:a="http://schemas.openxmlformats.org/drawingml/2006/main">
              <a:ext uri="{FF2B5EF4-FFF2-40B4-BE49-F238E27FC236}">
                <a16:creationId xmlns:a16="http://schemas.microsoft.com/office/drawing/2014/main" id="{E471F2CA-4D00-4A94-9548-F4030FAE1582}"/>
              </a:ext>
            </a:extLst>
          </p:cNvPr>
          <p:cNvSpPr>
            <a:spLocks xmlns:a="http://schemas.openxmlformats.org/drawingml/2006/main" noGrp="1"/>
          </p:cNvSpPr>
          <p:nvPr/>
        </p:nvSpPr>
        <p:spPr>
          <a:xfrm xmlns:a="http://schemas.openxmlformats.org/drawingml/2006/main">
            <a:off x="4210050" y="3390900"/>
            <a:ext cx="1200150" cy="323850"/>
          </a:xfrm>
          <a:prstGeom xmlns:a="http://schemas.openxmlformats.org/drawingml/2006/main" prst="roundRect">
            <a:avLst>
              <a:gd name="adj" fmla="val 14706"/>
            </a:avLst>
          </a:prstGeom>
          <a:solidFill xmlns:a="http://schemas.openxmlformats.org/drawingml/2006/main">
            <a:srgbClr val="E8F5F1"/>
          </a:solidFill>
          <a:ln xmlns:a="http://schemas.openxmlformats.org/drawingml/2006/main" w="9525">
            <a:solidFill>
              <a:srgbClr val="D5DCE8"/>
            </a:solidFill>
            <a:prstDash val="solid"/>
          </a:ln>
        </p:spPr>
      </p:sp>
      <p:sp>
        <p:nvSpPr>
          <p:cNvPr id="27" name="">
            <a:extLst xmlns:a="http://schemas.openxmlformats.org/drawingml/2006/main">
              <a:ext uri="{FF2B5EF4-FFF2-40B4-BE49-F238E27FC236}">
                <a16:creationId xmlns:a16="http://schemas.microsoft.com/office/drawing/2014/main" id="{99D7569A-66B7-44BB-8C20-6BE7A2E8E947}"/>
              </a:ext>
            </a:extLst>
          </p:cNvPr>
          <p:cNvSpPr>
            <a:spLocks xmlns:a="http://schemas.openxmlformats.org/drawingml/2006/main" noGrp="1"/>
          </p:cNvSpPr>
          <p:nvPr/>
        </p:nvSpPr>
        <p:spPr>
          <a:xfrm xmlns:a="http://schemas.openxmlformats.org/drawingml/2006/main">
            <a:off x="4286250" y="3467100"/>
            <a:ext cx="104775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43A896"/>
                </a:solidFill>
                <a:latin typeface="LM Roman 12"/>
                <a:ea typeface="LM Roman 12"/>
                <a:cs typeface="LM Roman 12"/>
              </a:defRPr>
            </a:pPr>
            <a:r>
              <a:rPr sz="1125" b="1">
                <a:solidFill>
                  <a:srgbClr val="43A896"/>
                </a:solidFill>
                <a:latin typeface="LM Roman 12"/>
                <a:ea typeface="LM Roman 12"/>
                <a:cs typeface="LM Roman 12"/>
              </a:rPr>
              <a:t>60.8%</a:t>
            </a:r>
          </a:p>
        </p:txBody>
      </p:sp>
      <p:sp>
        <p:nvSpPr>
          <p:cNvPr id="28" name="">
            <a:extLst xmlns:a="http://schemas.openxmlformats.org/drawingml/2006/main">
              <a:ext uri="{FF2B5EF4-FFF2-40B4-BE49-F238E27FC236}">
                <a16:creationId xmlns:a16="http://schemas.microsoft.com/office/drawing/2014/main" id="{865D9776-CA01-4B95-B4B6-46B7E7079E22}"/>
              </a:ext>
            </a:extLst>
          </p:cNvPr>
          <p:cNvSpPr>
            <a:spLocks xmlns:a="http://schemas.openxmlformats.org/drawingml/2006/main" noGrp="1"/>
          </p:cNvSpPr>
          <p:nvPr/>
        </p:nvSpPr>
        <p:spPr>
          <a:xfrm xmlns:a="http://schemas.openxmlformats.org/drawingml/2006/main">
            <a:off x="952500" y="3886200"/>
            <a:ext cx="66675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B6472"/>
                </a:solidFill>
                <a:latin typeface="LM Roman 12"/>
                <a:ea typeface="LM Roman 12"/>
                <a:cs typeface="LM Roman 12"/>
              </a:defRPr>
            </a:pPr>
            <a:r>
              <a:rPr sz="900" b="0">
                <a:solidFill>
                  <a:srgbClr val="5B6472"/>
                </a:solidFill>
                <a:latin typeface="LM Roman 12"/>
                <a:ea typeface="LM Roman 12"/>
                <a:cs typeface="LM Roman 12"/>
              </a:rPr>
              <a:t>rate 1/4</a:t>
            </a:r>
          </a:p>
        </p:txBody>
      </p:sp>
      <p:sp>
        <p:nvSpPr>
          <p:cNvPr id="29" name="">
            <a:extLst xmlns:a="http://schemas.openxmlformats.org/drawingml/2006/main">
              <a:ext uri="{FF2B5EF4-FFF2-40B4-BE49-F238E27FC236}">
                <a16:creationId xmlns:a16="http://schemas.microsoft.com/office/drawing/2014/main" id="{395F7755-72B7-4D60-91DC-DC4A66E2FAAE}"/>
              </a:ext>
            </a:extLst>
          </p:cNvPr>
          <p:cNvSpPr>
            <a:spLocks xmlns:a="http://schemas.openxmlformats.org/drawingml/2006/main" noGrp="1"/>
          </p:cNvSpPr>
          <p:nvPr/>
        </p:nvSpPr>
        <p:spPr>
          <a:xfrm xmlns:a="http://schemas.openxmlformats.org/drawingml/2006/main">
            <a:off x="1695450" y="3790950"/>
            <a:ext cx="1200150" cy="323850"/>
          </a:xfrm>
          <a:prstGeom xmlns:a="http://schemas.openxmlformats.org/drawingml/2006/main" prst="roundRect">
            <a:avLst>
              <a:gd name="adj" fmla="val 14706"/>
            </a:avLst>
          </a:prstGeom>
          <a:solidFill xmlns:a="http://schemas.openxmlformats.org/drawingml/2006/main">
            <a:srgbClr val="FFF7ED"/>
          </a:solidFill>
          <a:ln xmlns:a="http://schemas.openxmlformats.org/drawingml/2006/main" w="9525">
            <a:solidFill>
              <a:srgbClr val="D5DCE8"/>
            </a:solidFill>
            <a:prstDash val="solid"/>
          </a:ln>
        </p:spPr>
      </p:sp>
      <p:sp>
        <p:nvSpPr>
          <p:cNvPr id="30" name="">
            <a:extLst xmlns:a="http://schemas.openxmlformats.org/drawingml/2006/main">
              <a:ext uri="{FF2B5EF4-FFF2-40B4-BE49-F238E27FC236}">
                <a16:creationId xmlns:a16="http://schemas.microsoft.com/office/drawing/2014/main" id="{2413FA20-628F-4954-B5F1-FDE24807B444}"/>
              </a:ext>
            </a:extLst>
          </p:cNvPr>
          <p:cNvSpPr>
            <a:spLocks xmlns:a="http://schemas.openxmlformats.org/drawingml/2006/main" noGrp="1"/>
          </p:cNvSpPr>
          <p:nvPr/>
        </p:nvSpPr>
        <p:spPr>
          <a:xfrm xmlns:a="http://schemas.openxmlformats.org/drawingml/2006/main">
            <a:off x="1771650" y="3867150"/>
            <a:ext cx="104775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0">
                <a:solidFill>
                  <a:srgbClr val="F59E0B"/>
                </a:solidFill>
                <a:latin typeface="LM Roman 12"/>
                <a:ea typeface="LM Roman 12"/>
                <a:cs typeface="LM Roman 12"/>
              </a:defRPr>
            </a:pPr>
            <a:r>
              <a:rPr sz="1125" b="0">
                <a:solidFill>
                  <a:srgbClr val="F59E0B"/>
                </a:solidFill>
                <a:latin typeface="LM Roman 12"/>
                <a:ea typeface="LM Roman 12"/>
                <a:cs typeface="LM Roman 12"/>
              </a:rPr>
              <a:t>41.1%</a:t>
            </a:r>
          </a:p>
        </p:txBody>
      </p:sp>
      <p:sp>
        <p:nvSpPr>
          <p:cNvPr id="31" name="">
            <a:extLst xmlns:a="http://schemas.openxmlformats.org/drawingml/2006/main">
              <a:ext uri="{FF2B5EF4-FFF2-40B4-BE49-F238E27FC236}">
                <a16:creationId xmlns:a16="http://schemas.microsoft.com/office/drawing/2014/main" id="{C420CEDA-D502-47A3-BAA8-A5150E427AF7}"/>
              </a:ext>
            </a:extLst>
          </p:cNvPr>
          <p:cNvSpPr>
            <a:spLocks xmlns:a="http://schemas.openxmlformats.org/drawingml/2006/main" noGrp="1"/>
          </p:cNvSpPr>
          <p:nvPr/>
        </p:nvSpPr>
        <p:spPr>
          <a:xfrm xmlns:a="http://schemas.openxmlformats.org/drawingml/2006/main">
            <a:off x="2952750" y="3790950"/>
            <a:ext cx="1200150" cy="323850"/>
          </a:xfrm>
          <a:prstGeom xmlns:a="http://schemas.openxmlformats.org/drawingml/2006/main" prst="roundRect">
            <a:avLst>
              <a:gd name="adj" fmla="val 14706"/>
            </a:avLst>
          </a:prstGeom>
          <a:solidFill xmlns:a="http://schemas.openxmlformats.org/drawingml/2006/main">
            <a:srgbClr val="FFF7ED"/>
          </a:solidFill>
          <a:ln xmlns:a="http://schemas.openxmlformats.org/drawingml/2006/main" w="9525">
            <a:solidFill>
              <a:srgbClr val="D5DCE8"/>
            </a:solidFill>
            <a:prstDash val="solid"/>
          </a:ln>
        </p:spPr>
      </p:sp>
      <p:sp>
        <p:nvSpPr>
          <p:cNvPr id="32" name="">
            <a:extLst xmlns:a="http://schemas.openxmlformats.org/drawingml/2006/main">
              <a:ext uri="{FF2B5EF4-FFF2-40B4-BE49-F238E27FC236}">
                <a16:creationId xmlns:a16="http://schemas.microsoft.com/office/drawing/2014/main" id="{19725FC5-52EC-42C1-BAD9-1AA28060D03E}"/>
              </a:ext>
            </a:extLst>
          </p:cNvPr>
          <p:cNvSpPr>
            <a:spLocks xmlns:a="http://schemas.openxmlformats.org/drawingml/2006/main" noGrp="1"/>
          </p:cNvSpPr>
          <p:nvPr/>
        </p:nvSpPr>
        <p:spPr>
          <a:xfrm xmlns:a="http://schemas.openxmlformats.org/drawingml/2006/main">
            <a:off x="3028950" y="3867150"/>
            <a:ext cx="104775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0">
                <a:solidFill>
                  <a:srgbClr val="F59E0B"/>
                </a:solidFill>
                <a:latin typeface="LM Roman 12"/>
                <a:ea typeface="LM Roman 12"/>
                <a:cs typeface="LM Roman 12"/>
              </a:defRPr>
            </a:pPr>
            <a:r>
              <a:rPr sz="1125" b="0">
                <a:solidFill>
                  <a:srgbClr val="F59E0B"/>
                </a:solidFill>
                <a:latin typeface="LM Roman 12"/>
                <a:ea typeface="LM Roman 12"/>
                <a:cs typeface="LM Roman 12"/>
              </a:rPr>
              <a:t>42.6%</a:t>
            </a:r>
          </a:p>
        </p:txBody>
      </p:sp>
      <p:sp>
        <p:nvSpPr>
          <p:cNvPr id="33" name="">
            <a:extLst xmlns:a="http://schemas.openxmlformats.org/drawingml/2006/main">
              <a:ext uri="{FF2B5EF4-FFF2-40B4-BE49-F238E27FC236}">
                <a16:creationId xmlns:a16="http://schemas.microsoft.com/office/drawing/2014/main" id="{79598F87-4D72-4CA3-B1F7-F53D2D6E6701}"/>
              </a:ext>
            </a:extLst>
          </p:cNvPr>
          <p:cNvSpPr>
            <a:spLocks xmlns:a="http://schemas.openxmlformats.org/drawingml/2006/main" noGrp="1"/>
          </p:cNvSpPr>
          <p:nvPr/>
        </p:nvSpPr>
        <p:spPr>
          <a:xfrm xmlns:a="http://schemas.openxmlformats.org/drawingml/2006/main">
            <a:off x="4210050" y="3790950"/>
            <a:ext cx="1200150" cy="323850"/>
          </a:xfrm>
          <a:prstGeom xmlns:a="http://schemas.openxmlformats.org/drawingml/2006/main" prst="roundRect">
            <a:avLst>
              <a:gd name="adj" fmla="val 14706"/>
            </a:avLst>
          </a:prstGeom>
          <a:solidFill xmlns:a="http://schemas.openxmlformats.org/drawingml/2006/main">
            <a:srgbClr val="E8F5F1"/>
          </a:solidFill>
          <a:ln xmlns:a="http://schemas.openxmlformats.org/drawingml/2006/main" w="9525">
            <a:solidFill>
              <a:srgbClr val="D5DCE8"/>
            </a:solidFill>
            <a:prstDash val="solid"/>
          </a:ln>
        </p:spPr>
      </p:sp>
      <p:sp>
        <p:nvSpPr>
          <p:cNvPr id="34" name="">
            <a:extLst xmlns:a="http://schemas.openxmlformats.org/drawingml/2006/main">
              <a:ext uri="{FF2B5EF4-FFF2-40B4-BE49-F238E27FC236}">
                <a16:creationId xmlns:a16="http://schemas.microsoft.com/office/drawing/2014/main" id="{D3A08F60-FB4C-4D0D-AC92-02B09F7212F6}"/>
              </a:ext>
            </a:extLst>
          </p:cNvPr>
          <p:cNvSpPr>
            <a:spLocks xmlns:a="http://schemas.openxmlformats.org/drawingml/2006/main" noGrp="1"/>
          </p:cNvSpPr>
          <p:nvPr/>
        </p:nvSpPr>
        <p:spPr>
          <a:xfrm xmlns:a="http://schemas.openxmlformats.org/drawingml/2006/main">
            <a:off x="4286250" y="3867150"/>
            <a:ext cx="104775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43A896"/>
                </a:solidFill>
                <a:latin typeface="LM Roman 12"/>
                <a:ea typeface="LM Roman 12"/>
                <a:cs typeface="LM Roman 12"/>
              </a:defRPr>
            </a:pPr>
            <a:r>
              <a:rPr sz="1125" b="1">
                <a:solidFill>
                  <a:srgbClr val="43A896"/>
                </a:solidFill>
                <a:latin typeface="LM Roman 12"/>
                <a:ea typeface="LM Roman 12"/>
                <a:cs typeface="LM Roman 12"/>
              </a:rPr>
              <a:t>61.3%</a:t>
            </a:r>
          </a:p>
        </p:txBody>
      </p:sp>
      <p:sp>
        <p:nvSpPr>
          <p:cNvPr id="35" name="">
            <a:extLst xmlns:a="http://schemas.openxmlformats.org/drawingml/2006/main">
              <a:ext uri="{FF2B5EF4-FFF2-40B4-BE49-F238E27FC236}">
                <a16:creationId xmlns:a16="http://schemas.microsoft.com/office/drawing/2014/main" id="{4CA01950-A897-4FDC-A227-E755019908F6}"/>
              </a:ext>
            </a:extLst>
          </p:cNvPr>
          <p:cNvSpPr>
            <a:spLocks xmlns:a="http://schemas.openxmlformats.org/drawingml/2006/main" noGrp="1"/>
          </p:cNvSpPr>
          <p:nvPr/>
        </p:nvSpPr>
        <p:spPr>
          <a:xfrm xmlns:a="http://schemas.openxmlformats.org/drawingml/2006/main">
            <a:off x="952500" y="4286250"/>
            <a:ext cx="66675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B6472"/>
                </a:solidFill>
                <a:latin typeface="LM Roman 12"/>
                <a:ea typeface="LM Roman 12"/>
                <a:cs typeface="LM Roman 12"/>
              </a:defRPr>
            </a:pPr>
            <a:r>
              <a:rPr sz="900" b="0">
                <a:solidFill>
                  <a:srgbClr val="5B6472"/>
                </a:solidFill>
                <a:latin typeface="LM Roman 12"/>
                <a:ea typeface="LM Roman 12"/>
                <a:cs typeface="LM Roman 12"/>
              </a:rPr>
              <a:t>rate 1/2</a:t>
            </a:r>
          </a:p>
        </p:txBody>
      </p:sp>
      <p:sp>
        <p:nvSpPr>
          <p:cNvPr id="36" name="">
            <a:extLst xmlns:a="http://schemas.openxmlformats.org/drawingml/2006/main">
              <a:ext uri="{FF2B5EF4-FFF2-40B4-BE49-F238E27FC236}">
                <a16:creationId xmlns:a16="http://schemas.microsoft.com/office/drawing/2014/main" id="{F2DDB493-7437-4C32-B3C8-E5BF880799BE}"/>
              </a:ext>
            </a:extLst>
          </p:cNvPr>
          <p:cNvSpPr>
            <a:spLocks xmlns:a="http://schemas.openxmlformats.org/drawingml/2006/main" noGrp="1"/>
          </p:cNvSpPr>
          <p:nvPr/>
        </p:nvSpPr>
        <p:spPr>
          <a:xfrm xmlns:a="http://schemas.openxmlformats.org/drawingml/2006/main">
            <a:off x="1695450" y="4191000"/>
            <a:ext cx="1200150" cy="323850"/>
          </a:xfrm>
          <a:prstGeom xmlns:a="http://schemas.openxmlformats.org/drawingml/2006/main" prst="roundRect">
            <a:avLst>
              <a:gd name="adj" fmla="val 14706"/>
            </a:avLst>
          </a:prstGeom>
          <a:solidFill xmlns:a="http://schemas.openxmlformats.org/drawingml/2006/main">
            <a:srgbClr val="F1F5F9"/>
          </a:solidFill>
          <a:ln xmlns:a="http://schemas.openxmlformats.org/drawingml/2006/main" w="9525">
            <a:solidFill>
              <a:srgbClr val="D5DCE8"/>
            </a:solidFill>
            <a:prstDash val="solid"/>
          </a:ln>
        </p:spPr>
      </p:sp>
      <p:sp>
        <p:nvSpPr>
          <p:cNvPr id="37" name="">
            <a:extLst xmlns:a="http://schemas.openxmlformats.org/drawingml/2006/main">
              <a:ext uri="{FF2B5EF4-FFF2-40B4-BE49-F238E27FC236}">
                <a16:creationId xmlns:a16="http://schemas.microsoft.com/office/drawing/2014/main" id="{1A2C5E20-3553-43EF-A6DB-B4B443001BA4}"/>
              </a:ext>
            </a:extLst>
          </p:cNvPr>
          <p:cNvSpPr>
            <a:spLocks xmlns:a="http://schemas.openxmlformats.org/drawingml/2006/main" noGrp="1"/>
          </p:cNvSpPr>
          <p:nvPr/>
        </p:nvSpPr>
        <p:spPr>
          <a:xfrm xmlns:a="http://schemas.openxmlformats.org/drawingml/2006/main">
            <a:off x="1771650" y="4267200"/>
            <a:ext cx="104775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0">
                <a:solidFill>
                  <a:srgbClr val="071F46"/>
                </a:solidFill>
                <a:latin typeface="LM Roman 12"/>
                <a:ea typeface="LM Roman 12"/>
                <a:cs typeface="LM Roman 12"/>
              </a:defRPr>
            </a:pPr>
            <a:r>
              <a:rPr sz="1125" b="0">
                <a:solidFill>
                  <a:srgbClr val="071F46"/>
                </a:solidFill>
                <a:latin typeface="LM Roman 12"/>
                <a:ea typeface="LM Roman 12"/>
                <a:cs typeface="LM Roman 12"/>
              </a:rPr>
              <a:t>51.5%</a:t>
            </a:r>
          </a:p>
        </p:txBody>
      </p:sp>
      <p:sp>
        <p:nvSpPr>
          <p:cNvPr id="38" name="">
            <a:extLst xmlns:a="http://schemas.openxmlformats.org/drawingml/2006/main">
              <a:ext uri="{FF2B5EF4-FFF2-40B4-BE49-F238E27FC236}">
                <a16:creationId xmlns:a16="http://schemas.microsoft.com/office/drawing/2014/main" id="{94FC8DB3-9F9A-4CAE-8AA1-AFF805AB0F74}"/>
              </a:ext>
            </a:extLst>
          </p:cNvPr>
          <p:cNvSpPr>
            <a:spLocks xmlns:a="http://schemas.openxmlformats.org/drawingml/2006/main" noGrp="1"/>
          </p:cNvSpPr>
          <p:nvPr/>
        </p:nvSpPr>
        <p:spPr>
          <a:xfrm xmlns:a="http://schemas.openxmlformats.org/drawingml/2006/main">
            <a:off x="2952750" y="4191000"/>
            <a:ext cx="1200150" cy="323850"/>
          </a:xfrm>
          <a:prstGeom xmlns:a="http://schemas.openxmlformats.org/drawingml/2006/main" prst="roundRect">
            <a:avLst>
              <a:gd name="adj" fmla="val 14706"/>
            </a:avLst>
          </a:prstGeom>
          <a:solidFill xmlns:a="http://schemas.openxmlformats.org/drawingml/2006/main">
            <a:srgbClr val="FFF7ED"/>
          </a:solidFill>
          <a:ln xmlns:a="http://schemas.openxmlformats.org/drawingml/2006/main" w="9525">
            <a:solidFill>
              <a:srgbClr val="D5DCE8"/>
            </a:solidFill>
            <a:prstDash val="solid"/>
          </a:ln>
        </p:spPr>
      </p:sp>
      <p:sp>
        <p:nvSpPr>
          <p:cNvPr id="39" name="">
            <a:extLst xmlns:a="http://schemas.openxmlformats.org/drawingml/2006/main">
              <a:ext uri="{FF2B5EF4-FFF2-40B4-BE49-F238E27FC236}">
                <a16:creationId xmlns:a16="http://schemas.microsoft.com/office/drawing/2014/main" id="{7739F11C-824E-40E1-8C51-59A10FD1B4BB}"/>
              </a:ext>
            </a:extLst>
          </p:cNvPr>
          <p:cNvSpPr>
            <a:spLocks xmlns:a="http://schemas.openxmlformats.org/drawingml/2006/main" noGrp="1"/>
          </p:cNvSpPr>
          <p:nvPr/>
        </p:nvSpPr>
        <p:spPr>
          <a:xfrm xmlns:a="http://schemas.openxmlformats.org/drawingml/2006/main">
            <a:off x="3028950" y="4267200"/>
            <a:ext cx="104775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0">
                <a:solidFill>
                  <a:srgbClr val="F59E0B"/>
                </a:solidFill>
                <a:latin typeface="LM Roman 12"/>
                <a:ea typeface="LM Roman 12"/>
                <a:cs typeface="LM Roman 12"/>
              </a:defRPr>
            </a:pPr>
            <a:r>
              <a:rPr sz="1125" b="0">
                <a:solidFill>
                  <a:srgbClr val="F59E0B"/>
                </a:solidFill>
                <a:latin typeface="LM Roman 12"/>
                <a:ea typeface="LM Roman 12"/>
                <a:cs typeface="LM Roman 12"/>
              </a:rPr>
              <a:t>46.3%</a:t>
            </a:r>
          </a:p>
        </p:txBody>
      </p:sp>
      <p:sp>
        <p:nvSpPr>
          <p:cNvPr id="40" name="">
            <a:extLst xmlns:a="http://schemas.openxmlformats.org/drawingml/2006/main">
              <a:ext uri="{FF2B5EF4-FFF2-40B4-BE49-F238E27FC236}">
                <a16:creationId xmlns:a16="http://schemas.microsoft.com/office/drawing/2014/main" id="{30307DCF-142F-4D7F-A994-84583DE16482}"/>
              </a:ext>
            </a:extLst>
          </p:cNvPr>
          <p:cNvSpPr>
            <a:spLocks xmlns:a="http://schemas.openxmlformats.org/drawingml/2006/main" noGrp="1"/>
          </p:cNvSpPr>
          <p:nvPr/>
        </p:nvSpPr>
        <p:spPr>
          <a:xfrm xmlns:a="http://schemas.openxmlformats.org/drawingml/2006/main">
            <a:off x="4210050" y="4191000"/>
            <a:ext cx="1200150" cy="323850"/>
          </a:xfrm>
          <a:prstGeom xmlns:a="http://schemas.openxmlformats.org/drawingml/2006/main" prst="roundRect">
            <a:avLst>
              <a:gd name="adj" fmla="val 14706"/>
            </a:avLst>
          </a:prstGeom>
          <a:solidFill xmlns:a="http://schemas.openxmlformats.org/drawingml/2006/main">
            <a:srgbClr val="E8F5F1"/>
          </a:solidFill>
          <a:ln xmlns:a="http://schemas.openxmlformats.org/drawingml/2006/main" w="9525">
            <a:solidFill>
              <a:srgbClr val="D5DCE8"/>
            </a:solidFill>
            <a:prstDash val="solid"/>
          </a:ln>
        </p:spPr>
      </p:sp>
      <p:sp>
        <p:nvSpPr>
          <p:cNvPr id="41" name="">
            <a:extLst xmlns:a="http://schemas.openxmlformats.org/drawingml/2006/main">
              <a:ext uri="{FF2B5EF4-FFF2-40B4-BE49-F238E27FC236}">
                <a16:creationId xmlns:a16="http://schemas.microsoft.com/office/drawing/2014/main" id="{7B88913E-FC28-4B5C-A2BC-79F71DF3D226}"/>
              </a:ext>
            </a:extLst>
          </p:cNvPr>
          <p:cNvSpPr>
            <a:spLocks xmlns:a="http://schemas.openxmlformats.org/drawingml/2006/main" noGrp="1"/>
          </p:cNvSpPr>
          <p:nvPr/>
        </p:nvSpPr>
        <p:spPr>
          <a:xfrm xmlns:a="http://schemas.openxmlformats.org/drawingml/2006/main">
            <a:off x="4286250" y="4267200"/>
            <a:ext cx="104775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43A896"/>
                </a:solidFill>
                <a:latin typeface="LM Roman 12"/>
                <a:ea typeface="LM Roman 12"/>
                <a:cs typeface="LM Roman 12"/>
              </a:defRPr>
            </a:pPr>
            <a:r>
              <a:rPr sz="1125" b="1">
                <a:solidFill>
                  <a:srgbClr val="43A896"/>
                </a:solidFill>
                <a:latin typeface="LM Roman 12"/>
                <a:ea typeface="LM Roman 12"/>
                <a:cs typeface="LM Roman 12"/>
              </a:rPr>
              <a:t>60.6%</a:t>
            </a:r>
          </a:p>
        </p:txBody>
      </p:sp>
      <p:sp>
        <p:nvSpPr>
          <p:cNvPr id="42" name="">
            <a:extLst xmlns:a="http://schemas.openxmlformats.org/drawingml/2006/main">
              <a:ext uri="{FF2B5EF4-FFF2-40B4-BE49-F238E27FC236}">
                <a16:creationId xmlns:a16="http://schemas.microsoft.com/office/drawing/2014/main" id="{4964DA49-CEA2-437E-A1C5-C8121FEFF454}"/>
              </a:ext>
            </a:extLst>
          </p:cNvPr>
          <p:cNvSpPr>
            <a:spLocks xmlns:a="http://schemas.openxmlformats.org/drawingml/2006/main" noGrp="1"/>
          </p:cNvSpPr>
          <p:nvPr/>
        </p:nvSpPr>
        <p:spPr>
          <a:xfrm xmlns:a="http://schemas.openxmlformats.org/drawingml/2006/main">
            <a:off x="952500" y="4686300"/>
            <a:ext cx="66675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B6472"/>
                </a:solidFill>
                <a:latin typeface="LM Roman 12"/>
                <a:ea typeface="LM Roman 12"/>
                <a:cs typeface="LM Roman 12"/>
              </a:defRPr>
            </a:pPr>
            <a:r>
              <a:rPr sz="900" b="0">
                <a:solidFill>
                  <a:srgbClr val="5B6472"/>
                </a:solidFill>
                <a:latin typeface="LM Roman 12"/>
                <a:ea typeface="LM Roman 12"/>
                <a:cs typeface="LM Roman 12"/>
              </a:rPr>
              <a:t>rate 1</a:t>
            </a:r>
          </a:p>
        </p:txBody>
      </p:sp>
      <p:sp>
        <p:nvSpPr>
          <p:cNvPr id="43" name="">
            <a:extLst xmlns:a="http://schemas.openxmlformats.org/drawingml/2006/main">
              <a:ext uri="{FF2B5EF4-FFF2-40B4-BE49-F238E27FC236}">
                <a16:creationId xmlns:a16="http://schemas.microsoft.com/office/drawing/2014/main" id="{A1CA0CCB-DCD4-4991-A2AD-DF9C1782DBDA}"/>
              </a:ext>
            </a:extLst>
          </p:cNvPr>
          <p:cNvSpPr>
            <a:spLocks xmlns:a="http://schemas.openxmlformats.org/drawingml/2006/main" noGrp="1"/>
          </p:cNvSpPr>
          <p:nvPr/>
        </p:nvSpPr>
        <p:spPr>
          <a:xfrm xmlns:a="http://schemas.openxmlformats.org/drawingml/2006/main">
            <a:off x="1695450" y="4591050"/>
            <a:ext cx="1200150" cy="323850"/>
          </a:xfrm>
          <a:prstGeom xmlns:a="http://schemas.openxmlformats.org/drawingml/2006/main" prst="roundRect">
            <a:avLst>
              <a:gd name="adj" fmla="val 14706"/>
            </a:avLst>
          </a:prstGeom>
          <a:solidFill xmlns:a="http://schemas.openxmlformats.org/drawingml/2006/main">
            <a:srgbClr val="FFF7ED"/>
          </a:solidFill>
          <a:ln xmlns:a="http://schemas.openxmlformats.org/drawingml/2006/main" w="9525">
            <a:solidFill>
              <a:srgbClr val="D5DCE8"/>
            </a:solidFill>
            <a:prstDash val="solid"/>
          </a:ln>
        </p:spPr>
      </p:sp>
      <p:sp>
        <p:nvSpPr>
          <p:cNvPr id="44" name="">
            <a:extLst xmlns:a="http://schemas.openxmlformats.org/drawingml/2006/main">
              <a:ext uri="{FF2B5EF4-FFF2-40B4-BE49-F238E27FC236}">
                <a16:creationId xmlns:a16="http://schemas.microsoft.com/office/drawing/2014/main" id="{FAB100DE-F936-4425-8CEF-0E0F64397840}"/>
              </a:ext>
            </a:extLst>
          </p:cNvPr>
          <p:cNvSpPr>
            <a:spLocks xmlns:a="http://schemas.openxmlformats.org/drawingml/2006/main" noGrp="1"/>
          </p:cNvSpPr>
          <p:nvPr/>
        </p:nvSpPr>
        <p:spPr>
          <a:xfrm xmlns:a="http://schemas.openxmlformats.org/drawingml/2006/main">
            <a:off x="1771650" y="4667250"/>
            <a:ext cx="104775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0">
                <a:solidFill>
                  <a:srgbClr val="F59E0B"/>
                </a:solidFill>
                <a:latin typeface="LM Roman 12"/>
                <a:ea typeface="LM Roman 12"/>
                <a:cs typeface="LM Roman 12"/>
              </a:defRPr>
            </a:pPr>
            <a:r>
              <a:rPr sz="1125" b="0">
                <a:solidFill>
                  <a:srgbClr val="F59E0B"/>
                </a:solidFill>
                <a:latin typeface="LM Roman 12"/>
                <a:ea typeface="LM Roman 12"/>
                <a:cs typeface="LM Roman 12"/>
              </a:rPr>
              <a:t>47.0%</a:t>
            </a:r>
          </a:p>
        </p:txBody>
      </p:sp>
      <p:sp>
        <p:nvSpPr>
          <p:cNvPr id="45" name="">
            <a:extLst xmlns:a="http://schemas.openxmlformats.org/drawingml/2006/main">
              <a:ext uri="{FF2B5EF4-FFF2-40B4-BE49-F238E27FC236}">
                <a16:creationId xmlns:a16="http://schemas.microsoft.com/office/drawing/2014/main" id="{AADF0586-2DDC-4BEA-A34D-B8EFE5985AF1}"/>
              </a:ext>
            </a:extLst>
          </p:cNvPr>
          <p:cNvSpPr>
            <a:spLocks xmlns:a="http://schemas.openxmlformats.org/drawingml/2006/main" noGrp="1"/>
          </p:cNvSpPr>
          <p:nvPr/>
        </p:nvSpPr>
        <p:spPr>
          <a:xfrm xmlns:a="http://schemas.openxmlformats.org/drawingml/2006/main">
            <a:off x="2952750" y="4591050"/>
            <a:ext cx="1200150" cy="323850"/>
          </a:xfrm>
          <a:prstGeom xmlns:a="http://schemas.openxmlformats.org/drawingml/2006/main" prst="roundRect">
            <a:avLst>
              <a:gd name="adj" fmla="val 14706"/>
            </a:avLst>
          </a:prstGeom>
          <a:solidFill xmlns:a="http://schemas.openxmlformats.org/drawingml/2006/main">
            <a:srgbClr val="F1F5F9"/>
          </a:solidFill>
          <a:ln xmlns:a="http://schemas.openxmlformats.org/drawingml/2006/main" w="9525">
            <a:solidFill>
              <a:srgbClr val="D5DCE8"/>
            </a:solidFill>
            <a:prstDash val="solid"/>
          </a:ln>
        </p:spPr>
      </p:sp>
      <p:sp>
        <p:nvSpPr>
          <p:cNvPr id="46" name="">
            <a:extLst xmlns:a="http://schemas.openxmlformats.org/drawingml/2006/main">
              <a:ext uri="{FF2B5EF4-FFF2-40B4-BE49-F238E27FC236}">
                <a16:creationId xmlns:a16="http://schemas.microsoft.com/office/drawing/2014/main" id="{445CCF41-D4C1-4062-91AD-6E7751736796}"/>
              </a:ext>
            </a:extLst>
          </p:cNvPr>
          <p:cNvSpPr>
            <a:spLocks xmlns:a="http://schemas.openxmlformats.org/drawingml/2006/main" noGrp="1"/>
          </p:cNvSpPr>
          <p:nvPr/>
        </p:nvSpPr>
        <p:spPr>
          <a:xfrm xmlns:a="http://schemas.openxmlformats.org/drawingml/2006/main">
            <a:off x="3028950" y="4667250"/>
            <a:ext cx="104775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0">
                <a:solidFill>
                  <a:srgbClr val="071F46"/>
                </a:solidFill>
                <a:latin typeface="LM Roman 12"/>
                <a:ea typeface="LM Roman 12"/>
                <a:cs typeface="LM Roman 12"/>
              </a:defRPr>
            </a:pPr>
            <a:r>
              <a:rPr sz="1125" b="0">
                <a:solidFill>
                  <a:srgbClr val="071F46"/>
                </a:solidFill>
                <a:latin typeface="LM Roman 12"/>
                <a:ea typeface="LM Roman 12"/>
                <a:cs typeface="LM Roman 12"/>
              </a:rPr>
              <a:t>51.9%</a:t>
            </a:r>
          </a:p>
        </p:txBody>
      </p:sp>
      <p:sp>
        <p:nvSpPr>
          <p:cNvPr id="47" name="">
            <a:extLst xmlns:a="http://schemas.openxmlformats.org/drawingml/2006/main">
              <a:ext uri="{FF2B5EF4-FFF2-40B4-BE49-F238E27FC236}">
                <a16:creationId xmlns:a16="http://schemas.microsoft.com/office/drawing/2014/main" id="{B5EBD51E-408B-4FD1-9D9F-8E09DBF5AAAA}"/>
              </a:ext>
            </a:extLst>
          </p:cNvPr>
          <p:cNvSpPr>
            <a:spLocks xmlns:a="http://schemas.openxmlformats.org/drawingml/2006/main" noGrp="1"/>
          </p:cNvSpPr>
          <p:nvPr/>
        </p:nvSpPr>
        <p:spPr>
          <a:xfrm xmlns:a="http://schemas.openxmlformats.org/drawingml/2006/main">
            <a:off x="4210050" y="4591050"/>
            <a:ext cx="1200150" cy="323850"/>
          </a:xfrm>
          <a:prstGeom xmlns:a="http://schemas.openxmlformats.org/drawingml/2006/main" prst="roundRect">
            <a:avLst>
              <a:gd name="adj" fmla="val 14706"/>
            </a:avLst>
          </a:prstGeom>
          <a:solidFill xmlns:a="http://schemas.openxmlformats.org/drawingml/2006/main">
            <a:srgbClr val="E8F5F1"/>
          </a:solidFill>
          <a:ln xmlns:a="http://schemas.openxmlformats.org/drawingml/2006/main" w="9525">
            <a:solidFill>
              <a:srgbClr val="D5DCE8"/>
            </a:solidFill>
            <a:prstDash val="solid"/>
          </a:ln>
        </p:spPr>
      </p:sp>
      <p:sp>
        <p:nvSpPr>
          <p:cNvPr id="48" name="">
            <a:extLst xmlns:a="http://schemas.openxmlformats.org/drawingml/2006/main">
              <a:ext uri="{FF2B5EF4-FFF2-40B4-BE49-F238E27FC236}">
                <a16:creationId xmlns:a16="http://schemas.microsoft.com/office/drawing/2014/main" id="{C9E51897-3ED1-4887-AA79-9653A369BF70}"/>
              </a:ext>
            </a:extLst>
          </p:cNvPr>
          <p:cNvSpPr>
            <a:spLocks xmlns:a="http://schemas.openxmlformats.org/drawingml/2006/main" noGrp="1"/>
          </p:cNvSpPr>
          <p:nvPr/>
        </p:nvSpPr>
        <p:spPr>
          <a:xfrm xmlns:a="http://schemas.openxmlformats.org/drawingml/2006/main">
            <a:off x="4286250" y="4667250"/>
            <a:ext cx="104775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43A896"/>
                </a:solidFill>
                <a:latin typeface="LM Roman 12"/>
                <a:ea typeface="LM Roman 12"/>
                <a:cs typeface="LM Roman 12"/>
              </a:defRPr>
            </a:pPr>
            <a:r>
              <a:rPr sz="1125" b="1">
                <a:solidFill>
                  <a:srgbClr val="43A896"/>
                </a:solidFill>
                <a:latin typeface="LM Roman 12"/>
                <a:ea typeface="LM Roman 12"/>
                <a:cs typeface="LM Roman 12"/>
              </a:rPr>
              <a:t>60.2%</a:t>
            </a:r>
          </a:p>
        </p:txBody>
      </p:sp>
      <p:sp>
        <p:nvSpPr>
          <p:cNvPr id="49" name="">
            <a:extLst xmlns:a="http://schemas.openxmlformats.org/drawingml/2006/main">
              <a:ext uri="{FF2B5EF4-FFF2-40B4-BE49-F238E27FC236}">
                <a16:creationId xmlns:a16="http://schemas.microsoft.com/office/drawing/2014/main" id="{9F1399C2-9A94-481E-A0B2-9FA463201C58}"/>
              </a:ext>
            </a:extLst>
          </p:cNvPr>
          <p:cNvSpPr>
            <a:spLocks xmlns:a="http://schemas.openxmlformats.org/drawingml/2006/main" noGrp="1"/>
          </p:cNvSpPr>
          <p:nvPr/>
        </p:nvSpPr>
        <p:spPr>
          <a:xfrm xmlns:a="http://schemas.openxmlformats.org/drawingml/2006/main">
            <a:off x="952500" y="4972050"/>
            <a:ext cx="4972050" cy="361950"/>
          </a:xfrm>
          <a:prstGeom xmlns:a="http://schemas.openxmlformats.org/drawingml/2006/main" prst="roundRect">
            <a:avLst>
              <a:gd name="adj" fmla="val 18421"/>
            </a:avLst>
          </a:prstGeom>
          <a:solidFill xmlns:a="http://schemas.openxmlformats.org/drawingml/2006/main">
            <a:srgbClr val="F1F5F9"/>
          </a:solidFill>
          <a:ln xmlns:a="http://schemas.openxmlformats.org/drawingml/2006/main" w="0">
            <a:solidFill>
              <a:srgbClr val="000000">
                <a:alpha val="0"/>
              </a:srgbClr>
            </a:solidFill>
            <a:prstDash val="solid"/>
          </a:ln>
        </p:spPr>
      </p:sp>
      <p:sp>
        <p:nvSpPr>
          <p:cNvPr id="50" name="">
            <a:extLst xmlns:a="http://schemas.openxmlformats.org/drawingml/2006/main">
              <a:ext uri="{FF2B5EF4-FFF2-40B4-BE49-F238E27FC236}">
                <a16:creationId xmlns:a16="http://schemas.microsoft.com/office/drawing/2014/main" id="{4D5A9191-7E8C-43B3-86CB-654D255D26A1}"/>
              </a:ext>
            </a:extLst>
          </p:cNvPr>
          <p:cNvSpPr>
            <a:spLocks xmlns:a="http://schemas.openxmlformats.org/drawingml/2006/main" noGrp="1"/>
          </p:cNvSpPr>
          <p:nvPr/>
        </p:nvSpPr>
        <p:spPr>
          <a:xfrm xmlns:a="http://schemas.openxmlformats.org/drawingml/2006/main">
            <a:off x="1143000" y="5029200"/>
            <a:ext cx="4591050" cy="2857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071F46"/>
                </a:solidFill>
                <a:latin typeface="LM Roman 12"/>
                <a:ea typeface="LM Roman 12"/>
                <a:cs typeface="LM Roman 12"/>
              </a:defRPr>
            </a:pPr>
            <a:r>
              <a:rPr sz="900" b="1">
                <a:solidFill>
                  <a:srgbClr val="071F46"/>
                </a:solidFill>
                <a:latin typeface="LM Roman 12"/>
                <a:ea typeface="LM Roman 12"/>
                <a:cs typeface="LM Roman 12"/>
              </a:rPr>
              <a:t>Low-rate FIARSE stays near the 60% band; HeteroFL/FedRolex lose more local utility under non-IID data.</a:t>
            </a:r>
          </a:p>
        </p:txBody>
      </p:sp>
      <p:sp>
        <p:nvSpPr>
          <p:cNvPr id="51" name="">
            <a:extLst xmlns:a="http://schemas.openxmlformats.org/drawingml/2006/main">
              <a:ext uri="{FF2B5EF4-FFF2-40B4-BE49-F238E27FC236}">
                <a16:creationId xmlns:a16="http://schemas.microsoft.com/office/drawing/2014/main" id="{CCDEB81A-927D-443C-90BF-3DD1147C03B0}"/>
              </a:ext>
            </a:extLst>
          </p:cNvPr>
          <p:cNvSpPr>
            <a:spLocks xmlns:a="http://schemas.openxmlformats.org/drawingml/2006/main" noGrp="1"/>
          </p:cNvSpPr>
          <p:nvPr/>
        </p:nvSpPr>
        <p:spPr>
          <a:xfrm xmlns:a="http://schemas.openxmlformats.org/drawingml/2006/main">
            <a:off x="6572250" y="2381250"/>
            <a:ext cx="4953000" cy="3638550"/>
          </a:xfrm>
          <a:prstGeom xmlns:a="http://schemas.openxmlformats.org/drawingml/2006/main" prst="roundRect">
            <a:avLst>
              <a:gd name="adj" fmla="val 1832"/>
            </a:avLst>
          </a:prstGeom>
          <a:solidFill xmlns:a="http://schemas.openxmlformats.org/drawingml/2006/main">
            <a:srgbClr val="FFFFFF"/>
          </a:solidFill>
          <a:ln xmlns:a="http://schemas.openxmlformats.org/drawingml/2006/main" w="9525">
            <a:solidFill>
              <a:srgbClr val="D5DCE8"/>
            </a:solidFill>
            <a:prstDash val="solid"/>
          </a:ln>
        </p:spPr>
      </p:sp>
      <p:sp>
        <p:nvSpPr>
          <p:cNvPr id="52" name="">
            <a:extLst xmlns:a="http://schemas.openxmlformats.org/drawingml/2006/main">
              <a:ext uri="{FF2B5EF4-FFF2-40B4-BE49-F238E27FC236}">
                <a16:creationId xmlns:a16="http://schemas.microsoft.com/office/drawing/2014/main" id="{E561B1F6-E315-4A7C-B796-859344DD1B5E}"/>
              </a:ext>
            </a:extLst>
          </p:cNvPr>
          <p:cNvSpPr>
            <a:spLocks xmlns:a="http://schemas.openxmlformats.org/drawingml/2006/main" noGrp="1"/>
          </p:cNvSpPr>
          <p:nvPr/>
        </p:nvSpPr>
        <p:spPr>
          <a:xfrm xmlns:a="http://schemas.openxmlformats.org/drawingml/2006/main">
            <a:off x="6838950" y="2495550"/>
            <a:ext cx="200025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71F46"/>
                </a:solidFill>
                <a:latin typeface="LM Roman 12"/>
                <a:ea typeface="LM Roman 12"/>
                <a:cs typeface="LM Roman 12"/>
              </a:defRPr>
            </a:pPr>
            <a:r>
              <a:rPr sz="900" b="1">
                <a:solidFill>
                  <a:srgbClr val="071F46"/>
                </a:solidFill>
                <a:latin typeface="LM Roman 12"/>
                <a:ea typeface="LM Roman 12"/>
                <a:cs typeface="LM Roman 12"/>
              </a:rPr>
              <a:t>CIFAR-10 distribution</a:t>
            </a:r>
          </a:p>
        </p:txBody>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873a1beee5014d29">
            <a:extLst>
              <a:ext uri="{96DAC541-7B7A-43D3-8B79-37D633B846F1}">
                <asvg:svgBlip xmlns:asvg="http://schemas.microsoft.com/office/drawing/2016/SVG/main" r:embed="R12c3e0d66b444964"/>
              </a:ext>
            </a:extLst>
          </a:blip>
          <a:stretch xmlns:a="http://schemas.openxmlformats.org/drawingml/2006/main"/>
        </p:blipFill>
        <p:spPr>
          <a:xfrm xmlns:a="http://schemas.openxmlformats.org/drawingml/2006/main">
            <a:off x="7364130" y="2686050"/>
            <a:ext cx="3407340" cy="1524000"/>
          </a:xfrm>
          <a:prstGeom xmlns:a="http://schemas.openxmlformats.org/drawingml/2006/main" prst="rect">
            <a:avLst/>
          </a:prstGeom>
        </p:spPr>
      </p:pic>
      <p:sp>
        <p:nvSpPr>
          <p:cNvPr id="54" name="">
            <a:extLst xmlns:a="http://schemas.openxmlformats.org/drawingml/2006/main">
              <a:ext uri="{FF2B5EF4-FFF2-40B4-BE49-F238E27FC236}">
                <a16:creationId xmlns:a16="http://schemas.microsoft.com/office/drawing/2014/main" id="{A3F0D315-F0C5-41BD-8FF5-054B0B51A6FD}"/>
              </a:ext>
            </a:extLst>
          </p:cNvPr>
          <p:cNvSpPr>
            <a:spLocks xmlns:a="http://schemas.openxmlformats.org/drawingml/2006/main" noGrp="1"/>
          </p:cNvSpPr>
          <p:nvPr/>
        </p:nvSpPr>
        <p:spPr>
          <a:xfrm xmlns:a="http://schemas.openxmlformats.org/drawingml/2006/main">
            <a:off x="6838950" y="4248150"/>
            <a:ext cx="257175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71F46"/>
                </a:solidFill>
                <a:latin typeface="LM Roman 12"/>
                <a:ea typeface="LM Roman 12"/>
                <a:cs typeface="LM Roman 12"/>
              </a:defRPr>
            </a:pPr>
            <a:r>
              <a:rPr sz="900" b="1">
                <a:solidFill>
                  <a:srgbClr val="071F46"/>
                </a:solidFill>
                <a:latin typeface="LM Roman 12"/>
                <a:ea typeface="LM Roman 12"/>
                <a:cs typeface="LM Roman 12"/>
              </a:rPr>
              <a:t>California Housing distribution</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eed69a36f86d4315">
            <a:extLst>
              <a:ext uri="{96DAC541-7B7A-43D3-8B79-37D633B846F1}">
                <asvg:svgBlip xmlns:asvg="http://schemas.microsoft.com/office/drawing/2016/SVG/main" r:embed="Rc8c615fb4f504f59"/>
              </a:ext>
            </a:extLst>
          </a:blip>
          <a:stretch xmlns:a="http://schemas.openxmlformats.org/drawingml/2006/main"/>
        </p:blipFill>
        <p:spPr>
          <a:xfrm xmlns:a="http://schemas.openxmlformats.org/drawingml/2006/main">
            <a:off x="7691915" y="4419600"/>
            <a:ext cx="2751769" cy="1524000"/>
          </a:xfrm>
          <a:prstGeom xmlns:a="http://schemas.openxmlformats.org/drawingml/2006/main" prst="rect">
            <a:avLst/>
          </a:prstGeom>
        </p:spPr>
      </p:pic>
      <p:sp>
        <p:nvSpPr>
          <p:cNvPr id="56" name="">
            <a:extLst xmlns:a="http://schemas.openxmlformats.org/drawingml/2006/main">
              <a:ext uri="{FF2B5EF4-FFF2-40B4-BE49-F238E27FC236}">
                <a16:creationId xmlns:a16="http://schemas.microsoft.com/office/drawing/2014/main" id="{E4BADB7B-D018-4887-9C26-D02AF56D4BE3}"/>
              </a:ext>
            </a:extLst>
          </p:cNvPr>
          <p:cNvSpPr>
            <a:spLocks xmlns:a="http://schemas.openxmlformats.org/drawingml/2006/main" noGrp="1"/>
          </p:cNvSpPr>
          <p:nvPr/>
        </p:nvSpPr>
        <p:spPr>
          <a:xfrm xmlns:a="http://schemas.openxmlformats.org/drawingml/2006/main">
            <a:off x="666750" y="6057900"/>
            <a:ext cx="8572500" cy="2095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5B6472"/>
                </a:solidFill>
                <a:latin typeface="LM Roman 12"/>
                <a:ea typeface="LM Roman 12"/>
                <a:cs typeface="LM Roman 12"/>
              </a:defRPr>
            </a:pPr>
            <a:r>
              <a:rPr sz="825" b="0">
                <a:solidFill>
                  <a:srgbClr val="5B6472"/>
                </a:solidFill>
                <a:latin typeface="LM Roman 12"/>
                <a:ea typeface="LM Roman 12"/>
                <a:cs typeface="LM Roman 12"/>
              </a:rPr>
              <a:t>Sources: plot/output/compute_main_cifar10_seed1340_local_submodel_grid_raw.csv and thesis local-submodel distribution figures.</a:t>
            </a:r>
          </a:p>
        </p:txBody>
      </p:sp>
      <p:sp>
        <p:nvSpPr>
          <p:cNvPr id="57" name="">
            <a:extLst xmlns:a="http://schemas.openxmlformats.org/drawingml/2006/main">
              <a:ext uri="{FF2B5EF4-FFF2-40B4-BE49-F238E27FC236}">
                <a16:creationId xmlns:a16="http://schemas.microsoft.com/office/drawing/2014/main" id="{D2C86E56-D6E4-4E7A-86B8-962B83DA7005}"/>
              </a:ext>
            </a:extLst>
          </p:cNvPr>
          <p:cNvSpPr>
            <a:spLocks xmlns:a="http://schemas.openxmlformats.org/drawingml/2006/main" noGrp="1"/>
          </p:cNvSpPr>
          <p:nvPr/>
        </p:nvSpPr>
        <p:spPr>
          <a:xfrm xmlns:a="http://schemas.openxmlformats.org/drawingml/2006/main">
            <a:off x="666750" y="6296025"/>
            <a:ext cx="10858500" cy="9525"/>
          </a:xfrm>
          <a:prstGeom xmlns:a="http://schemas.openxmlformats.org/drawingml/2006/main" prst="rect">
            <a:avLst/>
          </a:prstGeom>
          <a:solidFill xmlns:a="http://schemas.openxmlformats.org/drawingml/2006/main">
            <a:srgbClr val="E6EBF3"/>
          </a:solidFill>
          <a:ln xmlns:a="http://schemas.openxmlformats.org/drawingml/2006/main" w="0">
            <a:solidFill>
              <a:srgbClr val="000000">
                <a:alpha val="0"/>
              </a:srgbClr>
            </a:solidFill>
            <a:prstDash val="solid"/>
          </a:ln>
        </p:spPr>
      </p:sp>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c3906b4552564e1f"/>
          <a:stretch xmlns:a="http://schemas.openxmlformats.org/drawingml/2006/main"/>
        </p:blipFill>
        <p:spPr>
          <a:xfrm xmlns:a="http://schemas.openxmlformats.org/drawingml/2006/main">
            <a:off x="666977" y="6429375"/>
            <a:ext cx="269103" cy="228600"/>
          </a:xfrm>
          <a:prstGeom xmlns:a="http://schemas.openxmlformats.org/drawingml/2006/main" prst="rect">
            <a:avLst/>
          </a:prstGeom>
        </p:spPr>
      </p:pic>
      <p:sp>
        <p:nvSpPr>
          <p:cNvPr id="59" name="">
            <a:extLst xmlns:a="http://schemas.openxmlformats.org/drawingml/2006/main">
              <a:ext uri="{FF2B5EF4-FFF2-40B4-BE49-F238E27FC236}">
                <a16:creationId xmlns:a16="http://schemas.microsoft.com/office/drawing/2014/main" id="{7039DA4D-6D37-4837-9797-6A93552D8493}"/>
              </a:ext>
            </a:extLst>
          </p:cNvPr>
          <p:cNvSpPr>
            <a:spLocks xmlns:a="http://schemas.openxmlformats.org/drawingml/2006/main" noGrp="1"/>
          </p:cNvSpPr>
          <p:nvPr/>
        </p:nvSpPr>
        <p:spPr>
          <a:xfrm xmlns:a="http://schemas.openxmlformats.org/drawingml/2006/main">
            <a:off x="990600" y="6457950"/>
            <a:ext cx="400050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C3: local submodel quality</a:t>
            </a:r>
          </a:p>
        </p:txBody>
      </p:sp>
      <p:sp>
        <p:nvSpPr>
          <p:cNvPr id="60" name="">
            <a:extLst xmlns:a="http://schemas.openxmlformats.org/drawingml/2006/main">
              <a:ext uri="{FF2B5EF4-FFF2-40B4-BE49-F238E27FC236}">
                <a16:creationId xmlns:a16="http://schemas.microsoft.com/office/drawing/2014/main" id="{A4B04BD8-BCFF-41E9-B978-8556C3E5C534}"/>
              </a:ext>
            </a:extLst>
          </p:cNvPr>
          <p:cNvSpPr>
            <a:spLocks xmlns:a="http://schemas.openxmlformats.org/drawingml/2006/main" noGrp="1"/>
          </p:cNvSpPr>
          <p:nvPr/>
        </p:nvSpPr>
        <p:spPr>
          <a:xfrm xmlns:a="http://schemas.openxmlformats.org/drawingml/2006/main">
            <a:off x="11049000" y="6457950"/>
            <a:ext cx="47625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10</a:t>
            </a:r>
          </a:p>
        </p:txBody>
      </p:sp>
    </p:spTree>
    <p:extLst>
      <p:ext uri="{BB962C8B-B14F-4D97-AF65-F5344CB8AC3E}">
        <p14:creationId xmlns:p14="http://schemas.microsoft.com/office/powerpoint/2010/main" val="1553112390"/>
      </p:ext>
    </p:extLst>
  </p:cSld>
</p:sld>
</file>

<file path=ppt/slides/slide11.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872E5EA-B796-44F0-BF0A-A8ADBBD1C534}"/>
              </a:ext>
            </a:extLst>
          </p:cNvPr>
          <p:cNvSpPr>
            <a:spLocks xmlns:a="http://schemas.openxmlformats.org/drawingml/2006/main" noGrp="1"/>
          </p:cNvSpPr>
          <p:nvPr/>
        </p:nvSpPr>
        <p:spPr>
          <a:xfrm xmlns:a="http://schemas.openxmlformats.org/drawingml/2006/main">
            <a:off x="666750" y="342900"/>
            <a:ext cx="4953000" cy="1905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43A896"/>
                </a:solidFill>
                <a:latin typeface="LM Roman 12"/>
                <a:ea typeface="LM Roman 12"/>
                <a:cs typeface="LM Roman 12"/>
              </a:defRPr>
            </a:pPr>
            <a:r>
              <a:rPr sz="975" b="1">
                <a:solidFill>
                  <a:srgbClr val="43A896"/>
                </a:solidFill>
                <a:latin typeface="LM Roman 12"/>
                <a:ea typeface="LM Roman 12"/>
                <a:cs typeface="LM Roman 12"/>
              </a:rPr>
              <a:t>STRAGGLER-INDUCED HETEROGENEITY EVIDENCE</a:t>
            </a:r>
          </a:p>
        </p:txBody>
      </p:sp>
      <p:sp>
        <p:nvSpPr>
          <p:cNvPr id="2" name="">
            <a:extLst xmlns:a="http://schemas.openxmlformats.org/drawingml/2006/main">
              <a:ext uri="{FF2B5EF4-FFF2-40B4-BE49-F238E27FC236}">
                <a16:creationId xmlns:a16="http://schemas.microsoft.com/office/drawing/2014/main" id="{DA1D07B8-E760-4466-BA46-6C50CCF3C640}"/>
              </a:ext>
            </a:extLst>
          </p:cNvPr>
          <p:cNvSpPr>
            <a:spLocks xmlns:a="http://schemas.openxmlformats.org/drawingml/2006/main" noGrp="1"/>
          </p:cNvSpPr>
          <p:nvPr/>
        </p:nvSpPr>
        <p:spPr>
          <a:xfrm xmlns:a="http://schemas.openxmlformats.org/drawingml/2006/main">
            <a:off x="666750" y="590550"/>
            <a:ext cx="9239250" cy="6477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71F46"/>
                </a:solidFill>
                <a:latin typeface="LM Roman 12"/>
                <a:ea typeface="LM Roman 12"/>
                <a:cs typeface="LM Roman 12"/>
              </a:defRPr>
            </a:pPr>
            <a:r>
              <a:rPr sz="2250" b="1">
                <a:solidFill>
                  <a:srgbClr val="071F46"/>
                </a:solidFill>
                <a:latin typeface="LM Roman 12"/>
                <a:ea typeface="LM Roman 12"/>
                <a:cs typeface="LM Roman 12"/>
              </a:rPr>
              <a:t>Asynchrony Under Stragglers</a:t>
            </a:r>
          </a:p>
        </p:txBody>
      </p:sp>
      <p:sp>
        <p:nvSpPr>
          <p:cNvPr id="3" name="">
            <a:extLst xmlns:a="http://schemas.openxmlformats.org/drawingml/2006/main">
              <a:ext uri="{FF2B5EF4-FFF2-40B4-BE49-F238E27FC236}">
                <a16:creationId xmlns:a16="http://schemas.microsoft.com/office/drawing/2014/main" id="{304B0610-7EB8-4293-A2ED-6E4A2E81361A}"/>
              </a:ext>
            </a:extLst>
          </p:cNvPr>
          <p:cNvSpPr>
            <a:spLocks xmlns:a="http://schemas.openxmlformats.org/drawingml/2006/main" noGrp="1"/>
          </p:cNvSpPr>
          <p:nvPr/>
        </p:nvSpPr>
        <p:spPr>
          <a:xfrm xmlns:a="http://schemas.openxmlformats.org/drawingml/2006/main">
            <a:off x="666750" y="1005840"/>
            <a:ext cx="1143000" cy="47625"/>
          </a:xfrm>
          <a:prstGeom xmlns:a="http://schemas.openxmlformats.org/drawingml/2006/main" prst="rect">
            <a:avLst/>
          </a:prstGeom>
          <a:solidFill xmlns:a="http://schemas.openxmlformats.org/drawingml/2006/main">
            <a:srgbClr val="F3C43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EB65034D-9CFD-471C-8D1F-58D80C23325C}"/>
              </a:ext>
            </a:extLst>
          </p:cNvPr>
          <p:cNvSpPr>
            <a:spLocks xmlns:a="http://schemas.openxmlformats.org/drawingml/2006/main" noGrp="1"/>
          </p:cNvSpPr>
          <p:nvPr/>
        </p:nvSpPr>
        <p:spPr>
          <a:xfrm xmlns:a="http://schemas.openxmlformats.org/drawingml/2006/main">
            <a:off x="666750" y="1371600"/>
            <a:ext cx="10858500" cy="609600"/>
          </a:xfrm>
          <a:prstGeom xmlns:a="http://schemas.openxmlformats.org/drawingml/2006/main" prst="roundRect">
            <a:avLst>
              <a:gd name="adj" fmla="val 10938"/>
            </a:avLst>
          </a:prstGeom>
          <a:solidFill xmlns:a="http://schemas.openxmlformats.org/drawingml/2006/main">
            <a:srgbClr val="EEF7F5"/>
          </a:solidFill>
          <a:ln xmlns:a="http://schemas.openxmlformats.org/drawingml/2006/main" w="9525">
            <a:solidFill>
              <a:srgbClr val="D5DCE8"/>
            </a:solidFill>
            <a:prstDash val="solid"/>
          </a:ln>
        </p:spPr>
      </p:sp>
      <p:sp>
        <p:nvSpPr>
          <p:cNvPr id="5" name="">
            <a:extLst xmlns:a="http://schemas.openxmlformats.org/drawingml/2006/main">
              <a:ext uri="{FF2B5EF4-FFF2-40B4-BE49-F238E27FC236}">
                <a16:creationId xmlns:a16="http://schemas.microsoft.com/office/drawing/2014/main" id="{B10E48FE-937E-4EA3-8DCA-8692B84ED239}"/>
              </a:ext>
            </a:extLst>
          </p:cNvPr>
          <p:cNvSpPr>
            <a:spLocks xmlns:a="http://schemas.openxmlformats.org/drawingml/2006/main" noGrp="1"/>
          </p:cNvSpPr>
          <p:nvPr/>
        </p:nvSpPr>
        <p:spPr>
          <a:xfrm xmlns:a="http://schemas.openxmlformats.org/drawingml/2006/main">
            <a:off x="666750" y="1371600"/>
            <a:ext cx="76200" cy="609600"/>
          </a:xfrm>
          <a:prstGeom xmlns:a="http://schemas.openxmlformats.org/drawingml/2006/main" prst="roundRect">
            <a:avLst>
              <a:gd name="adj" fmla="val 50000"/>
            </a:avLst>
          </a:prstGeom>
          <a:solidFill xmlns:a="http://schemas.openxmlformats.org/drawingml/2006/main">
            <a:srgbClr val="43A896"/>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895FA26D-E07F-47B5-ADE5-013F0A5A674F}"/>
              </a:ext>
            </a:extLst>
          </p:cNvPr>
          <p:cNvSpPr>
            <a:spLocks xmlns:a="http://schemas.openxmlformats.org/drawingml/2006/main" noGrp="1"/>
          </p:cNvSpPr>
          <p:nvPr/>
        </p:nvSpPr>
        <p:spPr>
          <a:xfrm xmlns:a="http://schemas.openxmlformats.org/drawingml/2006/main">
            <a:off x="895350" y="1428750"/>
            <a:ext cx="10458450" cy="5143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71F46"/>
                </a:solidFill>
                <a:latin typeface="LM Roman 12"/>
                <a:ea typeface="LM Roman 12"/>
                <a:cs typeface="LM Roman 12"/>
              </a:defRPr>
            </a:pPr>
            <a:r>
              <a:rPr sz="1650" b="1">
                <a:solidFill>
                  <a:srgbClr val="071F46"/>
                </a:solidFill>
                <a:latin typeface="LM Roman 12"/>
                <a:ea typeface="LM Roman 12"/>
                <a:cs typeface="LM Roman 12"/>
              </a:rPr>
              <a:t>The homogeneous all-rpi5 control prevents overclaiming: asynchronous speedups appear when slow devices stretch synchronous rounds.</a:t>
            </a:r>
          </a:p>
        </p:txBody>
      </p:sp>
      <p:sp>
        <p:nvSpPr>
          <p:cNvPr id="7" name="">
            <a:extLst xmlns:a="http://schemas.openxmlformats.org/drawingml/2006/main">
              <a:ext uri="{FF2B5EF4-FFF2-40B4-BE49-F238E27FC236}">
                <a16:creationId xmlns:a16="http://schemas.microsoft.com/office/drawing/2014/main" id="{4CD9BB3C-1CB7-4931-9960-E3C5633CF40A}"/>
              </a:ext>
            </a:extLst>
          </p:cNvPr>
          <p:cNvSpPr>
            <a:spLocks xmlns:a="http://schemas.openxmlformats.org/drawingml/2006/main" noGrp="1"/>
          </p:cNvSpPr>
          <p:nvPr/>
        </p:nvSpPr>
        <p:spPr>
          <a:xfrm xmlns:a="http://schemas.openxmlformats.org/drawingml/2006/main">
            <a:off x="666750" y="2000250"/>
            <a:ext cx="10858500" cy="285750"/>
          </a:xfrm>
          <a:prstGeom xmlns:a="http://schemas.openxmlformats.org/drawingml/2006/main" prst="roundRect">
            <a:avLst>
              <a:gd name="adj" fmla="val 20000"/>
            </a:avLst>
          </a:prstGeom>
          <a:solidFill xmlns:a="http://schemas.openxmlformats.org/drawingml/2006/main">
            <a:srgbClr val="F8FAFC"/>
          </a:solidFill>
          <a:ln xmlns:a="http://schemas.openxmlformats.org/drawingml/2006/main" w="9525">
            <a:solidFill>
              <a:srgbClr val="D5DCE8"/>
            </a:solidFill>
            <a:prstDash val="solid"/>
          </a:ln>
        </p:spPr>
      </p:sp>
      <p:sp>
        <p:nvSpPr>
          <p:cNvPr id="8" name="">
            <a:extLst xmlns:a="http://schemas.openxmlformats.org/drawingml/2006/main">
              <a:ext uri="{FF2B5EF4-FFF2-40B4-BE49-F238E27FC236}">
                <a16:creationId xmlns:a16="http://schemas.microsoft.com/office/drawing/2014/main" id="{817BB2BE-B39F-46CB-8BA2-C3EBDB735FF0}"/>
              </a:ext>
            </a:extLst>
          </p:cNvPr>
          <p:cNvSpPr>
            <a:spLocks xmlns:a="http://schemas.openxmlformats.org/drawingml/2006/main" noGrp="1"/>
          </p:cNvSpPr>
          <p:nvPr/>
        </p:nvSpPr>
        <p:spPr>
          <a:xfrm xmlns:a="http://schemas.openxmlformats.org/drawingml/2006/main">
            <a:off x="666750" y="2000250"/>
            <a:ext cx="66675" cy="28575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CEAC00AB-253D-420E-A434-1F73E618D6AE}"/>
              </a:ext>
            </a:extLst>
          </p:cNvPr>
          <p:cNvSpPr>
            <a:spLocks xmlns:a="http://schemas.openxmlformats.org/drawingml/2006/main" noGrp="1"/>
          </p:cNvSpPr>
          <p:nvPr/>
        </p:nvSpPr>
        <p:spPr>
          <a:xfrm xmlns:a="http://schemas.openxmlformats.org/drawingml/2006/main">
            <a:off x="895350" y="2047875"/>
            <a:ext cx="514350" cy="190500"/>
          </a:xfrm>
          <a:prstGeom xmlns:a="http://schemas.openxmlformats.org/drawingml/2006/main" prst="roundRect">
            <a:avLst>
              <a:gd name="adj" fmla="val 25000"/>
            </a:avLst>
          </a:prstGeom>
          <a:solidFill xmlns:a="http://schemas.openxmlformats.org/drawingml/2006/main">
            <a:srgbClr val="EEF2F7"/>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A98CCD0F-38C9-4C03-AF33-AA52887E2202}"/>
              </a:ext>
            </a:extLst>
          </p:cNvPr>
          <p:cNvSpPr>
            <a:spLocks xmlns:a="http://schemas.openxmlformats.org/drawingml/2006/main" noGrp="1"/>
          </p:cNvSpPr>
          <p:nvPr/>
        </p:nvSpPr>
        <p:spPr>
          <a:xfrm xmlns:a="http://schemas.openxmlformats.org/drawingml/2006/main">
            <a:off x="990600" y="2076450"/>
            <a:ext cx="323850" cy="1333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F59E0B"/>
                </a:solidFill>
                <a:latin typeface="LM Roman 12"/>
                <a:ea typeface="LM Roman 12"/>
                <a:cs typeface="LM Roman 12"/>
              </a:defRPr>
            </a:pPr>
            <a:r>
              <a:rPr sz="863" b="1">
                <a:solidFill>
                  <a:srgbClr val="F59E0B"/>
                </a:solidFill>
                <a:latin typeface="LM Roman 12"/>
                <a:ea typeface="LM Roman 12"/>
                <a:cs typeface="LM Roman 12"/>
              </a:rPr>
              <a:t>S1</a:t>
            </a:r>
          </a:p>
        </p:txBody>
      </p:sp>
      <p:sp>
        <p:nvSpPr>
          <p:cNvPr id="11" name="">
            <a:extLst xmlns:a="http://schemas.openxmlformats.org/drawingml/2006/main">
              <a:ext uri="{FF2B5EF4-FFF2-40B4-BE49-F238E27FC236}">
                <a16:creationId xmlns:a16="http://schemas.microsoft.com/office/drawing/2014/main" id="{25D37968-7EFF-4DD3-B2F2-1D5BFDF3EEF3}"/>
              </a:ext>
            </a:extLst>
          </p:cNvPr>
          <p:cNvSpPr>
            <a:spLocks xmlns:a="http://schemas.openxmlformats.org/drawingml/2006/main" noGrp="1"/>
          </p:cNvSpPr>
          <p:nvPr/>
        </p:nvSpPr>
        <p:spPr>
          <a:xfrm xmlns:a="http://schemas.openxmlformats.org/drawingml/2006/main">
            <a:off x="1543050" y="2066925"/>
            <a:ext cx="9810750" cy="1524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5B6472"/>
                </a:solidFill>
                <a:latin typeface="LM Roman 12"/>
                <a:ea typeface="LM Roman 12"/>
                <a:cs typeface="LM Roman 12"/>
              </a:defRPr>
            </a:pPr>
            <a:r>
              <a:rPr sz="863" b="1">
                <a:solidFill>
                  <a:srgbClr val="5B6472"/>
                </a:solidFill>
                <a:latin typeface="LM Roman 12"/>
                <a:ea typeface="LM Roman 12"/>
                <a:cs typeface="LM Roman 12"/>
              </a:rPr>
              <a:t>CIFAR-10  |  IID/non-IID x all-rpi5/mixed  |  target: 60%  |  FedAvg, FedAsync, FedBuff, FedStaleWeight</a:t>
            </a:r>
          </a:p>
        </p:txBody>
      </p:sp>
      <p:sp>
        <p:nvSpPr>
          <p:cNvPr id="12" name="">
            <a:extLst xmlns:a="http://schemas.openxmlformats.org/drawingml/2006/main">
              <a:ext uri="{FF2B5EF4-FFF2-40B4-BE49-F238E27FC236}">
                <a16:creationId xmlns:a16="http://schemas.microsoft.com/office/drawing/2014/main" id="{DDA4408B-B2C9-4294-A24F-3F51E8729EB8}"/>
              </a:ext>
            </a:extLst>
          </p:cNvPr>
          <p:cNvSpPr>
            <a:spLocks xmlns:a="http://schemas.openxmlformats.org/drawingml/2006/main" noGrp="1"/>
          </p:cNvSpPr>
          <p:nvPr/>
        </p:nvSpPr>
        <p:spPr>
          <a:xfrm xmlns:a="http://schemas.openxmlformats.org/drawingml/2006/main">
            <a:off x="666750" y="2400300"/>
            <a:ext cx="3048000" cy="2266950"/>
          </a:xfrm>
          <a:prstGeom xmlns:a="http://schemas.openxmlformats.org/drawingml/2006/main" prst="roundRect">
            <a:avLst>
              <a:gd name="adj" fmla="val 2941"/>
            </a:avLst>
          </a:prstGeom>
          <a:solidFill xmlns:a="http://schemas.openxmlformats.org/drawingml/2006/main">
            <a:srgbClr val="FFFFFF"/>
          </a:solidFill>
          <a:ln xmlns:a="http://schemas.openxmlformats.org/drawingml/2006/main" w="9525">
            <a:solidFill>
              <a:srgbClr val="D5DCE8"/>
            </a:solidFill>
            <a:prstDash val="solid"/>
          </a:ln>
        </p:spPr>
      </p:sp>
      <p:sp>
        <p:nvSpPr>
          <p:cNvPr id="13" name="">
            <a:extLst xmlns:a="http://schemas.openxmlformats.org/drawingml/2006/main">
              <a:ext uri="{FF2B5EF4-FFF2-40B4-BE49-F238E27FC236}">
                <a16:creationId xmlns:a16="http://schemas.microsoft.com/office/drawing/2014/main" id="{5F1F7EE9-C37F-435C-A9A7-CC8431C3A299}"/>
              </a:ext>
            </a:extLst>
          </p:cNvPr>
          <p:cNvSpPr>
            <a:spLocks xmlns:a="http://schemas.openxmlformats.org/drawingml/2006/main" noGrp="1"/>
          </p:cNvSpPr>
          <p:nvPr/>
        </p:nvSpPr>
        <p:spPr>
          <a:xfrm xmlns:a="http://schemas.openxmlformats.org/drawingml/2006/main">
            <a:off x="666750" y="2400300"/>
            <a:ext cx="76200" cy="2266950"/>
          </a:xfrm>
          <a:prstGeom xmlns:a="http://schemas.openxmlformats.org/drawingml/2006/main" prst="roundRect">
            <a:avLst>
              <a:gd name="adj" fmla="val 50000"/>
            </a:avLst>
          </a:prstGeom>
          <a:solidFill xmlns:a="http://schemas.openxmlformats.org/drawingml/2006/main">
            <a:srgbClr val="1F77B4"/>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CDA9217A-EEB0-4ED4-866C-72B0F003D7DF}"/>
              </a:ext>
            </a:extLst>
          </p:cNvPr>
          <p:cNvSpPr>
            <a:spLocks xmlns:a="http://schemas.openxmlformats.org/drawingml/2006/main" noGrp="1"/>
          </p:cNvSpPr>
          <p:nvPr/>
        </p:nvSpPr>
        <p:spPr>
          <a:xfrm xmlns:a="http://schemas.openxmlformats.org/drawingml/2006/main">
            <a:off x="933450" y="2590800"/>
            <a:ext cx="2381250" cy="2667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71F46"/>
                </a:solidFill>
                <a:latin typeface="LM Roman 12"/>
                <a:ea typeface="LM Roman 12"/>
                <a:cs typeface="LM Roman 12"/>
              </a:defRPr>
            </a:pPr>
            <a:r>
              <a:rPr sz="1650" b="1">
                <a:solidFill>
                  <a:srgbClr val="071F46"/>
                </a:solidFill>
                <a:latin typeface="LM Roman 12"/>
                <a:ea typeface="LM Roman 12"/>
                <a:cs typeface="LM Roman 12"/>
              </a:rPr>
              <a:t>All-rpi5 control</a:t>
            </a:r>
          </a:p>
        </p:txBody>
      </p:sp>
      <p:sp>
        <p:nvSpPr>
          <p:cNvPr id="15" name="">
            <a:extLst xmlns:a="http://schemas.openxmlformats.org/drawingml/2006/main">
              <a:ext uri="{FF2B5EF4-FFF2-40B4-BE49-F238E27FC236}">
                <a16:creationId xmlns:a16="http://schemas.microsoft.com/office/drawing/2014/main" id="{3CEE5B2A-C870-484B-9877-087372D993D8}"/>
              </a:ext>
            </a:extLst>
          </p:cNvPr>
          <p:cNvSpPr>
            <a:spLocks xmlns:a="http://schemas.openxmlformats.org/drawingml/2006/main" noGrp="1"/>
          </p:cNvSpPr>
          <p:nvPr/>
        </p:nvSpPr>
        <p:spPr>
          <a:xfrm xmlns:a="http://schemas.openxmlformats.org/drawingml/2006/main">
            <a:off x="933450" y="2914650"/>
            <a:ext cx="2286000" cy="4572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FedAvg remains the target-time control when completion times are similar.</a:t>
            </a:r>
          </a:p>
        </p:txBody>
      </p:sp>
      <p:sp>
        <p:nvSpPr>
          <p:cNvPr id="16" name="">
            <a:extLst xmlns:a="http://schemas.openxmlformats.org/drawingml/2006/main">
              <a:ext uri="{FF2B5EF4-FFF2-40B4-BE49-F238E27FC236}">
                <a16:creationId xmlns:a16="http://schemas.microsoft.com/office/drawing/2014/main" id="{CD457980-D259-4007-8AA7-7F1CE32B77CB}"/>
              </a:ext>
            </a:extLst>
          </p:cNvPr>
          <p:cNvSpPr>
            <a:spLocks xmlns:a="http://schemas.openxmlformats.org/drawingml/2006/main" noGrp="1"/>
          </p:cNvSpPr>
          <p:nvPr/>
        </p:nvSpPr>
        <p:spPr>
          <a:xfrm xmlns:a="http://schemas.openxmlformats.org/drawingml/2006/main">
            <a:off x="933450" y="3429000"/>
            <a:ext cx="2324100" cy="438150"/>
          </a:xfrm>
          <a:prstGeom xmlns:a="http://schemas.openxmlformats.org/drawingml/2006/main" prst="roundRect">
            <a:avLst>
              <a:gd name="adj" fmla="val 13043"/>
            </a:avLst>
          </a:prstGeom>
          <a:solidFill xmlns:a="http://schemas.openxmlformats.org/drawingml/2006/main">
            <a:srgbClr val="F1F5F9"/>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B2B14C62-E516-425C-94C7-AE5216A1AE6B}"/>
              </a:ext>
            </a:extLst>
          </p:cNvPr>
          <p:cNvSpPr>
            <a:spLocks xmlns:a="http://schemas.openxmlformats.org/drawingml/2006/main" noGrp="1"/>
          </p:cNvSpPr>
          <p:nvPr/>
        </p:nvSpPr>
        <p:spPr>
          <a:xfrm xmlns:a="http://schemas.openxmlformats.org/drawingml/2006/main">
            <a:off x="1104900" y="3533775"/>
            <a:ext cx="1981200" cy="2095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111827"/>
                </a:solidFill>
                <a:latin typeface="LM Roman 12"/>
                <a:ea typeface="LM Roman 12"/>
                <a:cs typeface="LM Roman 12"/>
              </a:defRPr>
            </a:pPr>
            <a:r>
              <a:rPr sz="900" b="0">
                <a:solidFill>
                  <a:srgbClr val="111827"/>
                </a:solidFill>
                <a:latin typeface="LM Roman 12"/>
                <a:ea typeface="LM Roman 12"/>
                <a:cs typeface="LM Roman 12"/>
              </a:rPr>
              <a:t>IID: FedAvg 651s; best async 715s</a:t>
            </a:r>
          </a:p>
        </p:txBody>
      </p:sp>
      <p:sp>
        <p:nvSpPr>
          <p:cNvPr id="18" name="">
            <a:extLst xmlns:a="http://schemas.openxmlformats.org/drawingml/2006/main">
              <a:ext uri="{FF2B5EF4-FFF2-40B4-BE49-F238E27FC236}">
                <a16:creationId xmlns:a16="http://schemas.microsoft.com/office/drawing/2014/main" id="{BF899B21-8ABD-4DC7-A460-13E0CE735986}"/>
              </a:ext>
            </a:extLst>
          </p:cNvPr>
          <p:cNvSpPr>
            <a:spLocks xmlns:a="http://schemas.openxmlformats.org/drawingml/2006/main" noGrp="1"/>
          </p:cNvSpPr>
          <p:nvPr/>
        </p:nvSpPr>
        <p:spPr>
          <a:xfrm xmlns:a="http://schemas.openxmlformats.org/drawingml/2006/main">
            <a:off x="933450" y="3981450"/>
            <a:ext cx="2324100" cy="552450"/>
          </a:xfrm>
          <a:prstGeom xmlns:a="http://schemas.openxmlformats.org/drawingml/2006/main" prst="roundRect">
            <a:avLst>
              <a:gd name="adj" fmla="val 10345"/>
            </a:avLst>
          </a:prstGeom>
          <a:solidFill xmlns:a="http://schemas.openxmlformats.org/drawingml/2006/main">
            <a:srgbClr val="F1F5F9"/>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6BC7E39C-B272-412A-BAA3-ABE08C89B14D}"/>
              </a:ext>
            </a:extLst>
          </p:cNvPr>
          <p:cNvSpPr>
            <a:spLocks xmlns:a="http://schemas.openxmlformats.org/drawingml/2006/main" noGrp="1"/>
          </p:cNvSpPr>
          <p:nvPr/>
        </p:nvSpPr>
        <p:spPr>
          <a:xfrm xmlns:a="http://schemas.openxmlformats.org/drawingml/2006/main">
            <a:off x="1085850" y="4057650"/>
            <a:ext cx="2019300" cy="2857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111827"/>
                </a:solidFill>
                <a:latin typeface="LM Roman 12"/>
                <a:ea typeface="LM Roman 12"/>
                <a:cs typeface="LM Roman 12"/>
              </a:defRPr>
            </a:pPr>
            <a:r>
              <a:rPr sz="900" b="0">
                <a:solidFill>
                  <a:srgbClr val="111827"/>
                </a:solidFill>
                <a:latin typeface="LM Roman 12"/>
                <a:ea typeface="LM Roman 12"/>
                <a:cs typeface="LM Roman 12"/>
              </a:rPr>
              <a:t>Non-IID: FedAvg 1320s; best async 1486s</a:t>
            </a:r>
          </a:p>
        </p:txBody>
      </p:sp>
      <p:sp>
        <p:nvSpPr>
          <p:cNvPr id="20" name="">
            <a:extLst xmlns:a="http://schemas.openxmlformats.org/drawingml/2006/main">
              <a:ext uri="{FF2B5EF4-FFF2-40B4-BE49-F238E27FC236}">
                <a16:creationId xmlns:a16="http://schemas.microsoft.com/office/drawing/2014/main" id="{F7A653A7-9545-434B-9AED-7B2E0650F891}"/>
              </a:ext>
            </a:extLst>
          </p:cNvPr>
          <p:cNvSpPr>
            <a:spLocks xmlns:a="http://schemas.openxmlformats.org/drawingml/2006/main" noGrp="1"/>
          </p:cNvSpPr>
          <p:nvPr/>
        </p:nvSpPr>
        <p:spPr>
          <a:xfrm xmlns:a="http://schemas.openxmlformats.org/drawingml/2006/main">
            <a:off x="4095750" y="2400300"/>
            <a:ext cx="7429500" cy="2266950"/>
          </a:xfrm>
          <a:prstGeom xmlns:a="http://schemas.openxmlformats.org/drawingml/2006/main" prst="roundRect">
            <a:avLst>
              <a:gd name="adj" fmla="val 2941"/>
            </a:avLst>
          </a:prstGeom>
          <a:solidFill xmlns:a="http://schemas.openxmlformats.org/drawingml/2006/main">
            <a:srgbClr val="FFFFFF"/>
          </a:solidFill>
          <a:ln xmlns:a="http://schemas.openxmlformats.org/drawingml/2006/main" w="9525">
            <a:solidFill>
              <a:srgbClr val="D5DCE8"/>
            </a:solidFill>
            <a:prstDash val="solid"/>
          </a:ln>
        </p:spPr>
      </p:sp>
      <p:sp>
        <p:nvSpPr>
          <p:cNvPr id="21" name="">
            <a:extLst xmlns:a="http://schemas.openxmlformats.org/drawingml/2006/main">
              <a:ext uri="{FF2B5EF4-FFF2-40B4-BE49-F238E27FC236}">
                <a16:creationId xmlns:a16="http://schemas.microsoft.com/office/drawing/2014/main" id="{EB5C53D5-716B-4E7A-BFFB-F0941C9EA687}"/>
              </a:ext>
            </a:extLst>
          </p:cNvPr>
          <p:cNvSpPr>
            <a:spLocks xmlns:a="http://schemas.openxmlformats.org/drawingml/2006/main" noGrp="1"/>
          </p:cNvSpPr>
          <p:nvPr/>
        </p:nvSpPr>
        <p:spPr>
          <a:xfrm xmlns:a="http://schemas.openxmlformats.org/drawingml/2006/main">
            <a:off x="4381500" y="2590800"/>
            <a:ext cx="4762500" cy="2667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71F46"/>
                </a:solidFill>
                <a:latin typeface="LM Roman 12"/>
                <a:ea typeface="LM Roman 12"/>
                <a:cs typeface="LM Roman 12"/>
              </a:defRPr>
            </a:pPr>
            <a:r>
              <a:rPr sz="1650" b="1">
                <a:solidFill>
                  <a:srgbClr val="071F46"/>
                </a:solidFill>
                <a:latin typeface="LM Roman 12"/>
                <a:ea typeface="LM Roman 12"/>
                <a:cs typeface="LM Roman 12"/>
              </a:rPr>
              <a:t>Mixed topology: time to 60% target</a:t>
            </a:r>
          </a:p>
        </p:txBody>
      </p:sp>
      <p:sp>
        <p:nvSpPr>
          <p:cNvPr id="22" name="">
            <a:extLst xmlns:a="http://schemas.openxmlformats.org/drawingml/2006/main">
              <a:ext uri="{FF2B5EF4-FFF2-40B4-BE49-F238E27FC236}">
                <a16:creationId xmlns:a16="http://schemas.microsoft.com/office/drawing/2014/main" id="{9B1F3473-A07F-40D7-9D99-DF8AEA796C06}"/>
              </a:ext>
            </a:extLst>
          </p:cNvPr>
          <p:cNvSpPr>
            <a:spLocks xmlns:a="http://schemas.openxmlformats.org/drawingml/2006/main" noGrp="1"/>
          </p:cNvSpPr>
          <p:nvPr/>
        </p:nvSpPr>
        <p:spPr>
          <a:xfrm xmlns:a="http://schemas.openxmlformats.org/drawingml/2006/main">
            <a:off x="4381500" y="2971800"/>
            <a:ext cx="1143000" cy="2667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17474AD9-C82F-44A9-95E6-329EC9BF5159}"/>
              </a:ext>
            </a:extLst>
          </p:cNvPr>
          <p:cNvSpPr>
            <a:spLocks xmlns:a="http://schemas.openxmlformats.org/drawingml/2006/main" noGrp="1"/>
          </p:cNvSpPr>
          <p:nvPr/>
        </p:nvSpPr>
        <p:spPr>
          <a:xfrm xmlns:a="http://schemas.openxmlformats.org/drawingml/2006/main">
            <a:off x="4476750" y="3019425"/>
            <a:ext cx="95250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071F46"/>
                </a:solidFill>
                <a:latin typeface="LM Roman 12"/>
                <a:ea typeface="LM Roman 12"/>
                <a:cs typeface="LM Roman 12"/>
              </a:defRPr>
            </a:pPr>
            <a:r>
              <a:rPr sz="900" b="1">
                <a:solidFill>
                  <a:srgbClr val="071F46"/>
                </a:solidFill>
                <a:latin typeface="LM Roman 12"/>
                <a:ea typeface="LM Roman 12"/>
                <a:cs typeface="LM Roman 12"/>
              </a:rPr>
              <a:t>IID</a:t>
            </a:r>
          </a:p>
        </p:txBody>
      </p:sp>
      <p:sp>
        <p:nvSpPr>
          <p:cNvPr id="24" name="">
            <a:extLst xmlns:a="http://schemas.openxmlformats.org/drawingml/2006/main">
              <a:ext uri="{FF2B5EF4-FFF2-40B4-BE49-F238E27FC236}">
                <a16:creationId xmlns:a16="http://schemas.microsoft.com/office/drawing/2014/main" id="{EAC732E6-D537-4907-B780-0E4674C780F5}"/>
              </a:ext>
            </a:extLst>
          </p:cNvPr>
          <p:cNvSpPr>
            <a:spLocks xmlns:a="http://schemas.openxmlformats.org/drawingml/2006/main" noGrp="1"/>
          </p:cNvSpPr>
          <p:nvPr/>
        </p:nvSpPr>
        <p:spPr>
          <a:xfrm xmlns:a="http://schemas.openxmlformats.org/drawingml/2006/main">
            <a:off x="4381500" y="3267075"/>
            <a:ext cx="95250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11827"/>
                </a:solidFill>
                <a:latin typeface="LM Roman 12"/>
                <a:ea typeface="LM Roman 12"/>
                <a:cs typeface="LM Roman 12"/>
              </a:defRPr>
            </a:pPr>
            <a:r>
              <a:rPr sz="975" b="0">
                <a:solidFill>
                  <a:srgbClr val="111827"/>
                </a:solidFill>
                <a:latin typeface="LM Roman 12"/>
                <a:ea typeface="LM Roman 12"/>
                <a:cs typeface="LM Roman 12"/>
              </a:rPr>
              <a:t>FedAvg</a:t>
            </a:r>
          </a:p>
        </p:txBody>
      </p:sp>
      <p:sp>
        <p:nvSpPr>
          <p:cNvPr id="25" name="">
            <a:extLst xmlns:a="http://schemas.openxmlformats.org/drawingml/2006/main">
              <a:ext uri="{FF2B5EF4-FFF2-40B4-BE49-F238E27FC236}">
                <a16:creationId xmlns:a16="http://schemas.microsoft.com/office/drawing/2014/main" id="{E4EEBD49-4BD0-42FE-A678-D5D924C8FC35}"/>
              </a:ext>
            </a:extLst>
          </p:cNvPr>
          <p:cNvSpPr>
            <a:spLocks xmlns:a="http://schemas.openxmlformats.org/drawingml/2006/main" noGrp="1"/>
          </p:cNvSpPr>
          <p:nvPr/>
        </p:nvSpPr>
        <p:spPr>
          <a:xfrm xmlns:a="http://schemas.openxmlformats.org/drawingml/2006/main">
            <a:off x="5334000" y="3314700"/>
            <a:ext cx="1714500" cy="152400"/>
          </a:xfrm>
          <a:prstGeom xmlns:a="http://schemas.openxmlformats.org/drawingml/2006/main" prst="roundRect">
            <a:avLst>
              <a:gd name="adj" fmla="val 50000"/>
            </a:avLst>
          </a:prstGeom>
          <a:solidFill xmlns:a="http://schemas.openxmlformats.org/drawingml/2006/main">
            <a:srgbClr val="E7EDF6"/>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66894374-ED4D-4EAE-9B01-45942452FD71}"/>
              </a:ext>
            </a:extLst>
          </p:cNvPr>
          <p:cNvSpPr>
            <a:spLocks xmlns:a="http://schemas.openxmlformats.org/drawingml/2006/main" noGrp="1"/>
          </p:cNvSpPr>
          <p:nvPr/>
        </p:nvSpPr>
        <p:spPr>
          <a:xfrm xmlns:a="http://schemas.openxmlformats.org/drawingml/2006/main">
            <a:off x="5334000" y="3314700"/>
            <a:ext cx="856025" cy="152400"/>
          </a:xfrm>
          <a:prstGeom xmlns:a="http://schemas.openxmlformats.org/drawingml/2006/main" prst="roundRect">
            <a:avLst>
              <a:gd name="adj" fmla="val 50000"/>
            </a:avLst>
          </a:prstGeom>
          <a:solidFill xmlns:a="http://schemas.openxmlformats.org/drawingml/2006/main">
            <a:srgbClr val="1F77B4"/>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C66A215D-939E-4CE9-8931-9C0D38A3E9A1}"/>
              </a:ext>
            </a:extLst>
          </p:cNvPr>
          <p:cNvSpPr>
            <a:spLocks xmlns:a="http://schemas.openxmlformats.org/drawingml/2006/main" noGrp="1"/>
          </p:cNvSpPr>
          <p:nvPr/>
        </p:nvSpPr>
        <p:spPr>
          <a:xfrm xmlns:a="http://schemas.openxmlformats.org/drawingml/2006/main">
            <a:off x="7143750" y="3267075"/>
            <a:ext cx="51435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B6472"/>
                </a:solidFill>
                <a:latin typeface="LM Roman 12"/>
                <a:ea typeface="LM Roman 12"/>
                <a:cs typeface="LM Roman 12"/>
              </a:defRPr>
            </a:pPr>
            <a:r>
              <a:rPr sz="900" b="0">
                <a:solidFill>
                  <a:srgbClr val="5B6472"/>
                </a:solidFill>
                <a:latin typeface="LM Roman 12"/>
                <a:ea typeface="LM Roman 12"/>
                <a:cs typeface="LM Roman 12"/>
              </a:rPr>
              <a:t>2097s</a:t>
            </a:r>
          </a:p>
        </p:txBody>
      </p:sp>
      <p:sp>
        <p:nvSpPr>
          <p:cNvPr id="28" name="">
            <a:extLst xmlns:a="http://schemas.openxmlformats.org/drawingml/2006/main">
              <a:ext uri="{FF2B5EF4-FFF2-40B4-BE49-F238E27FC236}">
                <a16:creationId xmlns:a16="http://schemas.microsoft.com/office/drawing/2014/main" id="{6944584F-1D8F-4C65-A835-254926C5E37C}"/>
              </a:ext>
            </a:extLst>
          </p:cNvPr>
          <p:cNvSpPr>
            <a:spLocks xmlns:a="http://schemas.openxmlformats.org/drawingml/2006/main" noGrp="1"/>
          </p:cNvSpPr>
          <p:nvPr/>
        </p:nvSpPr>
        <p:spPr>
          <a:xfrm xmlns:a="http://schemas.openxmlformats.org/drawingml/2006/main">
            <a:off x="4381500" y="3571875"/>
            <a:ext cx="95250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11827"/>
                </a:solidFill>
                <a:latin typeface="LM Roman 12"/>
                <a:ea typeface="LM Roman 12"/>
                <a:cs typeface="LM Roman 12"/>
              </a:defRPr>
            </a:pPr>
            <a:r>
              <a:rPr sz="975" b="1">
                <a:solidFill>
                  <a:srgbClr val="111827"/>
                </a:solidFill>
                <a:latin typeface="LM Roman 12"/>
                <a:ea typeface="LM Roman 12"/>
                <a:cs typeface="LM Roman 12"/>
              </a:rPr>
              <a:t>FedAsync</a:t>
            </a:r>
          </a:p>
        </p:txBody>
      </p:sp>
      <p:sp>
        <p:nvSpPr>
          <p:cNvPr id="29" name="">
            <a:extLst xmlns:a="http://schemas.openxmlformats.org/drawingml/2006/main">
              <a:ext uri="{FF2B5EF4-FFF2-40B4-BE49-F238E27FC236}">
                <a16:creationId xmlns:a16="http://schemas.microsoft.com/office/drawing/2014/main" id="{EA49B516-382F-4F6F-B989-8D1C9B50E40E}"/>
              </a:ext>
            </a:extLst>
          </p:cNvPr>
          <p:cNvSpPr>
            <a:spLocks xmlns:a="http://schemas.openxmlformats.org/drawingml/2006/main" noGrp="1"/>
          </p:cNvSpPr>
          <p:nvPr/>
        </p:nvSpPr>
        <p:spPr>
          <a:xfrm xmlns:a="http://schemas.openxmlformats.org/drawingml/2006/main">
            <a:off x="5334000" y="3619500"/>
            <a:ext cx="1714500" cy="152400"/>
          </a:xfrm>
          <a:prstGeom xmlns:a="http://schemas.openxmlformats.org/drawingml/2006/main" prst="roundRect">
            <a:avLst>
              <a:gd name="adj" fmla="val 50000"/>
            </a:avLst>
          </a:prstGeom>
          <a:solidFill xmlns:a="http://schemas.openxmlformats.org/drawingml/2006/main">
            <a:srgbClr val="E7EDF6"/>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568C8B90-32A7-4B0A-8C53-495560DBF54A}"/>
              </a:ext>
            </a:extLst>
          </p:cNvPr>
          <p:cNvSpPr>
            <a:spLocks xmlns:a="http://schemas.openxmlformats.org/drawingml/2006/main" noGrp="1"/>
          </p:cNvSpPr>
          <p:nvPr/>
        </p:nvSpPr>
        <p:spPr>
          <a:xfrm xmlns:a="http://schemas.openxmlformats.org/drawingml/2006/main">
            <a:off x="5334000" y="3619500"/>
            <a:ext cx="253909" cy="152400"/>
          </a:xfrm>
          <a:prstGeom xmlns:a="http://schemas.openxmlformats.org/drawingml/2006/main" prst="roundRect">
            <a:avLst>
              <a:gd name="adj" fmla="val 50000"/>
            </a:avLst>
          </a:prstGeom>
          <a:solidFill xmlns:a="http://schemas.openxmlformats.org/drawingml/2006/main">
            <a:srgbClr val="1DB954"/>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0975D8B2-BE35-437B-AF72-D7CD20DF980B}"/>
              </a:ext>
            </a:extLst>
          </p:cNvPr>
          <p:cNvSpPr>
            <a:spLocks xmlns:a="http://schemas.openxmlformats.org/drawingml/2006/main" noGrp="1"/>
          </p:cNvSpPr>
          <p:nvPr/>
        </p:nvSpPr>
        <p:spPr>
          <a:xfrm xmlns:a="http://schemas.openxmlformats.org/drawingml/2006/main">
            <a:off x="7143750" y="3571875"/>
            <a:ext cx="51435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B6472"/>
                </a:solidFill>
                <a:latin typeface="LM Roman 12"/>
                <a:ea typeface="LM Roman 12"/>
                <a:cs typeface="LM Roman 12"/>
              </a:defRPr>
            </a:pPr>
            <a:r>
              <a:rPr sz="900" b="0">
                <a:solidFill>
                  <a:srgbClr val="5B6472"/>
                </a:solidFill>
                <a:latin typeface="LM Roman 12"/>
                <a:ea typeface="LM Roman 12"/>
                <a:cs typeface="LM Roman 12"/>
              </a:rPr>
              <a:t>622s</a:t>
            </a:r>
          </a:p>
        </p:txBody>
      </p:sp>
      <p:sp>
        <p:nvSpPr>
          <p:cNvPr id="32" name="">
            <a:extLst xmlns:a="http://schemas.openxmlformats.org/drawingml/2006/main">
              <a:ext uri="{FF2B5EF4-FFF2-40B4-BE49-F238E27FC236}">
                <a16:creationId xmlns:a16="http://schemas.microsoft.com/office/drawing/2014/main" id="{164CC151-3902-4C1A-9554-58575D77945F}"/>
              </a:ext>
            </a:extLst>
          </p:cNvPr>
          <p:cNvSpPr>
            <a:spLocks xmlns:a="http://schemas.openxmlformats.org/drawingml/2006/main" noGrp="1"/>
          </p:cNvSpPr>
          <p:nvPr/>
        </p:nvSpPr>
        <p:spPr>
          <a:xfrm xmlns:a="http://schemas.openxmlformats.org/drawingml/2006/main">
            <a:off x="4381500" y="3876675"/>
            <a:ext cx="95250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11827"/>
                </a:solidFill>
                <a:latin typeface="LM Roman 12"/>
                <a:ea typeface="LM Roman 12"/>
                <a:cs typeface="LM Roman 12"/>
              </a:defRPr>
            </a:pPr>
            <a:r>
              <a:rPr sz="975" b="0">
                <a:solidFill>
                  <a:srgbClr val="111827"/>
                </a:solidFill>
                <a:latin typeface="LM Roman 12"/>
                <a:ea typeface="LM Roman 12"/>
                <a:cs typeface="LM Roman 12"/>
              </a:rPr>
              <a:t>FedBuff</a:t>
            </a:r>
          </a:p>
        </p:txBody>
      </p:sp>
      <p:sp>
        <p:nvSpPr>
          <p:cNvPr id="33" name="">
            <a:extLst xmlns:a="http://schemas.openxmlformats.org/drawingml/2006/main">
              <a:ext uri="{FF2B5EF4-FFF2-40B4-BE49-F238E27FC236}">
                <a16:creationId xmlns:a16="http://schemas.microsoft.com/office/drawing/2014/main" id="{7A5C288B-5592-4226-AB97-E80CA79F0DBF}"/>
              </a:ext>
            </a:extLst>
          </p:cNvPr>
          <p:cNvSpPr>
            <a:spLocks xmlns:a="http://schemas.openxmlformats.org/drawingml/2006/main" noGrp="1"/>
          </p:cNvSpPr>
          <p:nvPr/>
        </p:nvSpPr>
        <p:spPr>
          <a:xfrm xmlns:a="http://schemas.openxmlformats.org/drawingml/2006/main">
            <a:off x="5334000" y="3924300"/>
            <a:ext cx="1714500" cy="152400"/>
          </a:xfrm>
          <a:prstGeom xmlns:a="http://schemas.openxmlformats.org/drawingml/2006/main" prst="roundRect">
            <a:avLst>
              <a:gd name="adj" fmla="val 50000"/>
            </a:avLst>
          </a:prstGeom>
          <a:solidFill xmlns:a="http://schemas.openxmlformats.org/drawingml/2006/main">
            <a:srgbClr val="E7EDF6"/>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30A98CFF-BE7D-4407-987A-58069C5A818F}"/>
              </a:ext>
            </a:extLst>
          </p:cNvPr>
          <p:cNvSpPr>
            <a:spLocks xmlns:a="http://schemas.openxmlformats.org/drawingml/2006/main" noGrp="1"/>
          </p:cNvSpPr>
          <p:nvPr/>
        </p:nvSpPr>
        <p:spPr>
          <a:xfrm xmlns:a="http://schemas.openxmlformats.org/drawingml/2006/main">
            <a:off x="5334000" y="3924300"/>
            <a:ext cx="464548" cy="15240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583F512E-8613-41C4-A3AC-6DB9BAC35584}"/>
              </a:ext>
            </a:extLst>
          </p:cNvPr>
          <p:cNvSpPr>
            <a:spLocks xmlns:a="http://schemas.openxmlformats.org/drawingml/2006/main" noGrp="1"/>
          </p:cNvSpPr>
          <p:nvPr/>
        </p:nvSpPr>
        <p:spPr>
          <a:xfrm xmlns:a="http://schemas.openxmlformats.org/drawingml/2006/main">
            <a:off x="7143750" y="3876675"/>
            <a:ext cx="51435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B6472"/>
                </a:solidFill>
                <a:latin typeface="LM Roman 12"/>
                <a:ea typeface="LM Roman 12"/>
                <a:cs typeface="LM Roman 12"/>
              </a:defRPr>
            </a:pPr>
            <a:r>
              <a:rPr sz="900" b="0">
                <a:solidFill>
                  <a:srgbClr val="5B6472"/>
                </a:solidFill>
                <a:latin typeface="LM Roman 12"/>
                <a:ea typeface="LM Roman 12"/>
                <a:cs typeface="LM Roman 12"/>
              </a:rPr>
              <a:t>1138s</a:t>
            </a:r>
          </a:p>
        </p:txBody>
      </p:sp>
      <p:sp>
        <p:nvSpPr>
          <p:cNvPr id="36" name="">
            <a:extLst xmlns:a="http://schemas.openxmlformats.org/drawingml/2006/main">
              <a:ext uri="{FF2B5EF4-FFF2-40B4-BE49-F238E27FC236}">
                <a16:creationId xmlns:a16="http://schemas.microsoft.com/office/drawing/2014/main" id="{E137959A-8993-440E-9632-4EF01AB2A567}"/>
              </a:ext>
            </a:extLst>
          </p:cNvPr>
          <p:cNvSpPr>
            <a:spLocks xmlns:a="http://schemas.openxmlformats.org/drawingml/2006/main" noGrp="1"/>
          </p:cNvSpPr>
          <p:nvPr/>
        </p:nvSpPr>
        <p:spPr>
          <a:xfrm xmlns:a="http://schemas.openxmlformats.org/drawingml/2006/main">
            <a:off x="4381500" y="4181475"/>
            <a:ext cx="95250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11827"/>
                </a:solidFill>
                <a:latin typeface="LM Roman 12"/>
                <a:ea typeface="LM Roman 12"/>
                <a:cs typeface="LM Roman 12"/>
              </a:defRPr>
            </a:pPr>
            <a:r>
              <a:rPr sz="975" b="0">
                <a:solidFill>
                  <a:srgbClr val="111827"/>
                </a:solidFill>
                <a:latin typeface="LM Roman 12"/>
                <a:ea typeface="LM Roman 12"/>
                <a:cs typeface="LM Roman 12"/>
              </a:rPr>
              <a:t>FedSW</a:t>
            </a:r>
          </a:p>
        </p:txBody>
      </p:sp>
      <p:sp>
        <p:nvSpPr>
          <p:cNvPr id="37" name="">
            <a:extLst xmlns:a="http://schemas.openxmlformats.org/drawingml/2006/main">
              <a:ext uri="{FF2B5EF4-FFF2-40B4-BE49-F238E27FC236}">
                <a16:creationId xmlns:a16="http://schemas.microsoft.com/office/drawing/2014/main" id="{FC7829A0-217F-424B-BFE7-B1B9D120106C}"/>
              </a:ext>
            </a:extLst>
          </p:cNvPr>
          <p:cNvSpPr>
            <a:spLocks xmlns:a="http://schemas.openxmlformats.org/drawingml/2006/main" noGrp="1"/>
          </p:cNvSpPr>
          <p:nvPr/>
        </p:nvSpPr>
        <p:spPr>
          <a:xfrm xmlns:a="http://schemas.openxmlformats.org/drawingml/2006/main">
            <a:off x="5334000" y="4229100"/>
            <a:ext cx="1714500" cy="152400"/>
          </a:xfrm>
          <a:prstGeom xmlns:a="http://schemas.openxmlformats.org/drawingml/2006/main" prst="roundRect">
            <a:avLst>
              <a:gd name="adj" fmla="val 50000"/>
            </a:avLst>
          </a:prstGeom>
          <a:solidFill xmlns:a="http://schemas.openxmlformats.org/drawingml/2006/main">
            <a:srgbClr val="E7EDF6"/>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30BDDA91-7134-410F-9CCF-4B6D76F62D0A}"/>
              </a:ext>
            </a:extLst>
          </p:cNvPr>
          <p:cNvSpPr>
            <a:spLocks xmlns:a="http://schemas.openxmlformats.org/drawingml/2006/main" noGrp="1"/>
          </p:cNvSpPr>
          <p:nvPr/>
        </p:nvSpPr>
        <p:spPr>
          <a:xfrm xmlns:a="http://schemas.openxmlformats.org/drawingml/2006/main">
            <a:off x="5334000" y="4229100"/>
            <a:ext cx="353105" cy="152400"/>
          </a:xfrm>
          <a:prstGeom xmlns:a="http://schemas.openxmlformats.org/drawingml/2006/main" prst="roundRect">
            <a:avLst>
              <a:gd name="adj" fmla="val 50000"/>
            </a:avLst>
          </a:prstGeom>
          <a:solidFill xmlns:a="http://schemas.openxmlformats.org/drawingml/2006/main">
            <a:srgbClr val="F04A23"/>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C32538BD-10A1-49EA-81BF-8EBB292FC80F}"/>
              </a:ext>
            </a:extLst>
          </p:cNvPr>
          <p:cNvSpPr>
            <a:spLocks xmlns:a="http://schemas.openxmlformats.org/drawingml/2006/main" noGrp="1"/>
          </p:cNvSpPr>
          <p:nvPr/>
        </p:nvSpPr>
        <p:spPr>
          <a:xfrm xmlns:a="http://schemas.openxmlformats.org/drawingml/2006/main">
            <a:off x="7143750" y="4181475"/>
            <a:ext cx="51435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B6472"/>
                </a:solidFill>
                <a:latin typeface="LM Roman 12"/>
                <a:ea typeface="LM Roman 12"/>
                <a:cs typeface="LM Roman 12"/>
              </a:defRPr>
            </a:pPr>
            <a:r>
              <a:rPr sz="900" b="0">
                <a:solidFill>
                  <a:srgbClr val="5B6472"/>
                </a:solidFill>
                <a:latin typeface="LM Roman 12"/>
                <a:ea typeface="LM Roman 12"/>
                <a:cs typeface="LM Roman 12"/>
              </a:rPr>
              <a:t>865s</a:t>
            </a:r>
          </a:p>
        </p:txBody>
      </p:sp>
      <p:sp>
        <p:nvSpPr>
          <p:cNvPr id="40" name="">
            <a:extLst xmlns:a="http://schemas.openxmlformats.org/drawingml/2006/main">
              <a:ext uri="{FF2B5EF4-FFF2-40B4-BE49-F238E27FC236}">
                <a16:creationId xmlns:a16="http://schemas.microsoft.com/office/drawing/2014/main" id="{5FED356E-ADD9-4925-AB19-F4A220411369}"/>
              </a:ext>
            </a:extLst>
          </p:cNvPr>
          <p:cNvSpPr>
            <a:spLocks xmlns:a="http://schemas.openxmlformats.org/drawingml/2006/main" noGrp="1"/>
          </p:cNvSpPr>
          <p:nvPr/>
        </p:nvSpPr>
        <p:spPr>
          <a:xfrm xmlns:a="http://schemas.openxmlformats.org/drawingml/2006/main">
            <a:off x="8286750" y="2971800"/>
            <a:ext cx="1143000" cy="2667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FC73208C-FECC-4980-921D-D97707420926}"/>
              </a:ext>
            </a:extLst>
          </p:cNvPr>
          <p:cNvSpPr>
            <a:spLocks xmlns:a="http://schemas.openxmlformats.org/drawingml/2006/main" noGrp="1"/>
          </p:cNvSpPr>
          <p:nvPr/>
        </p:nvSpPr>
        <p:spPr>
          <a:xfrm xmlns:a="http://schemas.openxmlformats.org/drawingml/2006/main">
            <a:off x="8382000" y="3019425"/>
            <a:ext cx="95250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071F46"/>
                </a:solidFill>
                <a:latin typeface="LM Roman 12"/>
                <a:ea typeface="LM Roman 12"/>
                <a:cs typeface="LM Roman 12"/>
              </a:defRPr>
            </a:pPr>
            <a:r>
              <a:rPr sz="900" b="1">
                <a:solidFill>
                  <a:srgbClr val="071F46"/>
                </a:solidFill>
                <a:latin typeface="LM Roman 12"/>
                <a:ea typeface="LM Roman 12"/>
                <a:cs typeface="LM Roman 12"/>
              </a:rPr>
              <a:t>Non-IID</a:t>
            </a:r>
          </a:p>
        </p:txBody>
      </p:sp>
      <p:sp>
        <p:nvSpPr>
          <p:cNvPr id="42" name="">
            <a:extLst xmlns:a="http://schemas.openxmlformats.org/drawingml/2006/main">
              <a:ext uri="{FF2B5EF4-FFF2-40B4-BE49-F238E27FC236}">
                <a16:creationId xmlns:a16="http://schemas.microsoft.com/office/drawing/2014/main" id="{DE0B39F4-0917-4C4C-A73A-6E47069B60A1}"/>
              </a:ext>
            </a:extLst>
          </p:cNvPr>
          <p:cNvSpPr>
            <a:spLocks xmlns:a="http://schemas.openxmlformats.org/drawingml/2006/main" noGrp="1"/>
          </p:cNvSpPr>
          <p:nvPr/>
        </p:nvSpPr>
        <p:spPr>
          <a:xfrm xmlns:a="http://schemas.openxmlformats.org/drawingml/2006/main">
            <a:off x="8286750" y="3267075"/>
            <a:ext cx="95250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11827"/>
                </a:solidFill>
                <a:latin typeface="LM Roman 12"/>
                <a:ea typeface="LM Roman 12"/>
                <a:cs typeface="LM Roman 12"/>
              </a:defRPr>
            </a:pPr>
            <a:r>
              <a:rPr sz="975" b="0">
                <a:solidFill>
                  <a:srgbClr val="111827"/>
                </a:solidFill>
                <a:latin typeface="LM Roman 12"/>
                <a:ea typeface="LM Roman 12"/>
                <a:cs typeface="LM Roman 12"/>
              </a:rPr>
              <a:t>FedAvg</a:t>
            </a:r>
          </a:p>
        </p:txBody>
      </p:sp>
      <p:sp>
        <p:nvSpPr>
          <p:cNvPr id="43" name="">
            <a:extLst xmlns:a="http://schemas.openxmlformats.org/drawingml/2006/main">
              <a:ext uri="{FF2B5EF4-FFF2-40B4-BE49-F238E27FC236}">
                <a16:creationId xmlns:a16="http://schemas.microsoft.com/office/drawing/2014/main" id="{15122079-82B5-4398-9C3F-54F9DE5C8DAF}"/>
              </a:ext>
            </a:extLst>
          </p:cNvPr>
          <p:cNvSpPr>
            <a:spLocks xmlns:a="http://schemas.openxmlformats.org/drawingml/2006/main" noGrp="1"/>
          </p:cNvSpPr>
          <p:nvPr/>
        </p:nvSpPr>
        <p:spPr>
          <a:xfrm xmlns:a="http://schemas.openxmlformats.org/drawingml/2006/main">
            <a:off x="9239250" y="3314700"/>
            <a:ext cx="1619250" cy="152400"/>
          </a:xfrm>
          <a:prstGeom xmlns:a="http://schemas.openxmlformats.org/drawingml/2006/main" prst="roundRect">
            <a:avLst>
              <a:gd name="adj" fmla="val 50000"/>
            </a:avLst>
          </a:prstGeom>
          <a:solidFill xmlns:a="http://schemas.openxmlformats.org/drawingml/2006/main">
            <a:srgbClr val="E7EDF6"/>
          </a:solidFill>
          <a:ln xmlns:a="http://schemas.openxmlformats.org/drawingml/2006/main" w="0">
            <a:solidFill>
              <a:srgbClr val="000000">
                <a:alpha val="0"/>
              </a:srgbClr>
            </a:solidFill>
            <a:prstDash val="solid"/>
          </a:ln>
        </p:spPr>
      </p:sp>
      <p:sp>
        <p:nvSpPr>
          <p:cNvPr id="44" name="">
            <a:extLst xmlns:a="http://schemas.openxmlformats.org/drawingml/2006/main">
              <a:ext uri="{FF2B5EF4-FFF2-40B4-BE49-F238E27FC236}">
                <a16:creationId xmlns:a16="http://schemas.microsoft.com/office/drawing/2014/main" id="{AE099D5A-92BC-419A-896E-E30E99E4C6CC}"/>
              </a:ext>
            </a:extLst>
          </p:cNvPr>
          <p:cNvSpPr>
            <a:spLocks xmlns:a="http://schemas.openxmlformats.org/drawingml/2006/main" noGrp="1"/>
          </p:cNvSpPr>
          <p:nvPr/>
        </p:nvSpPr>
        <p:spPr>
          <a:xfrm xmlns:a="http://schemas.openxmlformats.org/drawingml/2006/main">
            <a:off x="9239250" y="3314700"/>
            <a:ext cx="1558721" cy="152400"/>
          </a:xfrm>
          <a:prstGeom xmlns:a="http://schemas.openxmlformats.org/drawingml/2006/main" prst="roundRect">
            <a:avLst>
              <a:gd name="adj" fmla="val 50000"/>
            </a:avLst>
          </a:prstGeom>
          <a:solidFill xmlns:a="http://schemas.openxmlformats.org/drawingml/2006/main">
            <a:srgbClr val="1F77B4"/>
          </a:solidFill>
          <a:ln xmlns:a="http://schemas.openxmlformats.org/drawingml/2006/main" w="0">
            <a:solidFill>
              <a:srgbClr val="000000">
                <a:alpha val="0"/>
              </a:srgbClr>
            </a:solidFill>
            <a:prstDash val="solid"/>
          </a:ln>
        </p:spPr>
      </p:sp>
      <p:sp>
        <p:nvSpPr>
          <p:cNvPr id="45" name="">
            <a:extLst xmlns:a="http://schemas.openxmlformats.org/drawingml/2006/main">
              <a:ext uri="{FF2B5EF4-FFF2-40B4-BE49-F238E27FC236}">
                <a16:creationId xmlns:a16="http://schemas.microsoft.com/office/drawing/2014/main" id="{DCD9D0A1-E883-4D74-B1F0-FD2A7F77F5A4}"/>
              </a:ext>
            </a:extLst>
          </p:cNvPr>
          <p:cNvSpPr>
            <a:spLocks xmlns:a="http://schemas.openxmlformats.org/drawingml/2006/main" noGrp="1"/>
          </p:cNvSpPr>
          <p:nvPr/>
        </p:nvSpPr>
        <p:spPr>
          <a:xfrm xmlns:a="http://schemas.openxmlformats.org/drawingml/2006/main">
            <a:off x="10953750" y="3267075"/>
            <a:ext cx="51435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B6472"/>
                </a:solidFill>
                <a:latin typeface="LM Roman 12"/>
                <a:ea typeface="LM Roman 12"/>
                <a:cs typeface="LM Roman 12"/>
              </a:defRPr>
            </a:pPr>
            <a:r>
              <a:rPr sz="900" b="0">
                <a:solidFill>
                  <a:srgbClr val="5B6472"/>
                </a:solidFill>
                <a:latin typeface="LM Roman 12"/>
                <a:ea typeface="LM Roman 12"/>
                <a:cs typeface="LM Roman 12"/>
              </a:rPr>
              <a:t>4043s</a:t>
            </a:r>
          </a:p>
        </p:txBody>
      </p:sp>
      <p:sp>
        <p:nvSpPr>
          <p:cNvPr id="46" name="">
            <a:extLst xmlns:a="http://schemas.openxmlformats.org/drawingml/2006/main">
              <a:ext uri="{FF2B5EF4-FFF2-40B4-BE49-F238E27FC236}">
                <a16:creationId xmlns:a16="http://schemas.microsoft.com/office/drawing/2014/main" id="{652D2287-FD49-4D8F-B198-F38391B44C03}"/>
              </a:ext>
            </a:extLst>
          </p:cNvPr>
          <p:cNvSpPr>
            <a:spLocks xmlns:a="http://schemas.openxmlformats.org/drawingml/2006/main" noGrp="1"/>
          </p:cNvSpPr>
          <p:nvPr/>
        </p:nvSpPr>
        <p:spPr>
          <a:xfrm xmlns:a="http://schemas.openxmlformats.org/drawingml/2006/main">
            <a:off x="8286750" y="3571875"/>
            <a:ext cx="95250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11827"/>
                </a:solidFill>
                <a:latin typeface="LM Roman 12"/>
                <a:ea typeface="LM Roman 12"/>
                <a:cs typeface="LM Roman 12"/>
              </a:defRPr>
            </a:pPr>
            <a:r>
              <a:rPr sz="975" b="1">
                <a:solidFill>
                  <a:srgbClr val="111827"/>
                </a:solidFill>
                <a:latin typeface="LM Roman 12"/>
                <a:ea typeface="LM Roman 12"/>
                <a:cs typeface="LM Roman 12"/>
              </a:rPr>
              <a:t>FedAsync</a:t>
            </a:r>
          </a:p>
        </p:txBody>
      </p:sp>
      <p:sp>
        <p:nvSpPr>
          <p:cNvPr id="47" name="">
            <a:extLst xmlns:a="http://schemas.openxmlformats.org/drawingml/2006/main">
              <a:ext uri="{FF2B5EF4-FFF2-40B4-BE49-F238E27FC236}">
                <a16:creationId xmlns:a16="http://schemas.microsoft.com/office/drawing/2014/main" id="{66924DB6-8696-4ADB-B6D6-3053942A6359}"/>
              </a:ext>
            </a:extLst>
          </p:cNvPr>
          <p:cNvSpPr>
            <a:spLocks xmlns:a="http://schemas.openxmlformats.org/drawingml/2006/main" noGrp="1"/>
          </p:cNvSpPr>
          <p:nvPr/>
        </p:nvSpPr>
        <p:spPr>
          <a:xfrm xmlns:a="http://schemas.openxmlformats.org/drawingml/2006/main">
            <a:off x="9239250" y="3619500"/>
            <a:ext cx="1619250" cy="152400"/>
          </a:xfrm>
          <a:prstGeom xmlns:a="http://schemas.openxmlformats.org/drawingml/2006/main" prst="roundRect">
            <a:avLst>
              <a:gd name="adj" fmla="val 50000"/>
            </a:avLst>
          </a:prstGeom>
          <a:solidFill xmlns:a="http://schemas.openxmlformats.org/drawingml/2006/main">
            <a:srgbClr val="E7EDF6"/>
          </a:solidFill>
          <a:ln xmlns:a="http://schemas.openxmlformats.org/drawingml/2006/main" w="0">
            <a:solidFill>
              <a:srgbClr val="000000">
                <a:alpha val="0"/>
              </a:srgbClr>
            </a:solidFill>
            <a:prstDash val="solid"/>
          </a:ln>
        </p:spPr>
      </p:sp>
      <p:sp>
        <p:nvSpPr>
          <p:cNvPr id="48" name="">
            <a:extLst xmlns:a="http://schemas.openxmlformats.org/drawingml/2006/main">
              <a:ext uri="{FF2B5EF4-FFF2-40B4-BE49-F238E27FC236}">
                <a16:creationId xmlns:a16="http://schemas.microsoft.com/office/drawing/2014/main" id="{0448DAE0-2862-4FBC-9923-0EB8804C1FCF}"/>
              </a:ext>
            </a:extLst>
          </p:cNvPr>
          <p:cNvSpPr>
            <a:spLocks xmlns:a="http://schemas.openxmlformats.org/drawingml/2006/main" noGrp="1"/>
          </p:cNvSpPr>
          <p:nvPr/>
        </p:nvSpPr>
        <p:spPr>
          <a:xfrm xmlns:a="http://schemas.openxmlformats.org/drawingml/2006/main">
            <a:off x="9239250" y="3619500"/>
            <a:ext cx="487317" cy="152400"/>
          </a:xfrm>
          <a:prstGeom xmlns:a="http://schemas.openxmlformats.org/drawingml/2006/main" prst="roundRect">
            <a:avLst>
              <a:gd name="adj" fmla="val 50000"/>
            </a:avLst>
          </a:prstGeom>
          <a:solidFill xmlns:a="http://schemas.openxmlformats.org/drawingml/2006/main">
            <a:srgbClr val="1DB954"/>
          </a:solidFill>
          <a:ln xmlns:a="http://schemas.openxmlformats.org/drawingml/2006/main" w="0">
            <a:solidFill>
              <a:srgbClr val="000000">
                <a:alpha val="0"/>
              </a:srgbClr>
            </a:solidFill>
            <a:prstDash val="solid"/>
          </a:ln>
        </p:spPr>
      </p:sp>
      <p:sp>
        <p:nvSpPr>
          <p:cNvPr id="49" name="">
            <a:extLst xmlns:a="http://schemas.openxmlformats.org/drawingml/2006/main">
              <a:ext uri="{FF2B5EF4-FFF2-40B4-BE49-F238E27FC236}">
                <a16:creationId xmlns:a16="http://schemas.microsoft.com/office/drawing/2014/main" id="{D644FBD2-29BE-44A8-BBEB-91FF10DC0C24}"/>
              </a:ext>
            </a:extLst>
          </p:cNvPr>
          <p:cNvSpPr>
            <a:spLocks xmlns:a="http://schemas.openxmlformats.org/drawingml/2006/main" noGrp="1"/>
          </p:cNvSpPr>
          <p:nvPr/>
        </p:nvSpPr>
        <p:spPr>
          <a:xfrm xmlns:a="http://schemas.openxmlformats.org/drawingml/2006/main">
            <a:off x="10953750" y="3571875"/>
            <a:ext cx="51435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B6472"/>
                </a:solidFill>
                <a:latin typeface="LM Roman 12"/>
                <a:ea typeface="LM Roman 12"/>
                <a:cs typeface="LM Roman 12"/>
              </a:defRPr>
            </a:pPr>
            <a:r>
              <a:rPr sz="900" b="0">
                <a:solidFill>
                  <a:srgbClr val="5B6472"/>
                </a:solidFill>
                <a:latin typeface="LM Roman 12"/>
                <a:ea typeface="LM Roman 12"/>
                <a:cs typeface="LM Roman 12"/>
              </a:rPr>
              <a:t>1264s</a:t>
            </a:r>
          </a:p>
        </p:txBody>
      </p:sp>
      <p:sp>
        <p:nvSpPr>
          <p:cNvPr id="50" name="">
            <a:extLst xmlns:a="http://schemas.openxmlformats.org/drawingml/2006/main">
              <a:ext uri="{FF2B5EF4-FFF2-40B4-BE49-F238E27FC236}">
                <a16:creationId xmlns:a16="http://schemas.microsoft.com/office/drawing/2014/main" id="{37ED62FD-1592-4BD6-A24F-E6750EEBDC4C}"/>
              </a:ext>
            </a:extLst>
          </p:cNvPr>
          <p:cNvSpPr>
            <a:spLocks xmlns:a="http://schemas.openxmlformats.org/drawingml/2006/main" noGrp="1"/>
          </p:cNvSpPr>
          <p:nvPr/>
        </p:nvSpPr>
        <p:spPr>
          <a:xfrm xmlns:a="http://schemas.openxmlformats.org/drawingml/2006/main">
            <a:off x="8286750" y="3876675"/>
            <a:ext cx="95250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11827"/>
                </a:solidFill>
                <a:latin typeface="LM Roman 12"/>
                <a:ea typeface="LM Roman 12"/>
                <a:cs typeface="LM Roman 12"/>
              </a:defRPr>
            </a:pPr>
            <a:r>
              <a:rPr sz="975" b="0">
                <a:solidFill>
                  <a:srgbClr val="111827"/>
                </a:solidFill>
                <a:latin typeface="LM Roman 12"/>
                <a:ea typeface="LM Roman 12"/>
                <a:cs typeface="LM Roman 12"/>
              </a:rPr>
              <a:t>FedBuff</a:t>
            </a:r>
          </a:p>
        </p:txBody>
      </p:sp>
      <p:sp>
        <p:nvSpPr>
          <p:cNvPr id="51" name="">
            <a:extLst xmlns:a="http://schemas.openxmlformats.org/drawingml/2006/main">
              <a:ext uri="{FF2B5EF4-FFF2-40B4-BE49-F238E27FC236}">
                <a16:creationId xmlns:a16="http://schemas.microsoft.com/office/drawing/2014/main" id="{7D2F7B0D-CB3F-4B12-B567-94F6B6E4BDDE}"/>
              </a:ext>
            </a:extLst>
          </p:cNvPr>
          <p:cNvSpPr>
            <a:spLocks xmlns:a="http://schemas.openxmlformats.org/drawingml/2006/main" noGrp="1"/>
          </p:cNvSpPr>
          <p:nvPr/>
        </p:nvSpPr>
        <p:spPr>
          <a:xfrm xmlns:a="http://schemas.openxmlformats.org/drawingml/2006/main">
            <a:off x="9239250" y="3924300"/>
            <a:ext cx="1619250" cy="152400"/>
          </a:xfrm>
          <a:prstGeom xmlns:a="http://schemas.openxmlformats.org/drawingml/2006/main" prst="roundRect">
            <a:avLst>
              <a:gd name="adj" fmla="val 50000"/>
            </a:avLst>
          </a:prstGeom>
          <a:solidFill xmlns:a="http://schemas.openxmlformats.org/drawingml/2006/main">
            <a:srgbClr val="E7EDF6"/>
          </a:solidFill>
          <a:ln xmlns:a="http://schemas.openxmlformats.org/drawingml/2006/main" w="0">
            <a:solidFill>
              <a:srgbClr val="000000">
                <a:alpha val="0"/>
              </a:srgbClr>
            </a:solidFill>
            <a:prstDash val="solid"/>
          </a:ln>
        </p:spPr>
      </p:sp>
      <p:sp>
        <p:nvSpPr>
          <p:cNvPr id="52" name="">
            <a:extLst xmlns:a="http://schemas.openxmlformats.org/drawingml/2006/main">
              <a:ext uri="{FF2B5EF4-FFF2-40B4-BE49-F238E27FC236}">
                <a16:creationId xmlns:a16="http://schemas.microsoft.com/office/drawing/2014/main" id="{FADBD8DF-0174-486C-A6F2-ECBBC69CCFD3}"/>
              </a:ext>
            </a:extLst>
          </p:cNvPr>
          <p:cNvSpPr>
            <a:spLocks xmlns:a="http://schemas.openxmlformats.org/drawingml/2006/main" noGrp="1"/>
          </p:cNvSpPr>
          <p:nvPr/>
        </p:nvSpPr>
        <p:spPr>
          <a:xfrm xmlns:a="http://schemas.openxmlformats.org/drawingml/2006/main">
            <a:off x="9239250" y="3924300"/>
            <a:ext cx="920659" cy="15240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solidFill>
              <a:srgbClr val="000000">
                <a:alpha val="0"/>
              </a:srgbClr>
            </a:solidFill>
            <a:prstDash val="solid"/>
          </a:ln>
        </p:spPr>
      </p:sp>
      <p:sp>
        <p:nvSpPr>
          <p:cNvPr id="53" name="">
            <a:extLst xmlns:a="http://schemas.openxmlformats.org/drawingml/2006/main">
              <a:ext uri="{FF2B5EF4-FFF2-40B4-BE49-F238E27FC236}">
                <a16:creationId xmlns:a16="http://schemas.microsoft.com/office/drawing/2014/main" id="{2E6068C1-B424-4DDD-96D6-7AB0844D582C}"/>
              </a:ext>
            </a:extLst>
          </p:cNvPr>
          <p:cNvSpPr>
            <a:spLocks xmlns:a="http://schemas.openxmlformats.org/drawingml/2006/main" noGrp="1"/>
          </p:cNvSpPr>
          <p:nvPr/>
        </p:nvSpPr>
        <p:spPr>
          <a:xfrm xmlns:a="http://schemas.openxmlformats.org/drawingml/2006/main">
            <a:off x="10953750" y="3876675"/>
            <a:ext cx="51435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B6472"/>
                </a:solidFill>
                <a:latin typeface="LM Roman 12"/>
                <a:ea typeface="LM Roman 12"/>
                <a:cs typeface="LM Roman 12"/>
              </a:defRPr>
            </a:pPr>
            <a:r>
              <a:rPr sz="900" b="0">
                <a:solidFill>
                  <a:srgbClr val="5B6472"/>
                </a:solidFill>
                <a:latin typeface="LM Roman 12"/>
                <a:ea typeface="LM Roman 12"/>
                <a:cs typeface="LM Roman 12"/>
              </a:rPr>
              <a:t>2388s</a:t>
            </a:r>
          </a:p>
        </p:txBody>
      </p:sp>
      <p:sp>
        <p:nvSpPr>
          <p:cNvPr id="54" name="">
            <a:extLst xmlns:a="http://schemas.openxmlformats.org/drawingml/2006/main">
              <a:ext uri="{FF2B5EF4-FFF2-40B4-BE49-F238E27FC236}">
                <a16:creationId xmlns:a16="http://schemas.microsoft.com/office/drawing/2014/main" id="{4EAE97F1-1A8B-4ED9-BEDD-82CF9EA86A72}"/>
              </a:ext>
            </a:extLst>
          </p:cNvPr>
          <p:cNvSpPr>
            <a:spLocks xmlns:a="http://schemas.openxmlformats.org/drawingml/2006/main" noGrp="1"/>
          </p:cNvSpPr>
          <p:nvPr/>
        </p:nvSpPr>
        <p:spPr>
          <a:xfrm xmlns:a="http://schemas.openxmlformats.org/drawingml/2006/main">
            <a:off x="8286750" y="4181475"/>
            <a:ext cx="95250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11827"/>
                </a:solidFill>
                <a:latin typeface="LM Roman 12"/>
                <a:ea typeface="LM Roman 12"/>
                <a:cs typeface="LM Roman 12"/>
              </a:defRPr>
            </a:pPr>
            <a:r>
              <a:rPr sz="975" b="0">
                <a:solidFill>
                  <a:srgbClr val="111827"/>
                </a:solidFill>
                <a:latin typeface="LM Roman 12"/>
                <a:ea typeface="LM Roman 12"/>
                <a:cs typeface="LM Roman 12"/>
              </a:rPr>
              <a:t>FedSW</a:t>
            </a:r>
          </a:p>
        </p:txBody>
      </p:sp>
      <p:sp>
        <p:nvSpPr>
          <p:cNvPr id="55" name="">
            <a:extLst xmlns:a="http://schemas.openxmlformats.org/drawingml/2006/main">
              <a:ext uri="{FF2B5EF4-FFF2-40B4-BE49-F238E27FC236}">
                <a16:creationId xmlns:a16="http://schemas.microsoft.com/office/drawing/2014/main" id="{9476CFD3-79E0-4C4E-A970-C29DF467E2BD}"/>
              </a:ext>
            </a:extLst>
          </p:cNvPr>
          <p:cNvSpPr>
            <a:spLocks xmlns:a="http://schemas.openxmlformats.org/drawingml/2006/main" noGrp="1"/>
          </p:cNvSpPr>
          <p:nvPr/>
        </p:nvSpPr>
        <p:spPr>
          <a:xfrm xmlns:a="http://schemas.openxmlformats.org/drawingml/2006/main">
            <a:off x="9239250" y="4229100"/>
            <a:ext cx="1619250" cy="152400"/>
          </a:xfrm>
          <a:prstGeom xmlns:a="http://schemas.openxmlformats.org/drawingml/2006/main" prst="roundRect">
            <a:avLst>
              <a:gd name="adj" fmla="val 50000"/>
            </a:avLst>
          </a:prstGeom>
          <a:solidFill xmlns:a="http://schemas.openxmlformats.org/drawingml/2006/main">
            <a:srgbClr val="E7EDF6"/>
          </a:solidFill>
          <a:ln xmlns:a="http://schemas.openxmlformats.org/drawingml/2006/main" w="0">
            <a:solidFill>
              <a:srgbClr val="000000">
                <a:alpha val="0"/>
              </a:srgbClr>
            </a:solidFill>
            <a:prstDash val="solid"/>
          </a:ln>
        </p:spPr>
      </p:sp>
      <p:sp>
        <p:nvSpPr>
          <p:cNvPr id="56" name="">
            <a:extLst xmlns:a="http://schemas.openxmlformats.org/drawingml/2006/main">
              <a:ext uri="{FF2B5EF4-FFF2-40B4-BE49-F238E27FC236}">
                <a16:creationId xmlns:a16="http://schemas.microsoft.com/office/drawing/2014/main" id="{1420130F-47D6-4884-B5F7-BB3C1016B671}"/>
              </a:ext>
            </a:extLst>
          </p:cNvPr>
          <p:cNvSpPr>
            <a:spLocks xmlns:a="http://schemas.openxmlformats.org/drawingml/2006/main" noGrp="1"/>
          </p:cNvSpPr>
          <p:nvPr/>
        </p:nvSpPr>
        <p:spPr>
          <a:xfrm xmlns:a="http://schemas.openxmlformats.org/drawingml/2006/main">
            <a:off x="9239250" y="4229100"/>
            <a:ext cx="682784" cy="152400"/>
          </a:xfrm>
          <a:prstGeom xmlns:a="http://schemas.openxmlformats.org/drawingml/2006/main" prst="roundRect">
            <a:avLst>
              <a:gd name="adj" fmla="val 50000"/>
            </a:avLst>
          </a:prstGeom>
          <a:solidFill xmlns:a="http://schemas.openxmlformats.org/drawingml/2006/main">
            <a:srgbClr val="F04A23"/>
          </a:solidFill>
          <a:ln xmlns:a="http://schemas.openxmlformats.org/drawingml/2006/main" w="0">
            <a:solidFill>
              <a:srgbClr val="000000">
                <a:alpha val="0"/>
              </a:srgbClr>
            </a:solidFill>
            <a:prstDash val="solid"/>
          </a:ln>
        </p:spPr>
      </p:sp>
      <p:sp>
        <p:nvSpPr>
          <p:cNvPr id="57" name="">
            <a:extLst xmlns:a="http://schemas.openxmlformats.org/drawingml/2006/main">
              <a:ext uri="{FF2B5EF4-FFF2-40B4-BE49-F238E27FC236}">
                <a16:creationId xmlns:a16="http://schemas.microsoft.com/office/drawing/2014/main" id="{BE2EDFD8-DED5-43B8-94C6-ACD3E1EE3775}"/>
              </a:ext>
            </a:extLst>
          </p:cNvPr>
          <p:cNvSpPr>
            <a:spLocks xmlns:a="http://schemas.openxmlformats.org/drawingml/2006/main" noGrp="1"/>
          </p:cNvSpPr>
          <p:nvPr/>
        </p:nvSpPr>
        <p:spPr>
          <a:xfrm xmlns:a="http://schemas.openxmlformats.org/drawingml/2006/main">
            <a:off x="10953750" y="4181475"/>
            <a:ext cx="51435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B6472"/>
                </a:solidFill>
                <a:latin typeface="LM Roman 12"/>
                <a:ea typeface="LM Roman 12"/>
                <a:cs typeface="LM Roman 12"/>
              </a:defRPr>
            </a:pPr>
            <a:r>
              <a:rPr sz="900" b="0">
                <a:solidFill>
                  <a:srgbClr val="5B6472"/>
                </a:solidFill>
                <a:latin typeface="LM Roman 12"/>
                <a:ea typeface="LM Roman 12"/>
                <a:cs typeface="LM Roman 12"/>
              </a:rPr>
              <a:t>1771s</a:t>
            </a:r>
          </a:p>
        </p:txBody>
      </p:sp>
      <p:sp>
        <p:nvSpPr>
          <p:cNvPr id="58" name="">
            <a:extLst xmlns:a="http://schemas.openxmlformats.org/drawingml/2006/main">
              <a:ext uri="{FF2B5EF4-FFF2-40B4-BE49-F238E27FC236}">
                <a16:creationId xmlns:a16="http://schemas.microsoft.com/office/drawing/2014/main" id="{59753348-0160-4E40-BE32-D9DB431355D8}"/>
              </a:ext>
            </a:extLst>
          </p:cNvPr>
          <p:cNvSpPr>
            <a:spLocks xmlns:a="http://schemas.openxmlformats.org/drawingml/2006/main" noGrp="1"/>
          </p:cNvSpPr>
          <p:nvPr/>
        </p:nvSpPr>
        <p:spPr>
          <a:xfrm xmlns:a="http://schemas.openxmlformats.org/drawingml/2006/main">
            <a:off x="857250" y="5010150"/>
            <a:ext cx="4000500" cy="1104900"/>
          </a:xfrm>
          <a:prstGeom xmlns:a="http://schemas.openxmlformats.org/drawingml/2006/main" prst="roundRect">
            <a:avLst>
              <a:gd name="adj" fmla="val 6034"/>
            </a:avLst>
          </a:prstGeom>
          <a:solidFill xmlns:a="http://schemas.openxmlformats.org/drawingml/2006/main">
            <a:srgbClr val="FFFFFF"/>
          </a:solidFill>
          <a:ln xmlns:a="http://schemas.openxmlformats.org/drawingml/2006/main" w="9525">
            <a:solidFill>
              <a:srgbClr val="D5DCE8"/>
            </a:solidFill>
            <a:prstDash val="solid"/>
          </a:ln>
        </p:spPr>
      </p:sp>
      <p:sp>
        <p:nvSpPr>
          <p:cNvPr id="59" name="">
            <a:extLst xmlns:a="http://schemas.openxmlformats.org/drawingml/2006/main">
              <a:ext uri="{FF2B5EF4-FFF2-40B4-BE49-F238E27FC236}">
                <a16:creationId xmlns:a16="http://schemas.microsoft.com/office/drawing/2014/main" id="{AF425621-862B-43FA-B78F-DA88766B5424}"/>
              </a:ext>
            </a:extLst>
          </p:cNvPr>
          <p:cNvSpPr>
            <a:spLocks xmlns:a="http://schemas.openxmlformats.org/drawingml/2006/main" noGrp="1"/>
          </p:cNvSpPr>
          <p:nvPr/>
        </p:nvSpPr>
        <p:spPr>
          <a:xfrm xmlns:a="http://schemas.openxmlformats.org/drawingml/2006/main">
            <a:off x="857250" y="5010150"/>
            <a:ext cx="76200" cy="1104900"/>
          </a:xfrm>
          <a:prstGeom xmlns:a="http://schemas.openxmlformats.org/drawingml/2006/main" prst="roundRect">
            <a:avLst>
              <a:gd name="adj" fmla="val 50000"/>
            </a:avLst>
          </a:prstGeom>
          <a:solidFill xmlns:a="http://schemas.openxmlformats.org/drawingml/2006/main">
            <a:srgbClr val="F04A23"/>
          </a:solidFill>
          <a:ln xmlns:a="http://schemas.openxmlformats.org/drawingml/2006/main" w="0">
            <a:solidFill>
              <a:srgbClr val="000000">
                <a:alpha val="0"/>
              </a:srgbClr>
            </a:solidFill>
            <a:prstDash val="solid"/>
          </a:ln>
        </p:spPr>
      </p:sp>
      <p:sp>
        <p:nvSpPr>
          <p:cNvPr id="60" name="">
            <a:extLst xmlns:a="http://schemas.openxmlformats.org/drawingml/2006/main">
              <a:ext uri="{FF2B5EF4-FFF2-40B4-BE49-F238E27FC236}">
                <a16:creationId xmlns:a16="http://schemas.microsoft.com/office/drawing/2014/main" id="{F8762D59-192C-4A8A-B626-EDF6A92E3971}"/>
              </a:ext>
            </a:extLst>
          </p:cNvPr>
          <p:cNvSpPr>
            <a:spLocks xmlns:a="http://schemas.openxmlformats.org/drawingml/2006/main" noGrp="1"/>
          </p:cNvSpPr>
          <p:nvPr/>
        </p:nvSpPr>
        <p:spPr>
          <a:xfrm xmlns:a="http://schemas.openxmlformats.org/drawingml/2006/main">
            <a:off x="1066800" y="5143500"/>
            <a:ext cx="3657600" cy="3619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071F46"/>
                </a:solidFill>
                <a:latin typeface="LM Roman 12"/>
                <a:ea typeface="LM Roman 12"/>
                <a:cs typeface="LM Roman 12"/>
              </a:defRPr>
            </a:pPr>
            <a:r>
              <a:rPr sz="2175" b="1">
                <a:solidFill>
                  <a:srgbClr val="071F46"/>
                </a:solidFill>
                <a:latin typeface="LM Roman 12"/>
                <a:ea typeface="LM Roman 12"/>
                <a:cs typeface="LM Roman 12"/>
              </a:rPr>
              <a:t>27.9% / 29.7%</a:t>
            </a:r>
          </a:p>
        </p:txBody>
      </p:sp>
      <p:sp>
        <p:nvSpPr>
          <p:cNvPr id="61" name="">
            <a:extLst xmlns:a="http://schemas.openxmlformats.org/drawingml/2006/main">
              <a:ext uri="{FF2B5EF4-FFF2-40B4-BE49-F238E27FC236}">
                <a16:creationId xmlns:a16="http://schemas.microsoft.com/office/drawing/2014/main" id="{3731796B-685F-428D-9627-3E64CCB7A4F3}"/>
              </a:ext>
            </a:extLst>
          </p:cNvPr>
          <p:cNvSpPr>
            <a:spLocks xmlns:a="http://schemas.openxmlformats.org/drawingml/2006/main" noGrp="1"/>
          </p:cNvSpPr>
          <p:nvPr/>
        </p:nvSpPr>
        <p:spPr>
          <a:xfrm xmlns:a="http://schemas.openxmlformats.org/drawingml/2006/main">
            <a:off x="1066800" y="5562600"/>
            <a:ext cx="3657600" cy="4000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FedStaleWeight rpi4 aggregate weight in IID / non-IID mixed runs</a:t>
            </a:r>
          </a:p>
        </p:txBody>
      </p:sp>
      <p:sp>
        <p:nvSpPr>
          <p:cNvPr id="62" name="">
            <a:extLst xmlns:a="http://schemas.openxmlformats.org/drawingml/2006/main">
              <a:ext uri="{FF2B5EF4-FFF2-40B4-BE49-F238E27FC236}">
                <a16:creationId xmlns:a16="http://schemas.microsoft.com/office/drawing/2014/main" id="{0EFA3A2E-8B4F-414E-AFA7-38AEF66668BE}"/>
              </a:ext>
            </a:extLst>
          </p:cNvPr>
          <p:cNvSpPr>
            <a:spLocks xmlns:a="http://schemas.openxmlformats.org/drawingml/2006/main" noGrp="1"/>
          </p:cNvSpPr>
          <p:nvPr/>
        </p:nvSpPr>
        <p:spPr>
          <a:xfrm xmlns:a="http://schemas.openxmlformats.org/drawingml/2006/main">
            <a:off x="5905500" y="5010150"/>
            <a:ext cx="4000500" cy="1104900"/>
          </a:xfrm>
          <a:prstGeom xmlns:a="http://schemas.openxmlformats.org/drawingml/2006/main" prst="roundRect">
            <a:avLst>
              <a:gd name="adj" fmla="val 6034"/>
            </a:avLst>
          </a:prstGeom>
          <a:solidFill xmlns:a="http://schemas.openxmlformats.org/drawingml/2006/main">
            <a:srgbClr val="FFFFFF"/>
          </a:solidFill>
          <a:ln xmlns:a="http://schemas.openxmlformats.org/drawingml/2006/main" w="9525">
            <a:solidFill>
              <a:srgbClr val="D5DCE8"/>
            </a:solidFill>
            <a:prstDash val="solid"/>
          </a:ln>
        </p:spPr>
      </p:sp>
      <p:sp>
        <p:nvSpPr>
          <p:cNvPr id="63" name="">
            <a:extLst xmlns:a="http://schemas.openxmlformats.org/drawingml/2006/main">
              <a:ext uri="{FF2B5EF4-FFF2-40B4-BE49-F238E27FC236}">
                <a16:creationId xmlns:a16="http://schemas.microsoft.com/office/drawing/2014/main" id="{3005F755-AFDC-448E-B97E-4CDC660DF45F}"/>
              </a:ext>
            </a:extLst>
          </p:cNvPr>
          <p:cNvSpPr>
            <a:spLocks xmlns:a="http://schemas.openxmlformats.org/drawingml/2006/main" noGrp="1"/>
          </p:cNvSpPr>
          <p:nvPr/>
        </p:nvSpPr>
        <p:spPr>
          <a:xfrm xmlns:a="http://schemas.openxmlformats.org/drawingml/2006/main">
            <a:off x="5905500" y="5010150"/>
            <a:ext cx="76200" cy="1104900"/>
          </a:xfrm>
          <a:prstGeom xmlns:a="http://schemas.openxmlformats.org/drawingml/2006/main" prst="roundRect">
            <a:avLst>
              <a:gd name="adj" fmla="val 50000"/>
            </a:avLst>
          </a:prstGeom>
          <a:solidFill xmlns:a="http://schemas.openxmlformats.org/drawingml/2006/main">
            <a:srgbClr val="1DB954"/>
          </a:solidFill>
          <a:ln xmlns:a="http://schemas.openxmlformats.org/drawingml/2006/main" w="0">
            <a:solidFill>
              <a:srgbClr val="000000">
                <a:alpha val="0"/>
              </a:srgbClr>
            </a:solidFill>
            <a:prstDash val="solid"/>
          </a:ln>
        </p:spPr>
      </p:sp>
      <p:sp>
        <p:nvSpPr>
          <p:cNvPr id="64" name="">
            <a:extLst xmlns:a="http://schemas.openxmlformats.org/drawingml/2006/main">
              <a:ext uri="{FF2B5EF4-FFF2-40B4-BE49-F238E27FC236}">
                <a16:creationId xmlns:a16="http://schemas.microsoft.com/office/drawing/2014/main" id="{3023D9CB-3AE1-49B3-8988-05B3DFA6B8BB}"/>
              </a:ext>
            </a:extLst>
          </p:cNvPr>
          <p:cNvSpPr>
            <a:spLocks xmlns:a="http://schemas.openxmlformats.org/drawingml/2006/main" noGrp="1"/>
          </p:cNvSpPr>
          <p:nvPr/>
        </p:nvSpPr>
        <p:spPr>
          <a:xfrm xmlns:a="http://schemas.openxmlformats.org/drawingml/2006/main">
            <a:off x="6115050" y="5143500"/>
            <a:ext cx="3657600" cy="3619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071F46"/>
                </a:solidFill>
                <a:latin typeface="LM Roman 12"/>
                <a:ea typeface="LM Roman 12"/>
                <a:cs typeface="LM Roman 12"/>
              </a:defRPr>
            </a:pPr>
            <a:r>
              <a:rPr sz="2175" b="1">
                <a:solidFill>
                  <a:srgbClr val="071F46"/>
                </a:solidFill>
                <a:latin typeface="LM Roman 12"/>
                <a:ea typeface="LM Roman 12"/>
                <a:cs typeface="LM Roman 12"/>
              </a:rPr>
              <a:t>6.7% / 7.5%</a:t>
            </a:r>
          </a:p>
        </p:txBody>
      </p:sp>
      <p:sp>
        <p:nvSpPr>
          <p:cNvPr id="65" name="">
            <a:extLst xmlns:a="http://schemas.openxmlformats.org/drawingml/2006/main">
              <a:ext uri="{FF2B5EF4-FFF2-40B4-BE49-F238E27FC236}">
                <a16:creationId xmlns:a16="http://schemas.microsoft.com/office/drawing/2014/main" id="{47DC379F-1C5D-46F7-A0DC-CCE83462FCF8}"/>
              </a:ext>
            </a:extLst>
          </p:cNvPr>
          <p:cNvSpPr>
            <a:spLocks xmlns:a="http://schemas.openxmlformats.org/drawingml/2006/main" noGrp="1"/>
          </p:cNvSpPr>
          <p:nvPr/>
        </p:nvSpPr>
        <p:spPr>
          <a:xfrm xmlns:a="http://schemas.openxmlformats.org/drawingml/2006/main">
            <a:off x="6115050" y="5562600"/>
            <a:ext cx="3657600" cy="4000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FedAsync rpi4 aggregate weight in the same runs</a:t>
            </a:r>
          </a:p>
        </p:txBody>
      </p:sp>
      <p:sp>
        <p:nvSpPr>
          <p:cNvPr id="66" name="">
            <a:extLst xmlns:a="http://schemas.openxmlformats.org/drawingml/2006/main">
              <a:ext uri="{FF2B5EF4-FFF2-40B4-BE49-F238E27FC236}">
                <a16:creationId xmlns:a16="http://schemas.microsoft.com/office/drawing/2014/main" id="{DCEB2266-E7AB-4A65-A3A6-AF56ADE4C246}"/>
              </a:ext>
            </a:extLst>
          </p:cNvPr>
          <p:cNvSpPr>
            <a:spLocks xmlns:a="http://schemas.openxmlformats.org/drawingml/2006/main" noGrp="1"/>
          </p:cNvSpPr>
          <p:nvPr/>
        </p:nvSpPr>
        <p:spPr>
          <a:xfrm xmlns:a="http://schemas.openxmlformats.org/drawingml/2006/main">
            <a:off x="666750" y="4762500"/>
            <a:ext cx="723900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B6472"/>
                </a:solidFill>
                <a:latin typeface="LM Roman 12"/>
                <a:ea typeface="LM Roman 12"/>
                <a:cs typeface="LM Roman 12"/>
              </a:defRPr>
            </a:pPr>
            <a:r>
              <a:rPr sz="750" b="0">
                <a:solidFill>
                  <a:srgbClr val="5B6472"/>
                </a:solidFill>
                <a:latin typeface="LM Roman 12"/>
                <a:ea typeface="LM Roman 12"/>
                <a:cs typeface="LM Roman 12"/>
              </a:rPr>
              <a:t>Source: Table 5.6 target-attainment matrix.</a:t>
            </a:r>
          </a:p>
        </p:txBody>
      </p:sp>
      <p:sp>
        <p:nvSpPr>
          <p:cNvPr id="67" name="">
            <a:extLst xmlns:a="http://schemas.openxmlformats.org/drawingml/2006/main">
              <a:ext uri="{FF2B5EF4-FFF2-40B4-BE49-F238E27FC236}">
                <a16:creationId xmlns:a16="http://schemas.microsoft.com/office/drawing/2014/main" id="{233C4F6A-B8B6-4045-B7A3-A240ABF62A4E}"/>
              </a:ext>
            </a:extLst>
          </p:cNvPr>
          <p:cNvSpPr>
            <a:spLocks xmlns:a="http://schemas.openxmlformats.org/drawingml/2006/main" noGrp="1"/>
          </p:cNvSpPr>
          <p:nvPr/>
        </p:nvSpPr>
        <p:spPr>
          <a:xfrm xmlns:a="http://schemas.openxmlformats.org/drawingml/2006/main">
            <a:off x="666750" y="6296025"/>
            <a:ext cx="10858500" cy="9525"/>
          </a:xfrm>
          <a:prstGeom xmlns:a="http://schemas.openxmlformats.org/drawingml/2006/main" prst="rect">
            <a:avLst/>
          </a:prstGeom>
          <a:solidFill xmlns:a="http://schemas.openxmlformats.org/drawingml/2006/main">
            <a:srgbClr val="E6EBF3"/>
          </a:solidFill>
          <a:ln xmlns:a="http://schemas.openxmlformats.org/drawingml/2006/main" w="0">
            <a:solidFill>
              <a:srgbClr val="000000">
                <a:alpha val="0"/>
              </a:srgbClr>
            </a:solidFill>
            <a:prstDash val="solid"/>
          </a:ln>
        </p:spPr>
      </p:sp>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947882b86770422d"/>
          <a:stretch xmlns:a="http://schemas.openxmlformats.org/drawingml/2006/main"/>
        </p:blipFill>
        <p:spPr>
          <a:xfrm xmlns:a="http://schemas.openxmlformats.org/drawingml/2006/main">
            <a:off x="666977" y="6429375"/>
            <a:ext cx="269103" cy="228600"/>
          </a:xfrm>
          <a:prstGeom xmlns:a="http://schemas.openxmlformats.org/drawingml/2006/main" prst="rect">
            <a:avLst/>
          </a:prstGeom>
        </p:spPr>
      </p:pic>
      <p:sp>
        <p:nvSpPr>
          <p:cNvPr id="69" name="">
            <a:extLst xmlns:a="http://schemas.openxmlformats.org/drawingml/2006/main">
              <a:ext uri="{FF2B5EF4-FFF2-40B4-BE49-F238E27FC236}">
                <a16:creationId xmlns:a16="http://schemas.microsoft.com/office/drawing/2014/main" id="{5B39F3AC-6561-4D23-8F8A-D41672504449}"/>
              </a:ext>
            </a:extLst>
          </p:cNvPr>
          <p:cNvSpPr>
            <a:spLocks xmlns:a="http://schemas.openxmlformats.org/drawingml/2006/main" noGrp="1"/>
          </p:cNvSpPr>
          <p:nvPr/>
        </p:nvSpPr>
        <p:spPr>
          <a:xfrm xmlns:a="http://schemas.openxmlformats.org/drawingml/2006/main">
            <a:off x="990600" y="6457950"/>
            <a:ext cx="400050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S1: target time and slow-device influence</a:t>
            </a:r>
          </a:p>
        </p:txBody>
      </p:sp>
      <p:sp>
        <p:nvSpPr>
          <p:cNvPr id="70" name="">
            <a:extLst xmlns:a="http://schemas.openxmlformats.org/drawingml/2006/main">
              <a:ext uri="{FF2B5EF4-FFF2-40B4-BE49-F238E27FC236}">
                <a16:creationId xmlns:a16="http://schemas.microsoft.com/office/drawing/2014/main" id="{04A4DC31-3E5D-45A8-A158-24C584C2D7BB}"/>
              </a:ext>
            </a:extLst>
          </p:cNvPr>
          <p:cNvSpPr>
            <a:spLocks xmlns:a="http://schemas.openxmlformats.org/drawingml/2006/main" noGrp="1"/>
          </p:cNvSpPr>
          <p:nvPr/>
        </p:nvSpPr>
        <p:spPr>
          <a:xfrm xmlns:a="http://schemas.openxmlformats.org/drawingml/2006/main">
            <a:off x="11049000" y="6457950"/>
            <a:ext cx="47625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11</a:t>
            </a:r>
          </a:p>
        </p:txBody>
      </p:sp>
    </p:spTree>
    <p:extLst>
      <p:ext uri="{BB962C8B-B14F-4D97-AF65-F5344CB8AC3E}">
        <p14:creationId xmlns:p14="http://schemas.microsoft.com/office/powerpoint/2010/main" val="2039691753"/>
      </p:ext>
    </p:extLst>
  </p:cSld>
</p:sld>
</file>

<file path=ppt/slides/slide12.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FBAA7B4-A04B-476B-947C-ADEC9DB4A6FB}"/>
              </a:ext>
            </a:extLst>
          </p:cNvPr>
          <p:cNvSpPr>
            <a:spLocks xmlns:a="http://schemas.openxmlformats.org/drawingml/2006/main" noGrp="1"/>
          </p:cNvSpPr>
          <p:nvPr/>
        </p:nvSpPr>
        <p:spPr>
          <a:xfrm xmlns:a="http://schemas.openxmlformats.org/drawingml/2006/main">
            <a:off x="666750" y="342900"/>
            <a:ext cx="4953000" cy="1905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43A896"/>
                </a:solidFill>
                <a:latin typeface="LM Roman 12"/>
                <a:ea typeface="LM Roman 12"/>
                <a:cs typeface="LM Roman 12"/>
              </a:defRPr>
            </a:pPr>
            <a:r>
              <a:rPr sz="975" b="1">
                <a:solidFill>
                  <a:srgbClr val="43A896"/>
                </a:solidFill>
                <a:latin typeface="LM Roman 12"/>
                <a:ea typeface="LM Roman 12"/>
                <a:cs typeface="LM Roman 12"/>
              </a:rPr>
              <a:t>NETWORK AND FAIRNESS STRESS</a:t>
            </a:r>
          </a:p>
        </p:txBody>
      </p:sp>
      <p:sp>
        <p:nvSpPr>
          <p:cNvPr id="2" name="">
            <a:extLst xmlns:a="http://schemas.openxmlformats.org/drawingml/2006/main">
              <a:ext uri="{FF2B5EF4-FFF2-40B4-BE49-F238E27FC236}">
                <a16:creationId xmlns:a16="http://schemas.microsoft.com/office/drawing/2014/main" id="{B335B233-9E51-4B8B-AF6B-D9D432B406D5}"/>
              </a:ext>
            </a:extLst>
          </p:cNvPr>
          <p:cNvSpPr>
            <a:spLocks xmlns:a="http://schemas.openxmlformats.org/drawingml/2006/main" noGrp="1"/>
          </p:cNvSpPr>
          <p:nvPr/>
        </p:nvSpPr>
        <p:spPr>
          <a:xfrm xmlns:a="http://schemas.openxmlformats.org/drawingml/2006/main">
            <a:off x="666750" y="590550"/>
            <a:ext cx="9239250" cy="6477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71F46"/>
                </a:solidFill>
                <a:latin typeface="LM Roman 12"/>
                <a:ea typeface="LM Roman 12"/>
                <a:cs typeface="LM Roman 12"/>
              </a:defRPr>
            </a:pPr>
            <a:r>
              <a:rPr sz="2250" b="1">
                <a:solidFill>
                  <a:srgbClr val="071F46"/>
                </a:solidFill>
                <a:latin typeface="LM Roman 12"/>
                <a:ea typeface="LM Roman 12"/>
                <a:cs typeface="LM Roman 12"/>
              </a:rPr>
              <a:t>Network and Fairness Stress</a:t>
            </a:r>
          </a:p>
        </p:txBody>
      </p:sp>
      <p:sp>
        <p:nvSpPr>
          <p:cNvPr id="3" name="">
            <a:extLst xmlns:a="http://schemas.openxmlformats.org/drawingml/2006/main">
              <a:ext uri="{FF2B5EF4-FFF2-40B4-BE49-F238E27FC236}">
                <a16:creationId xmlns:a16="http://schemas.microsoft.com/office/drawing/2014/main" id="{94C125F8-2CCC-4C79-8454-ADBB73531C89}"/>
              </a:ext>
            </a:extLst>
          </p:cNvPr>
          <p:cNvSpPr>
            <a:spLocks xmlns:a="http://schemas.openxmlformats.org/drawingml/2006/main" noGrp="1"/>
          </p:cNvSpPr>
          <p:nvPr/>
        </p:nvSpPr>
        <p:spPr>
          <a:xfrm xmlns:a="http://schemas.openxmlformats.org/drawingml/2006/main">
            <a:off x="666750" y="1005840"/>
            <a:ext cx="1143000" cy="47625"/>
          </a:xfrm>
          <a:prstGeom xmlns:a="http://schemas.openxmlformats.org/drawingml/2006/main" prst="rect">
            <a:avLst/>
          </a:prstGeom>
          <a:solidFill xmlns:a="http://schemas.openxmlformats.org/drawingml/2006/main">
            <a:srgbClr val="F3C43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62979A18-86D7-48BD-B831-DA316079C0F7}"/>
              </a:ext>
            </a:extLst>
          </p:cNvPr>
          <p:cNvSpPr>
            <a:spLocks xmlns:a="http://schemas.openxmlformats.org/drawingml/2006/main" noGrp="1"/>
          </p:cNvSpPr>
          <p:nvPr/>
        </p:nvSpPr>
        <p:spPr>
          <a:xfrm xmlns:a="http://schemas.openxmlformats.org/drawingml/2006/main">
            <a:off x="666750" y="1371600"/>
            <a:ext cx="10858500" cy="609600"/>
          </a:xfrm>
          <a:prstGeom xmlns:a="http://schemas.openxmlformats.org/drawingml/2006/main" prst="roundRect">
            <a:avLst>
              <a:gd name="adj" fmla="val 10938"/>
            </a:avLst>
          </a:prstGeom>
          <a:solidFill xmlns:a="http://schemas.openxmlformats.org/drawingml/2006/main">
            <a:srgbClr val="EEF7F5"/>
          </a:solidFill>
          <a:ln xmlns:a="http://schemas.openxmlformats.org/drawingml/2006/main" w="9525">
            <a:solidFill>
              <a:srgbClr val="D5DCE8"/>
            </a:solidFill>
            <a:prstDash val="solid"/>
          </a:ln>
        </p:spPr>
      </p:sp>
      <p:sp>
        <p:nvSpPr>
          <p:cNvPr id="5" name="">
            <a:extLst xmlns:a="http://schemas.openxmlformats.org/drawingml/2006/main">
              <a:ext uri="{FF2B5EF4-FFF2-40B4-BE49-F238E27FC236}">
                <a16:creationId xmlns:a16="http://schemas.microsoft.com/office/drawing/2014/main" id="{0376EDD7-7115-49D3-BA3F-2FCD05CDFE0F}"/>
              </a:ext>
            </a:extLst>
          </p:cNvPr>
          <p:cNvSpPr>
            <a:spLocks xmlns:a="http://schemas.openxmlformats.org/drawingml/2006/main" noGrp="1"/>
          </p:cNvSpPr>
          <p:nvPr/>
        </p:nvSpPr>
        <p:spPr>
          <a:xfrm xmlns:a="http://schemas.openxmlformats.org/drawingml/2006/main">
            <a:off x="666750" y="1371600"/>
            <a:ext cx="76200" cy="609600"/>
          </a:xfrm>
          <a:prstGeom xmlns:a="http://schemas.openxmlformats.org/drawingml/2006/main" prst="roundRect">
            <a:avLst>
              <a:gd name="adj" fmla="val 50000"/>
            </a:avLst>
          </a:prstGeom>
          <a:solidFill xmlns:a="http://schemas.openxmlformats.org/drawingml/2006/main">
            <a:srgbClr val="43A896"/>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CA63474D-FC3B-4685-84F2-EC1DCD91DC2E}"/>
              </a:ext>
            </a:extLst>
          </p:cNvPr>
          <p:cNvSpPr>
            <a:spLocks xmlns:a="http://schemas.openxmlformats.org/drawingml/2006/main" noGrp="1"/>
          </p:cNvSpPr>
          <p:nvPr/>
        </p:nvSpPr>
        <p:spPr>
          <a:xfrm xmlns:a="http://schemas.openxmlformats.org/drawingml/2006/main">
            <a:off x="895350" y="1428750"/>
            <a:ext cx="10458450" cy="5143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71F46"/>
                </a:solidFill>
                <a:latin typeface="LM Roman 12"/>
                <a:ea typeface="LM Roman 12"/>
                <a:cs typeface="LM Roman 12"/>
              </a:defRPr>
            </a:pPr>
            <a:r>
              <a:rPr sz="1650" b="1">
                <a:solidFill>
                  <a:srgbClr val="071F46"/>
                </a:solidFill>
                <a:latin typeface="LM Roman 12"/>
                <a:ea typeface="LM Roman 12"/>
                <a:cs typeface="LM Roman 12"/>
              </a:rPr>
              <a:t>Network stress mainly stretches wall-clock time; stale-aware weighting helps rpi4 influence but does not solve device-correlated data skew.</a:t>
            </a:r>
          </a:p>
        </p:txBody>
      </p:sp>
      <p:sp>
        <p:nvSpPr>
          <p:cNvPr id="7" name="">
            <a:extLst xmlns:a="http://schemas.openxmlformats.org/drawingml/2006/main">
              <a:ext uri="{FF2B5EF4-FFF2-40B4-BE49-F238E27FC236}">
                <a16:creationId xmlns:a16="http://schemas.microsoft.com/office/drawing/2014/main" id="{25D8656C-561C-4D3D-9323-C6B361088750}"/>
              </a:ext>
            </a:extLst>
          </p:cNvPr>
          <p:cNvSpPr>
            <a:spLocks xmlns:a="http://schemas.openxmlformats.org/drawingml/2006/main" noGrp="1"/>
          </p:cNvSpPr>
          <p:nvPr/>
        </p:nvSpPr>
        <p:spPr>
          <a:xfrm xmlns:a="http://schemas.openxmlformats.org/drawingml/2006/main">
            <a:off x="666750" y="2000250"/>
            <a:ext cx="10858500" cy="285750"/>
          </a:xfrm>
          <a:prstGeom xmlns:a="http://schemas.openxmlformats.org/drawingml/2006/main" prst="roundRect">
            <a:avLst>
              <a:gd name="adj" fmla="val 20000"/>
            </a:avLst>
          </a:prstGeom>
          <a:solidFill xmlns:a="http://schemas.openxmlformats.org/drawingml/2006/main">
            <a:srgbClr val="F8FAFC"/>
          </a:solidFill>
          <a:ln xmlns:a="http://schemas.openxmlformats.org/drawingml/2006/main" w="9525">
            <a:solidFill>
              <a:srgbClr val="D5DCE8"/>
            </a:solidFill>
            <a:prstDash val="solid"/>
          </a:ln>
        </p:spPr>
      </p:sp>
      <p:sp>
        <p:nvSpPr>
          <p:cNvPr id="8" name="">
            <a:extLst xmlns:a="http://schemas.openxmlformats.org/drawingml/2006/main">
              <a:ext uri="{FF2B5EF4-FFF2-40B4-BE49-F238E27FC236}">
                <a16:creationId xmlns:a16="http://schemas.microsoft.com/office/drawing/2014/main" id="{82AB75E5-60A2-4D94-94A0-E81B8C4F8A18}"/>
              </a:ext>
            </a:extLst>
          </p:cNvPr>
          <p:cNvSpPr>
            <a:spLocks xmlns:a="http://schemas.openxmlformats.org/drawingml/2006/main" noGrp="1"/>
          </p:cNvSpPr>
          <p:nvPr/>
        </p:nvSpPr>
        <p:spPr>
          <a:xfrm xmlns:a="http://schemas.openxmlformats.org/drawingml/2006/main">
            <a:off x="666750" y="2000250"/>
            <a:ext cx="66675" cy="28575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1065B177-6F06-44FF-9893-EAD4255AAE3E}"/>
              </a:ext>
            </a:extLst>
          </p:cNvPr>
          <p:cNvSpPr>
            <a:spLocks xmlns:a="http://schemas.openxmlformats.org/drawingml/2006/main" noGrp="1"/>
          </p:cNvSpPr>
          <p:nvPr/>
        </p:nvSpPr>
        <p:spPr>
          <a:xfrm xmlns:a="http://schemas.openxmlformats.org/drawingml/2006/main">
            <a:off x="895350" y="2047875"/>
            <a:ext cx="609600" cy="190500"/>
          </a:xfrm>
          <a:prstGeom xmlns:a="http://schemas.openxmlformats.org/drawingml/2006/main" prst="roundRect">
            <a:avLst>
              <a:gd name="adj" fmla="val 25000"/>
            </a:avLst>
          </a:prstGeom>
          <a:solidFill xmlns:a="http://schemas.openxmlformats.org/drawingml/2006/main">
            <a:srgbClr val="EEF2F7"/>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17642A9F-F578-4EF2-9450-D120A6DB898B}"/>
              </a:ext>
            </a:extLst>
          </p:cNvPr>
          <p:cNvSpPr>
            <a:spLocks xmlns:a="http://schemas.openxmlformats.org/drawingml/2006/main" noGrp="1"/>
          </p:cNvSpPr>
          <p:nvPr/>
        </p:nvSpPr>
        <p:spPr>
          <a:xfrm xmlns:a="http://schemas.openxmlformats.org/drawingml/2006/main">
            <a:off x="990600" y="2076450"/>
            <a:ext cx="419100" cy="1333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F59E0B"/>
                </a:solidFill>
                <a:latin typeface="LM Roman 12"/>
                <a:ea typeface="LM Roman 12"/>
                <a:cs typeface="LM Roman 12"/>
              </a:defRPr>
            </a:pPr>
            <a:r>
              <a:rPr sz="863" b="1">
                <a:solidFill>
                  <a:srgbClr val="F59E0B"/>
                </a:solidFill>
                <a:latin typeface="LM Roman 12"/>
                <a:ea typeface="LM Roman 12"/>
                <a:cs typeface="LM Roman 12"/>
              </a:rPr>
              <a:t>S2/S3</a:t>
            </a:r>
          </a:p>
        </p:txBody>
      </p:sp>
      <p:sp>
        <p:nvSpPr>
          <p:cNvPr id="11" name="">
            <a:extLst xmlns:a="http://schemas.openxmlformats.org/drawingml/2006/main">
              <a:ext uri="{FF2B5EF4-FFF2-40B4-BE49-F238E27FC236}">
                <a16:creationId xmlns:a16="http://schemas.microsoft.com/office/drawing/2014/main" id="{8FC78B54-9C18-484E-87E1-8CAD862CA0BB}"/>
              </a:ext>
            </a:extLst>
          </p:cNvPr>
          <p:cNvSpPr>
            <a:spLocks xmlns:a="http://schemas.openxmlformats.org/drawingml/2006/main" noGrp="1"/>
          </p:cNvSpPr>
          <p:nvPr/>
        </p:nvSpPr>
        <p:spPr>
          <a:xfrm xmlns:a="http://schemas.openxmlformats.org/drawingml/2006/main">
            <a:off x="1638300" y="2066925"/>
            <a:ext cx="9715500" cy="1524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5B6472"/>
                </a:solidFill>
                <a:latin typeface="LM Roman 12"/>
                <a:ea typeface="LM Roman 12"/>
                <a:cs typeface="LM Roman 12"/>
              </a:defRPr>
            </a:pPr>
            <a:r>
              <a:rPr sz="863" b="1">
                <a:solidFill>
                  <a:srgbClr val="5B6472"/>
                </a:solidFill>
                <a:latin typeface="LM Roman 12"/>
                <a:ea typeface="LM Roman 12"/>
                <a:cs typeface="LM Roman 12"/>
              </a:rPr>
              <a:t>mixed CIFAR-10 non-IID  |  netem profiles + device-correlated skew  |  separate update share from aggregate weight</a:t>
            </a:r>
          </a:p>
        </p:txBody>
      </p:sp>
      <p:sp>
        <p:nvSpPr>
          <p:cNvPr id="12" name="">
            <a:extLst xmlns:a="http://schemas.openxmlformats.org/drawingml/2006/main">
              <a:ext uri="{FF2B5EF4-FFF2-40B4-BE49-F238E27FC236}">
                <a16:creationId xmlns:a16="http://schemas.microsoft.com/office/drawing/2014/main" id="{23BE5318-B82A-4AB7-91BD-EF630A24B0DB}"/>
              </a:ext>
            </a:extLst>
          </p:cNvPr>
          <p:cNvSpPr>
            <a:spLocks xmlns:a="http://schemas.openxmlformats.org/drawingml/2006/main" noGrp="1"/>
          </p:cNvSpPr>
          <p:nvPr/>
        </p:nvSpPr>
        <p:spPr>
          <a:xfrm xmlns:a="http://schemas.openxmlformats.org/drawingml/2006/main">
            <a:off x="666750" y="2381250"/>
            <a:ext cx="4362450" cy="3181350"/>
          </a:xfrm>
          <a:prstGeom xmlns:a="http://schemas.openxmlformats.org/drawingml/2006/main" prst="roundRect">
            <a:avLst>
              <a:gd name="adj" fmla="val 2096"/>
            </a:avLst>
          </a:prstGeom>
          <a:solidFill xmlns:a="http://schemas.openxmlformats.org/drawingml/2006/main">
            <a:srgbClr val="FFFFFF"/>
          </a:solidFill>
          <a:ln xmlns:a="http://schemas.openxmlformats.org/drawingml/2006/main" w="9525">
            <a:solidFill>
              <a:srgbClr val="D5DCE8"/>
            </a:solidFill>
            <a:prstDash val="solid"/>
          </a:ln>
        </p:spPr>
      </p:sp>
      <p:sp>
        <p:nvSpPr>
          <p:cNvPr id="13" name="">
            <a:extLst xmlns:a="http://schemas.openxmlformats.org/drawingml/2006/main">
              <a:ext uri="{FF2B5EF4-FFF2-40B4-BE49-F238E27FC236}">
                <a16:creationId xmlns:a16="http://schemas.microsoft.com/office/drawing/2014/main" id="{2B112BDC-21E9-47C2-8B9F-66271511799B}"/>
              </a:ext>
            </a:extLst>
          </p:cNvPr>
          <p:cNvSpPr>
            <a:spLocks xmlns:a="http://schemas.openxmlformats.org/drawingml/2006/main" noGrp="1"/>
          </p:cNvSpPr>
          <p:nvPr/>
        </p:nvSpPr>
        <p:spPr>
          <a:xfrm xmlns:a="http://schemas.openxmlformats.org/drawingml/2006/main">
            <a:off x="952500" y="2590800"/>
            <a:ext cx="3143250" cy="2667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71F46"/>
                </a:solidFill>
                <a:latin typeface="LM Roman 12"/>
                <a:ea typeface="LM Roman 12"/>
                <a:cs typeface="LM Roman 12"/>
              </a:defRPr>
            </a:pPr>
            <a:r>
              <a:rPr sz="1500" b="1">
                <a:solidFill>
                  <a:srgbClr val="071F46"/>
                </a:solidFill>
                <a:latin typeface="LM Roman 12"/>
                <a:ea typeface="LM Roman 12"/>
                <a:cs typeface="LM Roman 12"/>
              </a:rPr>
              <a:t>Network perturbation</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dc0615c15fc4d2f">
            <a:extLst>
              <a:ext uri="{96DAC541-7B7A-43D3-8B79-37D633B846F1}">
                <asvg:svgBlip xmlns:asvg="http://schemas.microsoft.com/office/drawing/2016/SVG/main" r:embed="R66b280a1b0904f59"/>
              </a:ext>
            </a:extLst>
          </a:blip>
          <a:stretch xmlns:a="http://schemas.openxmlformats.org/drawingml/2006/main"/>
        </p:blipFill>
        <p:spPr>
          <a:xfrm xmlns:a="http://schemas.openxmlformats.org/drawingml/2006/main">
            <a:off x="895350" y="2992541"/>
            <a:ext cx="3905250" cy="1463468"/>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25F657D1-E5E6-492E-ABE5-36788C5F34C3}"/>
              </a:ext>
            </a:extLst>
          </p:cNvPr>
          <p:cNvSpPr>
            <a:spLocks xmlns:a="http://schemas.openxmlformats.org/drawingml/2006/main" noGrp="1"/>
          </p:cNvSpPr>
          <p:nvPr/>
        </p:nvSpPr>
        <p:spPr>
          <a:xfrm xmlns:a="http://schemas.openxmlformats.org/drawingml/2006/main">
            <a:off x="914400" y="4686300"/>
            <a:ext cx="3867150" cy="4572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The full profile sweep shows stress mainly changes elapsed time and arrival ordering, not the target-trip interpretation.</a:t>
            </a:r>
          </a:p>
        </p:txBody>
      </p:sp>
      <p:sp>
        <p:nvSpPr>
          <p:cNvPr id="16" name="">
            <a:extLst xmlns:a="http://schemas.openxmlformats.org/drawingml/2006/main">
              <a:ext uri="{FF2B5EF4-FFF2-40B4-BE49-F238E27FC236}">
                <a16:creationId xmlns:a16="http://schemas.microsoft.com/office/drawing/2014/main" id="{F1CC4320-C07E-4BC7-A836-6DF90C8CCE22}"/>
              </a:ext>
            </a:extLst>
          </p:cNvPr>
          <p:cNvSpPr>
            <a:spLocks xmlns:a="http://schemas.openxmlformats.org/drawingml/2006/main" noGrp="1"/>
          </p:cNvSpPr>
          <p:nvPr/>
        </p:nvSpPr>
        <p:spPr>
          <a:xfrm xmlns:a="http://schemas.openxmlformats.org/drawingml/2006/main">
            <a:off x="5314950" y="2381250"/>
            <a:ext cx="6210300" cy="3181350"/>
          </a:xfrm>
          <a:prstGeom xmlns:a="http://schemas.openxmlformats.org/drawingml/2006/main" prst="roundRect">
            <a:avLst>
              <a:gd name="adj" fmla="val 2096"/>
            </a:avLst>
          </a:prstGeom>
          <a:solidFill xmlns:a="http://schemas.openxmlformats.org/drawingml/2006/main">
            <a:srgbClr val="FFFFFF"/>
          </a:solidFill>
          <a:ln xmlns:a="http://schemas.openxmlformats.org/drawingml/2006/main" w="9525">
            <a:solidFill>
              <a:srgbClr val="D5DCE8"/>
            </a:solidFill>
            <a:prstDash val="solid"/>
          </a:ln>
        </p:spPr>
      </p:sp>
      <p:sp>
        <p:nvSpPr>
          <p:cNvPr id="17" name="">
            <a:extLst xmlns:a="http://schemas.openxmlformats.org/drawingml/2006/main">
              <a:ext uri="{FF2B5EF4-FFF2-40B4-BE49-F238E27FC236}">
                <a16:creationId xmlns:a16="http://schemas.microsoft.com/office/drawing/2014/main" id="{041C8EA8-38CB-49D8-8DE9-23FA8DC458BA}"/>
              </a:ext>
            </a:extLst>
          </p:cNvPr>
          <p:cNvSpPr>
            <a:spLocks xmlns:a="http://schemas.openxmlformats.org/drawingml/2006/main" noGrp="1"/>
          </p:cNvSpPr>
          <p:nvPr/>
        </p:nvSpPr>
        <p:spPr>
          <a:xfrm xmlns:a="http://schemas.openxmlformats.org/drawingml/2006/main">
            <a:off x="5600700" y="2590800"/>
            <a:ext cx="4095750" cy="2667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71F46"/>
                </a:solidFill>
                <a:latin typeface="LM Roman 12"/>
                <a:ea typeface="LM Roman 12"/>
                <a:cs typeface="LM Roman 12"/>
              </a:defRPr>
            </a:pPr>
            <a:r>
              <a:rPr sz="1650" b="1">
                <a:solidFill>
                  <a:srgbClr val="071F46"/>
                </a:solidFill>
                <a:latin typeface="LM Roman 12"/>
                <a:ea typeface="LM Roman 12"/>
                <a:cs typeface="LM Roman 12"/>
              </a:rPr>
              <a:t>Device-correlated skew limitation</a:t>
            </a:r>
          </a:p>
        </p:txBody>
      </p:sp>
      <p:sp>
        <p:nvSpPr>
          <p:cNvPr id="18" name="">
            <a:extLst xmlns:a="http://schemas.openxmlformats.org/drawingml/2006/main">
              <a:ext uri="{FF2B5EF4-FFF2-40B4-BE49-F238E27FC236}">
                <a16:creationId xmlns:a16="http://schemas.microsoft.com/office/drawing/2014/main" id="{072DFCAC-5293-453A-99F3-1DFD9C48CACA}"/>
              </a:ext>
            </a:extLst>
          </p:cNvPr>
          <p:cNvSpPr>
            <a:spLocks xmlns:a="http://schemas.openxmlformats.org/drawingml/2006/main" noGrp="1"/>
          </p:cNvSpPr>
          <p:nvPr/>
        </p:nvSpPr>
        <p:spPr>
          <a:xfrm xmlns:a="http://schemas.openxmlformats.org/drawingml/2006/main">
            <a:off x="5600700" y="2914650"/>
            <a:ext cx="5524500" cy="3810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B6472"/>
                </a:solidFill>
                <a:latin typeface="LM Roman 12"/>
                <a:ea typeface="LM Roman 12"/>
                <a:cs typeface="LM Roman 12"/>
              </a:defRPr>
            </a:pPr>
            <a:r>
              <a:rPr sz="1050" b="0">
                <a:solidFill>
                  <a:srgbClr val="5B6472"/>
                </a:solidFill>
                <a:latin typeface="LM Roman 12"/>
                <a:ea typeface="LM Roman 12"/>
                <a:cs typeface="LM Roman 12"/>
              </a:rPr>
              <a:t>FedStaleWeight can restore applied influence after updates arrive, but it cannot make slow devices arrive more often.</a:t>
            </a:r>
          </a:p>
        </p:txBody>
      </p:sp>
      <p:sp>
        <p:nvSpPr>
          <p:cNvPr id="19" name="">
            <a:extLst xmlns:a="http://schemas.openxmlformats.org/drawingml/2006/main">
              <a:ext uri="{FF2B5EF4-FFF2-40B4-BE49-F238E27FC236}">
                <a16:creationId xmlns:a16="http://schemas.microsoft.com/office/drawing/2014/main" id="{99BCA85A-7E5E-4C62-A6B3-3D71B436282F}"/>
              </a:ext>
            </a:extLst>
          </p:cNvPr>
          <p:cNvSpPr>
            <a:spLocks xmlns:a="http://schemas.openxmlformats.org/drawingml/2006/main" noGrp="1"/>
          </p:cNvSpPr>
          <p:nvPr/>
        </p:nvSpPr>
        <p:spPr>
          <a:xfrm xmlns:a="http://schemas.openxmlformats.org/drawingml/2006/main">
            <a:off x="5600700" y="3333750"/>
            <a:ext cx="1809750" cy="1104900"/>
          </a:xfrm>
          <a:prstGeom xmlns:a="http://schemas.openxmlformats.org/drawingml/2006/main" prst="roundRect">
            <a:avLst>
              <a:gd name="adj" fmla="val 6034"/>
            </a:avLst>
          </a:prstGeom>
          <a:solidFill xmlns:a="http://schemas.openxmlformats.org/drawingml/2006/main">
            <a:srgbClr val="FFFFFF"/>
          </a:solidFill>
          <a:ln xmlns:a="http://schemas.openxmlformats.org/drawingml/2006/main" w="9525">
            <a:solidFill>
              <a:srgbClr val="D5DCE8"/>
            </a:solidFill>
            <a:prstDash val="solid"/>
          </a:ln>
        </p:spPr>
      </p:sp>
      <p:sp>
        <p:nvSpPr>
          <p:cNvPr id="20" name="">
            <a:extLst xmlns:a="http://schemas.openxmlformats.org/drawingml/2006/main">
              <a:ext uri="{FF2B5EF4-FFF2-40B4-BE49-F238E27FC236}">
                <a16:creationId xmlns:a16="http://schemas.microsoft.com/office/drawing/2014/main" id="{5460F916-D071-46E1-9649-5954B020468C}"/>
              </a:ext>
            </a:extLst>
          </p:cNvPr>
          <p:cNvSpPr>
            <a:spLocks xmlns:a="http://schemas.openxmlformats.org/drawingml/2006/main" noGrp="1"/>
          </p:cNvSpPr>
          <p:nvPr/>
        </p:nvSpPr>
        <p:spPr>
          <a:xfrm xmlns:a="http://schemas.openxmlformats.org/drawingml/2006/main">
            <a:off x="5600700" y="3333750"/>
            <a:ext cx="76200" cy="1104900"/>
          </a:xfrm>
          <a:prstGeom xmlns:a="http://schemas.openxmlformats.org/drawingml/2006/main" prst="roundRect">
            <a:avLst>
              <a:gd name="adj" fmla="val 50000"/>
            </a:avLst>
          </a:prstGeom>
          <a:solidFill xmlns:a="http://schemas.openxmlformats.org/drawingml/2006/main">
            <a:srgbClr val="F04A23"/>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372CC7A1-D816-4972-8836-0B24E0A7F477}"/>
              </a:ext>
            </a:extLst>
          </p:cNvPr>
          <p:cNvSpPr>
            <a:spLocks xmlns:a="http://schemas.openxmlformats.org/drawingml/2006/main" noGrp="1"/>
          </p:cNvSpPr>
          <p:nvPr/>
        </p:nvSpPr>
        <p:spPr>
          <a:xfrm xmlns:a="http://schemas.openxmlformats.org/drawingml/2006/main">
            <a:off x="5810250" y="3467100"/>
            <a:ext cx="1466850" cy="3619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071F46"/>
                </a:solidFill>
                <a:latin typeface="LM Roman 12"/>
                <a:ea typeface="LM Roman 12"/>
                <a:cs typeface="LM Roman 12"/>
              </a:defRPr>
            </a:pPr>
            <a:r>
              <a:rPr sz="2175" b="1">
                <a:solidFill>
                  <a:srgbClr val="071F46"/>
                </a:solidFill>
                <a:latin typeface="LM Roman 12"/>
                <a:ea typeface="LM Roman 12"/>
                <a:cs typeface="LM Roman 12"/>
              </a:rPr>
              <a:t>31.0%</a:t>
            </a:r>
          </a:p>
        </p:txBody>
      </p:sp>
      <p:sp>
        <p:nvSpPr>
          <p:cNvPr id="22" name="">
            <a:extLst xmlns:a="http://schemas.openxmlformats.org/drawingml/2006/main">
              <a:ext uri="{FF2B5EF4-FFF2-40B4-BE49-F238E27FC236}">
                <a16:creationId xmlns:a16="http://schemas.microsoft.com/office/drawing/2014/main" id="{7FF1BCE5-7F6E-4786-9E36-E401B6789AAC}"/>
              </a:ext>
            </a:extLst>
          </p:cNvPr>
          <p:cNvSpPr>
            <a:spLocks xmlns:a="http://schemas.openxmlformats.org/drawingml/2006/main" noGrp="1"/>
          </p:cNvSpPr>
          <p:nvPr/>
        </p:nvSpPr>
        <p:spPr>
          <a:xfrm xmlns:a="http://schemas.openxmlformats.org/drawingml/2006/main">
            <a:off x="5810250" y="3886200"/>
            <a:ext cx="1466850" cy="4000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B6472"/>
                </a:solidFill>
                <a:latin typeface="LM Roman 12"/>
                <a:ea typeface="LM Roman 12"/>
                <a:cs typeface="LM Roman 12"/>
              </a:defRPr>
            </a:pPr>
            <a:r>
              <a:rPr sz="900" b="0">
                <a:solidFill>
                  <a:srgbClr val="5B6472"/>
                </a:solidFill>
                <a:latin typeface="LM Roman 12"/>
                <a:ea typeface="LM Roman 12"/>
                <a:cs typeface="LM Roman 12"/>
              </a:rPr>
              <a:t>rpi4 aggregate weight, close to 33.3% population share</a:t>
            </a:r>
          </a:p>
        </p:txBody>
      </p:sp>
      <p:sp>
        <p:nvSpPr>
          <p:cNvPr id="23" name="">
            <a:extLst xmlns:a="http://schemas.openxmlformats.org/drawingml/2006/main">
              <a:ext uri="{FF2B5EF4-FFF2-40B4-BE49-F238E27FC236}">
                <a16:creationId xmlns:a16="http://schemas.microsoft.com/office/drawing/2014/main" id="{6646AB04-2711-4EF4-8BF3-AD152346A853}"/>
              </a:ext>
            </a:extLst>
          </p:cNvPr>
          <p:cNvSpPr>
            <a:spLocks xmlns:a="http://schemas.openxmlformats.org/drawingml/2006/main" noGrp="1"/>
          </p:cNvSpPr>
          <p:nvPr/>
        </p:nvSpPr>
        <p:spPr>
          <a:xfrm xmlns:a="http://schemas.openxmlformats.org/drawingml/2006/main">
            <a:off x="7600950" y="3333750"/>
            <a:ext cx="1809750" cy="1104900"/>
          </a:xfrm>
          <a:prstGeom xmlns:a="http://schemas.openxmlformats.org/drawingml/2006/main" prst="roundRect">
            <a:avLst>
              <a:gd name="adj" fmla="val 6034"/>
            </a:avLst>
          </a:prstGeom>
          <a:solidFill xmlns:a="http://schemas.openxmlformats.org/drawingml/2006/main">
            <a:srgbClr val="FFFFFF"/>
          </a:solidFill>
          <a:ln xmlns:a="http://schemas.openxmlformats.org/drawingml/2006/main" w="9525">
            <a:solidFill>
              <a:srgbClr val="D5DCE8"/>
            </a:solidFill>
            <a:prstDash val="solid"/>
          </a:ln>
        </p:spPr>
      </p:sp>
      <p:sp>
        <p:nvSpPr>
          <p:cNvPr id="24" name="">
            <a:extLst xmlns:a="http://schemas.openxmlformats.org/drawingml/2006/main">
              <a:ext uri="{FF2B5EF4-FFF2-40B4-BE49-F238E27FC236}">
                <a16:creationId xmlns:a16="http://schemas.microsoft.com/office/drawing/2014/main" id="{1018A2AF-C244-41F1-A9E4-12C5C481309B}"/>
              </a:ext>
            </a:extLst>
          </p:cNvPr>
          <p:cNvSpPr>
            <a:spLocks xmlns:a="http://schemas.openxmlformats.org/drawingml/2006/main" noGrp="1"/>
          </p:cNvSpPr>
          <p:nvPr/>
        </p:nvSpPr>
        <p:spPr>
          <a:xfrm xmlns:a="http://schemas.openxmlformats.org/drawingml/2006/main">
            <a:off x="7600950" y="3333750"/>
            <a:ext cx="76200" cy="1104900"/>
          </a:xfrm>
          <a:prstGeom xmlns:a="http://schemas.openxmlformats.org/drawingml/2006/main" prst="roundRect">
            <a:avLst>
              <a:gd name="adj" fmla="val 50000"/>
            </a:avLst>
          </a:prstGeom>
          <a:solidFill xmlns:a="http://schemas.openxmlformats.org/drawingml/2006/main">
            <a:srgbClr val="43A896"/>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8ECD8833-9DF3-4609-A6E9-0C1D7951EAF2}"/>
              </a:ext>
            </a:extLst>
          </p:cNvPr>
          <p:cNvSpPr>
            <a:spLocks xmlns:a="http://schemas.openxmlformats.org/drawingml/2006/main" noGrp="1"/>
          </p:cNvSpPr>
          <p:nvPr/>
        </p:nvSpPr>
        <p:spPr>
          <a:xfrm xmlns:a="http://schemas.openxmlformats.org/drawingml/2006/main">
            <a:off x="7810500" y="3467100"/>
            <a:ext cx="1466850" cy="3619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071F46"/>
                </a:solidFill>
                <a:latin typeface="LM Roman 12"/>
                <a:ea typeface="LM Roman 12"/>
                <a:cs typeface="LM Roman 12"/>
              </a:defRPr>
            </a:pPr>
            <a:r>
              <a:rPr sz="2175" b="1">
                <a:solidFill>
                  <a:srgbClr val="071F46"/>
                </a:solidFill>
                <a:latin typeface="LM Roman 12"/>
                <a:ea typeface="LM Roman 12"/>
                <a:cs typeface="LM Roman 12"/>
              </a:rPr>
              <a:t>15.7%</a:t>
            </a:r>
          </a:p>
        </p:txBody>
      </p:sp>
      <p:sp>
        <p:nvSpPr>
          <p:cNvPr id="26" name="">
            <a:extLst xmlns:a="http://schemas.openxmlformats.org/drawingml/2006/main">
              <a:ext uri="{FF2B5EF4-FFF2-40B4-BE49-F238E27FC236}">
                <a16:creationId xmlns:a16="http://schemas.microsoft.com/office/drawing/2014/main" id="{DFA3EAB7-3FFA-4C48-88FD-90A89E5127CC}"/>
              </a:ext>
            </a:extLst>
          </p:cNvPr>
          <p:cNvSpPr>
            <a:spLocks xmlns:a="http://schemas.openxmlformats.org/drawingml/2006/main" noGrp="1"/>
          </p:cNvSpPr>
          <p:nvPr/>
        </p:nvSpPr>
        <p:spPr>
          <a:xfrm xmlns:a="http://schemas.openxmlformats.org/drawingml/2006/main">
            <a:off x="7810500" y="3886200"/>
            <a:ext cx="1466850" cy="4000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B6472"/>
                </a:solidFill>
                <a:latin typeface="LM Roman 12"/>
                <a:ea typeface="LM Roman 12"/>
                <a:cs typeface="LM Roman 12"/>
              </a:defRPr>
            </a:pPr>
            <a:r>
              <a:rPr sz="900" b="0">
                <a:solidFill>
                  <a:srgbClr val="5B6472"/>
                </a:solidFill>
                <a:latin typeface="LM Roman 12"/>
                <a:ea typeface="LM Roman 12"/>
                <a:cs typeface="LM Roman 12"/>
              </a:rPr>
              <a:t>rpi4 accepted-update share; weighting cannot create arrivals</a:t>
            </a:r>
          </a:p>
        </p:txBody>
      </p:sp>
      <p:sp>
        <p:nvSpPr>
          <p:cNvPr id="27" name="">
            <a:extLst xmlns:a="http://schemas.openxmlformats.org/drawingml/2006/main">
              <a:ext uri="{FF2B5EF4-FFF2-40B4-BE49-F238E27FC236}">
                <a16:creationId xmlns:a16="http://schemas.microsoft.com/office/drawing/2014/main" id="{AE818F03-FF4A-4682-87B1-814E98436493}"/>
              </a:ext>
            </a:extLst>
          </p:cNvPr>
          <p:cNvSpPr>
            <a:spLocks xmlns:a="http://schemas.openxmlformats.org/drawingml/2006/main" noGrp="1"/>
          </p:cNvSpPr>
          <p:nvPr/>
        </p:nvSpPr>
        <p:spPr>
          <a:xfrm xmlns:a="http://schemas.openxmlformats.org/drawingml/2006/main">
            <a:off x="9601200" y="3333750"/>
            <a:ext cx="1619250" cy="1104900"/>
          </a:xfrm>
          <a:prstGeom xmlns:a="http://schemas.openxmlformats.org/drawingml/2006/main" prst="roundRect">
            <a:avLst>
              <a:gd name="adj" fmla="val 6034"/>
            </a:avLst>
          </a:prstGeom>
          <a:solidFill xmlns:a="http://schemas.openxmlformats.org/drawingml/2006/main">
            <a:srgbClr val="FFFFFF"/>
          </a:solidFill>
          <a:ln xmlns:a="http://schemas.openxmlformats.org/drawingml/2006/main" w="9525">
            <a:solidFill>
              <a:srgbClr val="D5DCE8"/>
            </a:solidFill>
            <a:prstDash val="solid"/>
          </a:ln>
        </p:spPr>
      </p:sp>
      <p:sp>
        <p:nvSpPr>
          <p:cNvPr id="28" name="">
            <a:extLst xmlns:a="http://schemas.openxmlformats.org/drawingml/2006/main">
              <a:ext uri="{FF2B5EF4-FFF2-40B4-BE49-F238E27FC236}">
                <a16:creationId xmlns:a16="http://schemas.microsoft.com/office/drawing/2014/main" id="{10EB5955-AD5F-486E-8E36-B5760EE8E591}"/>
              </a:ext>
            </a:extLst>
          </p:cNvPr>
          <p:cNvSpPr>
            <a:spLocks xmlns:a="http://schemas.openxmlformats.org/drawingml/2006/main" noGrp="1"/>
          </p:cNvSpPr>
          <p:nvPr/>
        </p:nvSpPr>
        <p:spPr>
          <a:xfrm xmlns:a="http://schemas.openxmlformats.org/drawingml/2006/main">
            <a:off x="9601200" y="3333750"/>
            <a:ext cx="76200" cy="110490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0C8E91AB-4EAA-49F8-A200-0794FC02DD1B}"/>
              </a:ext>
            </a:extLst>
          </p:cNvPr>
          <p:cNvSpPr>
            <a:spLocks xmlns:a="http://schemas.openxmlformats.org/drawingml/2006/main" noGrp="1"/>
          </p:cNvSpPr>
          <p:nvPr/>
        </p:nvSpPr>
        <p:spPr>
          <a:xfrm xmlns:a="http://schemas.openxmlformats.org/drawingml/2006/main">
            <a:off x="9810750" y="3467100"/>
            <a:ext cx="1276350" cy="3619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071F46"/>
                </a:solidFill>
                <a:latin typeface="LM Roman 12"/>
                <a:ea typeface="LM Roman 12"/>
                <a:cs typeface="LM Roman 12"/>
              </a:defRPr>
            </a:pPr>
            <a:r>
              <a:rPr sz="2175" b="1">
                <a:solidFill>
                  <a:srgbClr val="071F46"/>
                </a:solidFill>
                <a:latin typeface="LM Roman 12"/>
                <a:ea typeface="LM Roman 12"/>
                <a:cs typeface="LM Roman 12"/>
              </a:rPr>
              <a:t>12.9%</a:t>
            </a:r>
          </a:p>
        </p:txBody>
      </p:sp>
      <p:sp>
        <p:nvSpPr>
          <p:cNvPr id="30" name="">
            <a:extLst xmlns:a="http://schemas.openxmlformats.org/drawingml/2006/main">
              <a:ext uri="{FF2B5EF4-FFF2-40B4-BE49-F238E27FC236}">
                <a16:creationId xmlns:a16="http://schemas.microsoft.com/office/drawing/2014/main" id="{67E45693-B22F-40DC-A8AB-53E5E795EC01}"/>
              </a:ext>
            </a:extLst>
          </p:cNvPr>
          <p:cNvSpPr>
            <a:spLocks xmlns:a="http://schemas.openxmlformats.org/drawingml/2006/main" noGrp="1"/>
          </p:cNvSpPr>
          <p:nvPr/>
        </p:nvSpPr>
        <p:spPr>
          <a:xfrm xmlns:a="http://schemas.openxmlformats.org/drawingml/2006/main">
            <a:off x="9810750" y="3886200"/>
            <a:ext cx="1276350" cy="4000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B6472"/>
                </a:solidFill>
                <a:latin typeface="LM Roman 12"/>
                <a:ea typeface="LM Roman 12"/>
                <a:cs typeface="LM Roman 12"/>
              </a:defRPr>
            </a:pPr>
            <a:r>
              <a:rPr sz="900" b="0">
                <a:solidFill>
                  <a:srgbClr val="5B6472"/>
                </a:solidFill>
                <a:latin typeface="LM Roman 12"/>
                <a:ea typeface="LM Roman 12"/>
                <a:cs typeface="LM Roman 12"/>
              </a:rPr>
              <a:t>rpi4-held class-group accuracy; improved but still weak</a:t>
            </a:r>
          </a:p>
        </p:txBody>
      </p:sp>
      <p:sp>
        <p:nvSpPr>
          <p:cNvPr id="31" name="">
            <a:extLst xmlns:a="http://schemas.openxmlformats.org/drawingml/2006/main">
              <a:ext uri="{FF2B5EF4-FFF2-40B4-BE49-F238E27FC236}">
                <a16:creationId xmlns:a16="http://schemas.microsoft.com/office/drawing/2014/main" id="{A801C3B3-FE9B-49E4-BDCD-781E62275270}"/>
              </a:ext>
            </a:extLst>
          </p:cNvPr>
          <p:cNvSpPr>
            <a:spLocks xmlns:a="http://schemas.openxmlformats.org/drawingml/2006/main" noGrp="1"/>
          </p:cNvSpPr>
          <p:nvPr/>
        </p:nvSpPr>
        <p:spPr>
          <a:xfrm xmlns:a="http://schemas.openxmlformats.org/drawingml/2006/main">
            <a:off x="5600700" y="4686300"/>
            <a:ext cx="5619750" cy="514350"/>
          </a:xfrm>
          <a:prstGeom xmlns:a="http://schemas.openxmlformats.org/drawingml/2006/main" prst="roundRect">
            <a:avLst>
              <a:gd name="adj" fmla="val 12963"/>
            </a:avLst>
          </a:prstGeom>
          <a:solidFill xmlns:a="http://schemas.openxmlformats.org/drawingml/2006/main">
            <a:srgbClr val="F1F5F9"/>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CCB67BA1-7F4B-4F98-84F8-24E85820527B}"/>
              </a:ext>
            </a:extLst>
          </p:cNvPr>
          <p:cNvSpPr>
            <a:spLocks xmlns:a="http://schemas.openxmlformats.org/drawingml/2006/main" noGrp="1"/>
          </p:cNvSpPr>
          <p:nvPr/>
        </p:nvSpPr>
        <p:spPr>
          <a:xfrm xmlns:a="http://schemas.openxmlformats.org/drawingml/2006/main">
            <a:off x="5829300" y="4762500"/>
            <a:ext cx="5162550" cy="3810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071F46"/>
                </a:solidFill>
                <a:latin typeface="LM Roman 12"/>
                <a:ea typeface="LM Roman 12"/>
                <a:cs typeface="LM Roman 12"/>
              </a:defRPr>
            </a:pPr>
            <a:r>
              <a:rPr sz="1125" b="1">
                <a:solidFill>
                  <a:srgbClr val="071F46"/>
                </a:solidFill>
                <a:latin typeface="LM Roman 12"/>
                <a:ea typeface="LM Roman 12"/>
                <a:cs typeface="LM Roman 12"/>
              </a:rPr>
              <a:t>Best fixed-budget accuracy is 45.9%, but device-correlated fairness remains unresolved.</a:t>
            </a:r>
          </a:p>
        </p:txBody>
      </p:sp>
      <p:sp>
        <p:nvSpPr>
          <p:cNvPr id="33" name="">
            <a:extLst xmlns:a="http://schemas.openxmlformats.org/drawingml/2006/main">
              <a:ext uri="{FF2B5EF4-FFF2-40B4-BE49-F238E27FC236}">
                <a16:creationId xmlns:a16="http://schemas.microsoft.com/office/drawing/2014/main" id="{8FBB68A3-0C63-4D8C-962A-73CEE65A18EE}"/>
              </a:ext>
            </a:extLst>
          </p:cNvPr>
          <p:cNvSpPr>
            <a:spLocks xmlns:a="http://schemas.openxmlformats.org/drawingml/2006/main" noGrp="1"/>
          </p:cNvSpPr>
          <p:nvPr/>
        </p:nvSpPr>
        <p:spPr>
          <a:xfrm xmlns:a="http://schemas.openxmlformats.org/drawingml/2006/main">
            <a:off x="666750" y="6057900"/>
            <a:ext cx="8572500" cy="2095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5B6472"/>
                </a:solidFill>
                <a:latin typeface="LM Roman 12"/>
                <a:ea typeface="LM Roman 12"/>
                <a:cs typeface="LM Roman 12"/>
              </a:defRPr>
            </a:pPr>
            <a:r>
              <a:rPr sz="825" b="0">
                <a:solidFill>
                  <a:srgbClr val="5B6472"/>
                </a:solidFill>
                <a:latin typeface="LM Roman 12"/>
                <a:ea typeface="LM Roman 12"/>
                <a:cs typeface="LM Roman 12"/>
              </a:rPr>
              <a:t>Sources: Figure 5.10 network stressor profile bars and device-correlated non-IID ablation in writeup/5_evaluation.tex.</a:t>
            </a:r>
          </a:p>
        </p:txBody>
      </p:sp>
      <p:sp>
        <p:nvSpPr>
          <p:cNvPr id="34" name="">
            <a:extLst xmlns:a="http://schemas.openxmlformats.org/drawingml/2006/main">
              <a:ext uri="{FF2B5EF4-FFF2-40B4-BE49-F238E27FC236}">
                <a16:creationId xmlns:a16="http://schemas.microsoft.com/office/drawing/2014/main" id="{A9C0233B-15AA-45F1-B6EE-C578EFEA7A90}"/>
              </a:ext>
            </a:extLst>
          </p:cNvPr>
          <p:cNvSpPr>
            <a:spLocks xmlns:a="http://schemas.openxmlformats.org/drawingml/2006/main" noGrp="1"/>
          </p:cNvSpPr>
          <p:nvPr/>
        </p:nvSpPr>
        <p:spPr>
          <a:xfrm xmlns:a="http://schemas.openxmlformats.org/drawingml/2006/main">
            <a:off x="666750" y="6296025"/>
            <a:ext cx="10858500" cy="9525"/>
          </a:xfrm>
          <a:prstGeom xmlns:a="http://schemas.openxmlformats.org/drawingml/2006/main" prst="rect">
            <a:avLst/>
          </a:prstGeom>
          <a:solidFill xmlns:a="http://schemas.openxmlformats.org/drawingml/2006/main">
            <a:srgbClr val="E6EBF3"/>
          </a:solidFill>
          <a:ln xmlns:a="http://schemas.openxmlformats.org/drawingml/2006/main" w="0">
            <a:solidFill>
              <a:srgbClr val="000000">
                <a:alpha val="0"/>
              </a:srgbClr>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4b3ac47f10604e9e"/>
          <a:stretch xmlns:a="http://schemas.openxmlformats.org/drawingml/2006/main"/>
        </p:blipFill>
        <p:spPr>
          <a:xfrm xmlns:a="http://schemas.openxmlformats.org/drawingml/2006/main">
            <a:off x="666977" y="6429375"/>
            <a:ext cx="269103" cy="228600"/>
          </a:xfrm>
          <a:prstGeom xmlns:a="http://schemas.openxmlformats.org/drawingml/2006/main" prst="rect">
            <a:avLst/>
          </a:prstGeom>
        </p:spPr>
      </p:pic>
      <p:sp>
        <p:nvSpPr>
          <p:cNvPr id="36" name="">
            <a:extLst xmlns:a="http://schemas.openxmlformats.org/drawingml/2006/main">
              <a:ext uri="{FF2B5EF4-FFF2-40B4-BE49-F238E27FC236}">
                <a16:creationId xmlns:a16="http://schemas.microsoft.com/office/drawing/2014/main" id="{E650D7FB-685E-4982-8739-8FA6DBABCA66}"/>
              </a:ext>
            </a:extLst>
          </p:cNvPr>
          <p:cNvSpPr>
            <a:spLocks xmlns:a="http://schemas.openxmlformats.org/drawingml/2006/main" noGrp="1"/>
          </p:cNvSpPr>
          <p:nvPr/>
        </p:nvSpPr>
        <p:spPr>
          <a:xfrm xmlns:a="http://schemas.openxmlformats.org/drawingml/2006/main">
            <a:off x="990600" y="6457950"/>
            <a:ext cx="400050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S2-S3: network stress and device-correlated skew</a:t>
            </a:r>
          </a:p>
        </p:txBody>
      </p:sp>
      <p:sp>
        <p:nvSpPr>
          <p:cNvPr id="37" name="">
            <a:extLst xmlns:a="http://schemas.openxmlformats.org/drawingml/2006/main">
              <a:ext uri="{FF2B5EF4-FFF2-40B4-BE49-F238E27FC236}">
                <a16:creationId xmlns:a16="http://schemas.microsoft.com/office/drawing/2014/main" id="{D1DEE8BF-5B0E-49FF-8E89-64B614E517A9}"/>
              </a:ext>
            </a:extLst>
          </p:cNvPr>
          <p:cNvSpPr>
            <a:spLocks xmlns:a="http://schemas.openxmlformats.org/drawingml/2006/main" noGrp="1"/>
          </p:cNvSpPr>
          <p:nvPr/>
        </p:nvSpPr>
        <p:spPr>
          <a:xfrm xmlns:a="http://schemas.openxmlformats.org/drawingml/2006/main">
            <a:off x="11049000" y="6457950"/>
            <a:ext cx="47625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12</a:t>
            </a:r>
          </a:p>
        </p:txBody>
      </p:sp>
    </p:spTree>
    <p:extLst>
      <p:ext uri="{BB962C8B-B14F-4D97-AF65-F5344CB8AC3E}">
        <p14:creationId xmlns:p14="http://schemas.microsoft.com/office/powerpoint/2010/main" val="835398697"/>
      </p:ext>
    </p:extLst>
  </p:cSld>
</p:sld>
</file>

<file path=ppt/slides/slide13.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B52F76D-7CFF-4DFA-87FE-85E651BA4838}"/>
              </a:ext>
            </a:extLst>
          </p:cNvPr>
          <p:cNvSpPr>
            <a:spLocks xmlns:a="http://schemas.openxmlformats.org/drawingml/2006/main" noGrp="1"/>
          </p:cNvSpPr>
          <p:nvPr/>
        </p:nvSpPr>
        <p:spPr>
          <a:xfrm xmlns:a="http://schemas.openxmlformats.org/drawingml/2006/main">
            <a:off x="666750" y="342900"/>
            <a:ext cx="4953000" cy="1905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43A896"/>
                </a:solidFill>
                <a:latin typeface="LM Roman 12"/>
                <a:ea typeface="LM Roman 12"/>
                <a:cs typeface="LM Roman 12"/>
              </a:defRPr>
            </a:pPr>
            <a:r>
              <a:rPr sz="975" b="1">
                <a:solidFill>
                  <a:srgbClr val="43A896"/>
                </a:solidFill>
                <a:latin typeface="LM Roman 12"/>
                <a:ea typeface="LM Roman 12"/>
                <a:cs typeface="LM Roman 12"/>
              </a:rPr>
              <a:t>FEDCOVER EVIDENCE</a:t>
            </a:r>
          </a:p>
        </p:txBody>
      </p:sp>
      <p:sp>
        <p:nvSpPr>
          <p:cNvPr id="2" name="">
            <a:extLst xmlns:a="http://schemas.openxmlformats.org/drawingml/2006/main">
              <a:ext uri="{FF2B5EF4-FFF2-40B4-BE49-F238E27FC236}">
                <a16:creationId xmlns:a16="http://schemas.microsoft.com/office/drawing/2014/main" id="{64C30508-8022-40F3-A777-63BA635DE890}"/>
              </a:ext>
            </a:extLst>
          </p:cNvPr>
          <p:cNvSpPr>
            <a:spLocks xmlns:a="http://schemas.openxmlformats.org/drawingml/2006/main" noGrp="1"/>
          </p:cNvSpPr>
          <p:nvPr/>
        </p:nvSpPr>
        <p:spPr>
          <a:xfrm xmlns:a="http://schemas.openxmlformats.org/drawingml/2006/main">
            <a:off x="666750" y="590550"/>
            <a:ext cx="9239250" cy="6477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71F46"/>
                </a:solidFill>
                <a:latin typeface="LM Roman 12"/>
                <a:ea typeface="LM Roman 12"/>
                <a:cs typeface="LM Roman 12"/>
              </a:defRPr>
            </a:pPr>
            <a:r>
              <a:rPr sz="2250" b="1">
                <a:solidFill>
                  <a:srgbClr val="071F46"/>
                </a:solidFill>
                <a:latin typeface="LM Roman 12"/>
                <a:ea typeface="LM Roman 12"/>
                <a:cs typeface="LM Roman 12"/>
              </a:rPr>
              <a:t>FedCover Target-Time Evidence</a:t>
            </a:r>
          </a:p>
        </p:txBody>
      </p:sp>
      <p:sp>
        <p:nvSpPr>
          <p:cNvPr id="3" name="">
            <a:extLst xmlns:a="http://schemas.openxmlformats.org/drawingml/2006/main">
              <a:ext uri="{FF2B5EF4-FFF2-40B4-BE49-F238E27FC236}">
                <a16:creationId xmlns:a16="http://schemas.microsoft.com/office/drawing/2014/main" id="{AE114F3F-6636-49FA-94E6-E90B98033B80}"/>
              </a:ext>
            </a:extLst>
          </p:cNvPr>
          <p:cNvSpPr>
            <a:spLocks xmlns:a="http://schemas.openxmlformats.org/drawingml/2006/main" noGrp="1"/>
          </p:cNvSpPr>
          <p:nvPr/>
        </p:nvSpPr>
        <p:spPr>
          <a:xfrm xmlns:a="http://schemas.openxmlformats.org/drawingml/2006/main">
            <a:off x="666750" y="1005840"/>
            <a:ext cx="1143000" cy="47625"/>
          </a:xfrm>
          <a:prstGeom xmlns:a="http://schemas.openxmlformats.org/drawingml/2006/main" prst="rect">
            <a:avLst/>
          </a:prstGeom>
          <a:solidFill xmlns:a="http://schemas.openxmlformats.org/drawingml/2006/main">
            <a:srgbClr val="F3C43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1FBB1DE4-166D-405B-903F-47017C0F1DA7}"/>
              </a:ext>
            </a:extLst>
          </p:cNvPr>
          <p:cNvSpPr>
            <a:spLocks xmlns:a="http://schemas.openxmlformats.org/drawingml/2006/main" noGrp="1"/>
          </p:cNvSpPr>
          <p:nvPr/>
        </p:nvSpPr>
        <p:spPr>
          <a:xfrm xmlns:a="http://schemas.openxmlformats.org/drawingml/2006/main">
            <a:off x="666750" y="1371600"/>
            <a:ext cx="10858500" cy="609600"/>
          </a:xfrm>
          <a:prstGeom xmlns:a="http://schemas.openxmlformats.org/drawingml/2006/main" prst="roundRect">
            <a:avLst>
              <a:gd name="adj" fmla="val 10938"/>
            </a:avLst>
          </a:prstGeom>
          <a:solidFill xmlns:a="http://schemas.openxmlformats.org/drawingml/2006/main">
            <a:srgbClr val="EEF7F5"/>
          </a:solidFill>
          <a:ln xmlns:a="http://schemas.openxmlformats.org/drawingml/2006/main" w="9525">
            <a:solidFill>
              <a:srgbClr val="D5DCE8"/>
            </a:solidFill>
            <a:prstDash val="solid"/>
          </a:ln>
        </p:spPr>
      </p:sp>
      <p:sp>
        <p:nvSpPr>
          <p:cNvPr id="5" name="">
            <a:extLst xmlns:a="http://schemas.openxmlformats.org/drawingml/2006/main">
              <a:ext uri="{FF2B5EF4-FFF2-40B4-BE49-F238E27FC236}">
                <a16:creationId xmlns:a16="http://schemas.microsoft.com/office/drawing/2014/main" id="{42EE1E58-5056-43E3-9A40-C661E0E11FA7}"/>
              </a:ext>
            </a:extLst>
          </p:cNvPr>
          <p:cNvSpPr>
            <a:spLocks xmlns:a="http://schemas.openxmlformats.org/drawingml/2006/main" noGrp="1"/>
          </p:cNvSpPr>
          <p:nvPr/>
        </p:nvSpPr>
        <p:spPr>
          <a:xfrm xmlns:a="http://schemas.openxmlformats.org/drawingml/2006/main">
            <a:off x="666750" y="1371600"/>
            <a:ext cx="76200" cy="609600"/>
          </a:xfrm>
          <a:prstGeom xmlns:a="http://schemas.openxmlformats.org/drawingml/2006/main" prst="roundRect">
            <a:avLst>
              <a:gd name="adj" fmla="val 50000"/>
            </a:avLst>
          </a:prstGeom>
          <a:solidFill xmlns:a="http://schemas.openxmlformats.org/drawingml/2006/main">
            <a:srgbClr val="43A896"/>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BFAC3C69-DEAA-4255-90B7-5AAC9E915419}"/>
              </a:ext>
            </a:extLst>
          </p:cNvPr>
          <p:cNvSpPr>
            <a:spLocks xmlns:a="http://schemas.openxmlformats.org/drawingml/2006/main" noGrp="1"/>
          </p:cNvSpPr>
          <p:nvPr/>
        </p:nvSpPr>
        <p:spPr>
          <a:xfrm xmlns:a="http://schemas.openxmlformats.org/drawingml/2006/main">
            <a:off x="895350" y="1428750"/>
            <a:ext cx="10458450" cy="5143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71F46"/>
                </a:solidFill>
                <a:latin typeface="LM Roman 12"/>
                <a:ea typeface="LM Roman 12"/>
                <a:cs typeface="LM Roman 12"/>
              </a:defRPr>
            </a:pPr>
            <a:r>
              <a:rPr sz="1650" b="1">
                <a:solidFill>
                  <a:srgbClr val="071F46"/>
                </a:solidFill>
                <a:latin typeface="LM Roman 12"/>
                <a:ea typeface="LM Roman 12"/>
                <a:cs typeface="LM Roman 12"/>
              </a:rPr>
              <a:t>Coverage-aware aggregation improves target attainment, then the post-warm-up sweep checks the mechanism.</a:t>
            </a:r>
          </a:p>
        </p:txBody>
      </p:sp>
      <p:sp>
        <p:nvSpPr>
          <p:cNvPr id="7" name="">
            <a:extLst xmlns:a="http://schemas.openxmlformats.org/drawingml/2006/main">
              <a:ext uri="{FF2B5EF4-FFF2-40B4-BE49-F238E27FC236}">
                <a16:creationId xmlns:a16="http://schemas.microsoft.com/office/drawing/2014/main" id="{912B2B40-6F6A-4E90-960E-A41D73947F40}"/>
              </a:ext>
            </a:extLst>
          </p:cNvPr>
          <p:cNvSpPr>
            <a:spLocks xmlns:a="http://schemas.openxmlformats.org/drawingml/2006/main" noGrp="1"/>
          </p:cNvSpPr>
          <p:nvPr/>
        </p:nvSpPr>
        <p:spPr>
          <a:xfrm xmlns:a="http://schemas.openxmlformats.org/drawingml/2006/main">
            <a:off x="666750" y="1924050"/>
            <a:ext cx="10858500" cy="285750"/>
          </a:xfrm>
          <a:prstGeom xmlns:a="http://schemas.openxmlformats.org/drawingml/2006/main" prst="roundRect">
            <a:avLst>
              <a:gd name="adj" fmla="val 20000"/>
            </a:avLst>
          </a:prstGeom>
          <a:solidFill xmlns:a="http://schemas.openxmlformats.org/drawingml/2006/main">
            <a:srgbClr val="F8FAFC"/>
          </a:solidFill>
          <a:ln xmlns:a="http://schemas.openxmlformats.org/drawingml/2006/main" w="9525">
            <a:solidFill>
              <a:srgbClr val="D5DCE8"/>
            </a:solidFill>
            <a:prstDash val="solid"/>
          </a:ln>
        </p:spPr>
      </p:sp>
      <p:sp>
        <p:nvSpPr>
          <p:cNvPr id="8" name="">
            <a:extLst xmlns:a="http://schemas.openxmlformats.org/drawingml/2006/main">
              <a:ext uri="{FF2B5EF4-FFF2-40B4-BE49-F238E27FC236}">
                <a16:creationId xmlns:a16="http://schemas.microsoft.com/office/drawing/2014/main" id="{18147007-2A4F-4EF8-9C55-FDB5909F6E09}"/>
              </a:ext>
            </a:extLst>
          </p:cNvPr>
          <p:cNvSpPr>
            <a:spLocks xmlns:a="http://schemas.openxmlformats.org/drawingml/2006/main" noGrp="1"/>
          </p:cNvSpPr>
          <p:nvPr/>
        </p:nvSpPr>
        <p:spPr>
          <a:xfrm xmlns:a="http://schemas.openxmlformats.org/drawingml/2006/main">
            <a:off x="666750" y="1924050"/>
            <a:ext cx="66675" cy="285750"/>
          </a:xfrm>
          <a:prstGeom xmlns:a="http://schemas.openxmlformats.org/drawingml/2006/main" prst="roundRect">
            <a:avLst>
              <a:gd name="adj" fmla="val 50000"/>
            </a:avLst>
          </a:prstGeom>
          <a:solidFill xmlns:a="http://schemas.openxmlformats.org/drawingml/2006/main">
            <a:srgbClr val="F04A23"/>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62B0B013-2227-46F5-907C-C6BB318B22BB}"/>
              </a:ext>
            </a:extLst>
          </p:cNvPr>
          <p:cNvSpPr>
            <a:spLocks xmlns:a="http://schemas.openxmlformats.org/drawingml/2006/main" noGrp="1"/>
          </p:cNvSpPr>
          <p:nvPr/>
        </p:nvSpPr>
        <p:spPr>
          <a:xfrm xmlns:a="http://schemas.openxmlformats.org/drawingml/2006/main">
            <a:off x="895350" y="1971675"/>
            <a:ext cx="609600" cy="190500"/>
          </a:xfrm>
          <a:prstGeom xmlns:a="http://schemas.openxmlformats.org/drawingml/2006/main" prst="roundRect">
            <a:avLst>
              <a:gd name="adj" fmla="val 25000"/>
            </a:avLst>
          </a:prstGeom>
          <a:solidFill xmlns:a="http://schemas.openxmlformats.org/drawingml/2006/main">
            <a:srgbClr val="EEF2F7"/>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421957FC-A91B-4AE0-8D1B-3F35D242FF48}"/>
              </a:ext>
            </a:extLst>
          </p:cNvPr>
          <p:cNvSpPr>
            <a:spLocks xmlns:a="http://schemas.openxmlformats.org/drawingml/2006/main" noGrp="1"/>
          </p:cNvSpPr>
          <p:nvPr/>
        </p:nvSpPr>
        <p:spPr>
          <a:xfrm xmlns:a="http://schemas.openxmlformats.org/drawingml/2006/main">
            <a:off x="990600" y="2000250"/>
            <a:ext cx="419100" cy="1333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F04A23"/>
                </a:solidFill>
                <a:latin typeface="LM Roman 12"/>
                <a:ea typeface="LM Roman 12"/>
                <a:cs typeface="LM Roman 12"/>
              </a:defRPr>
            </a:pPr>
            <a:r>
              <a:rPr sz="863" b="1">
                <a:solidFill>
                  <a:srgbClr val="F04A23"/>
                </a:solidFill>
                <a:latin typeface="LM Roman 12"/>
                <a:ea typeface="LM Roman 12"/>
                <a:cs typeface="LM Roman 12"/>
              </a:rPr>
              <a:t>A1/A2</a:t>
            </a:r>
          </a:p>
        </p:txBody>
      </p:sp>
      <p:sp>
        <p:nvSpPr>
          <p:cNvPr id="11" name="">
            <a:extLst xmlns:a="http://schemas.openxmlformats.org/drawingml/2006/main">
              <a:ext uri="{FF2B5EF4-FFF2-40B4-BE49-F238E27FC236}">
                <a16:creationId xmlns:a16="http://schemas.microsoft.com/office/drawing/2014/main" id="{90BE21D2-56F7-4124-AED5-281A44C9204E}"/>
              </a:ext>
            </a:extLst>
          </p:cNvPr>
          <p:cNvSpPr>
            <a:spLocks xmlns:a="http://schemas.openxmlformats.org/drawingml/2006/main" noGrp="1"/>
          </p:cNvSpPr>
          <p:nvPr/>
        </p:nvSpPr>
        <p:spPr>
          <a:xfrm xmlns:a="http://schemas.openxmlformats.org/drawingml/2006/main">
            <a:off x="1638300" y="1990725"/>
            <a:ext cx="9715500" cy="1524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5B6472"/>
                </a:solidFill>
                <a:latin typeface="LM Roman 12"/>
                <a:ea typeface="LM Roman 12"/>
                <a:cs typeface="LM Roman 12"/>
              </a:defRPr>
            </a:pPr>
            <a:r>
              <a:rPr sz="863" b="1">
                <a:solidFill>
                  <a:srgbClr val="5B6472"/>
                </a:solidFill>
                <a:latin typeface="LM Roman 12"/>
                <a:ea typeface="LM Roman 12"/>
                <a:cs typeface="LM Roman 12"/>
              </a:rPr>
              <a:t>CIFAR-10/Fashion-MNIST  |  IID/non-IID  |  async submodel FL  |  target time + gamma sweep</a:t>
            </a:r>
          </a:p>
        </p:txBody>
      </p:sp>
      <p:sp>
        <p:nvSpPr>
          <p:cNvPr id="12" name="">
            <a:extLst xmlns:a="http://schemas.openxmlformats.org/drawingml/2006/main">
              <a:ext uri="{FF2B5EF4-FFF2-40B4-BE49-F238E27FC236}">
                <a16:creationId xmlns:a16="http://schemas.microsoft.com/office/drawing/2014/main" id="{2CAF838F-E868-45EA-BE42-6B47D99F1530}"/>
              </a:ext>
            </a:extLst>
          </p:cNvPr>
          <p:cNvSpPr>
            <a:spLocks xmlns:a="http://schemas.openxmlformats.org/drawingml/2006/main" noGrp="1"/>
          </p:cNvSpPr>
          <p:nvPr/>
        </p:nvSpPr>
        <p:spPr>
          <a:xfrm xmlns:a="http://schemas.openxmlformats.org/drawingml/2006/main">
            <a:off x="476250" y="2343150"/>
            <a:ext cx="6191250" cy="2647950"/>
          </a:xfrm>
          <a:prstGeom xmlns:a="http://schemas.openxmlformats.org/drawingml/2006/main" prst="roundRect">
            <a:avLst>
              <a:gd name="adj" fmla="val 2518"/>
            </a:avLst>
          </a:prstGeom>
          <a:solidFill xmlns:a="http://schemas.openxmlformats.org/drawingml/2006/main">
            <a:srgbClr val="FFFFFF"/>
          </a:solidFill>
          <a:ln xmlns:a="http://schemas.openxmlformats.org/drawingml/2006/main" w="9525">
            <a:solidFill>
              <a:srgbClr val="D5DCE8"/>
            </a:solidFill>
            <a:prstDash val="solid"/>
          </a:ln>
        </p:spPr>
      </p:sp>
      <p:sp>
        <p:nvSpPr>
          <p:cNvPr id="13" name="">
            <a:extLst xmlns:a="http://schemas.openxmlformats.org/drawingml/2006/main">
              <a:ext uri="{FF2B5EF4-FFF2-40B4-BE49-F238E27FC236}">
                <a16:creationId xmlns:a16="http://schemas.microsoft.com/office/drawing/2014/main" id="{9A97C2BA-CA98-4E7C-BF7E-3C2E44428E2F}"/>
              </a:ext>
            </a:extLst>
          </p:cNvPr>
          <p:cNvSpPr>
            <a:spLocks xmlns:a="http://schemas.openxmlformats.org/drawingml/2006/main" noGrp="1"/>
          </p:cNvSpPr>
          <p:nvPr/>
        </p:nvSpPr>
        <p:spPr>
          <a:xfrm xmlns:a="http://schemas.openxmlformats.org/drawingml/2006/main">
            <a:off x="666750" y="2400300"/>
            <a:ext cx="4095750" cy="2095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071F46"/>
                </a:solidFill>
                <a:latin typeface="LM Roman 12"/>
                <a:ea typeface="LM Roman 12"/>
                <a:cs typeface="LM Roman 12"/>
              </a:defRPr>
            </a:pPr>
            <a:r>
              <a:rPr sz="1163" b="1">
                <a:solidFill>
                  <a:srgbClr val="071F46"/>
                </a:solidFill>
                <a:latin typeface="LM Roman 12"/>
                <a:ea typeface="LM Roman 12"/>
                <a:cs typeface="LM Roman 12"/>
              </a:rPr>
              <a:t>Time to task-specific target (min)</a:t>
            </a:r>
          </a:p>
        </p:txBody>
      </p:sp>
      <p:sp>
        <p:nvSpPr>
          <p:cNvPr id="14" name="">
            <a:extLst xmlns:a="http://schemas.openxmlformats.org/drawingml/2006/main">
              <a:ext uri="{FF2B5EF4-FFF2-40B4-BE49-F238E27FC236}">
                <a16:creationId xmlns:a16="http://schemas.microsoft.com/office/drawing/2014/main" id="{7AEA1034-08D5-413F-96B8-F72D6A1229FF}"/>
              </a:ext>
            </a:extLst>
          </p:cNvPr>
          <p:cNvSpPr>
            <a:spLocks xmlns:a="http://schemas.openxmlformats.org/drawingml/2006/main" noGrp="1"/>
          </p:cNvSpPr>
          <p:nvPr/>
        </p:nvSpPr>
        <p:spPr>
          <a:xfrm xmlns:a="http://schemas.openxmlformats.org/drawingml/2006/main">
            <a:off x="666750" y="2647950"/>
            <a:ext cx="1733550" cy="342900"/>
          </a:xfrm>
          <a:prstGeom xmlns:a="http://schemas.openxmlformats.org/drawingml/2006/main" prst="roundRect">
            <a:avLst>
              <a:gd name="adj" fmla="val 13889"/>
            </a:avLst>
          </a:prstGeom>
          <a:solidFill xmlns:a="http://schemas.openxmlformats.org/drawingml/2006/main">
            <a:srgbClr val="071F46"/>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F9319502-7FBF-45D5-B8FD-584CC4831E1C}"/>
              </a:ext>
            </a:extLst>
          </p:cNvPr>
          <p:cNvSpPr>
            <a:spLocks xmlns:a="http://schemas.openxmlformats.org/drawingml/2006/main" noGrp="1"/>
          </p:cNvSpPr>
          <p:nvPr/>
        </p:nvSpPr>
        <p:spPr>
          <a:xfrm xmlns:a="http://schemas.openxmlformats.org/drawingml/2006/main">
            <a:off x="742950" y="2733675"/>
            <a:ext cx="158115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FFFFFF"/>
                </a:solidFill>
                <a:latin typeface="LM Roman 12"/>
                <a:ea typeface="LM Roman 12"/>
                <a:cs typeface="LM Roman 12"/>
              </a:defRPr>
            </a:pPr>
            <a:r>
              <a:rPr sz="863" b="1">
                <a:solidFill>
                  <a:srgbClr val="FFFFFF"/>
                </a:solidFill>
                <a:latin typeface="LM Roman 12"/>
                <a:ea typeface="LM Roman 12"/>
                <a:cs typeface="LM Roman 12"/>
              </a:rPr>
              <a:t>Task / data</a:t>
            </a:r>
          </a:p>
        </p:txBody>
      </p:sp>
      <p:sp>
        <p:nvSpPr>
          <p:cNvPr id="16" name="">
            <a:extLst xmlns:a="http://schemas.openxmlformats.org/drawingml/2006/main">
              <a:ext uri="{FF2B5EF4-FFF2-40B4-BE49-F238E27FC236}">
                <a16:creationId xmlns:a16="http://schemas.microsoft.com/office/drawing/2014/main" id="{D443D267-E3DE-4CC6-9D31-42B439CEF95D}"/>
              </a:ext>
            </a:extLst>
          </p:cNvPr>
          <p:cNvSpPr>
            <a:spLocks xmlns:a="http://schemas.openxmlformats.org/drawingml/2006/main" noGrp="1"/>
          </p:cNvSpPr>
          <p:nvPr/>
        </p:nvSpPr>
        <p:spPr>
          <a:xfrm xmlns:a="http://schemas.openxmlformats.org/drawingml/2006/main">
            <a:off x="2419350" y="2647950"/>
            <a:ext cx="1104900" cy="342900"/>
          </a:xfrm>
          <a:prstGeom xmlns:a="http://schemas.openxmlformats.org/drawingml/2006/main" prst="rect">
            <a:avLst/>
          </a:prstGeom>
          <a:solidFill xmlns:a="http://schemas.openxmlformats.org/drawingml/2006/main">
            <a:srgbClr val="EEF2F7"/>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D3D92DC1-905F-4ED3-9A6D-F978C16DA91F}"/>
              </a:ext>
            </a:extLst>
          </p:cNvPr>
          <p:cNvSpPr>
            <a:spLocks xmlns:a="http://schemas.openxmlformats.org/drawingml/2006/main" noGrp="1"/>
          </p:cNvSpPr>
          <p:nvPr/>
        </p:nvSpPr>
        <p:spPr>
          <a:xfrm xmlns:a="http://schemas.openxmlformats.org/drawingml/2006/main">
            <a:off x="2495550" y="2733675"/>
            <a:ext cx="95250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071F46"/>
                </a:solidFill>
                <a:latin typeface="LM Roman 12"/>
                <a:ea typeface="LM Roman 12"/>
                <a:cs typeface="LM Roman 12"/>
              </a:defRPr>
            </a:pPr>
            <a:r>
              <a:rPr sz="863" b="1">
                <a:solidFill>
                  <a:srgbClr val="071F46"/>
                </a:solidFill>
                <a:latin typeface="LM Roman 12"/>
                <a:ea typeface="LM Roman 12"/>
                <a:cs typeface="LM Roman 12"/>
              </a:rPr>
              <a:t>HeteroFL</a:t>
            </a:r>
          </a:p>
        </p:txBody>
      </p:sp>
      <p:sp>
        <p:nvSpPr>
          <p:cNvPr id="18" name="">
            <a:extLst xmlns:a="http://schemas.openxmlformats.org/drawingml/2006/main">
              <a:ext uri="{FF2B5EF4-FFF2-40B4-BE49-F238E27FC236}">
                <a16:creationId xmlns:a16="http://schemas.microsoft.com/office/drawing/2014/main" id="{5CA24FE3-1D91-4C72-B640-332846E7A6F4}"/>
              </a:ext>
            </a:extLst>
          </p:cNvPr>
          <p:cNvSpPr>
            <a:spLocks xmlns:a="http://schemas.openxmlformats.org/drawingml/2006/main" noGrp="1"/>
          </p:cNvSpPr>
          <p:nvPr/>
        </p:nvSpPr>
        <p:spPr>
          <a:xfrm xmlns:a="http://schemas.openxmlformats.org/drawingml/2006/main">
            <a:off x="3543300" y="2647950"/>
            <a:ext cx="1428750" cy="342900"/>
          </a:xfrm>
          <a:prstGeom xmlns:a="http://schemas.openxmlformats.org/drawingml/2006/main" prst="rect">
            <a:avLst/>
          </a:prstGeom>
          <a:solidFill xmlns:a="http://schemas.openxmlformats.org/drawingml/2006/main">
            <a:srgbClr val="EEF2F7"/>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4B0517A0-905E-481D-9DCB-4E85505C6209}"/>
              </a:ext>
            </a:extLst>
          </p:cNvPr>
          <p:cNvSpPr>
            <a:spLocks xmlns:a="http://schemas.openxmlformats.org/drawingml/2006/main" noGrp="1"/>
          </p:cNvSpPr>
          <p:nvPr/>
        </p:nvSpPr>
        <p:spPr>
          <a:xfrm xmlns:a="http://schemas.openxmlformats.org/drawingml/2006/main">
            <a:off x="3619500" y="2733675"/>
            <a:ext cx="127635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10" b="1">
                <a:solidFill>
                  <a:srgbClr val="071F46"/>
                </a:solidFill>
                <a:latin typeface="LM Roman 12"/>
                <a:ea typeface="LM Roman 12"/>
                <a:cs typeface="LM Roman 12"/>
              </a:defRPr>
            </a:pPr>
            <a:r>
              <a:rPr sz="810" b="1">
                <a:solidFill>
                  <a:srgbClr val="071F46"/>
                </a:solidFill>
                <a:latin typeface="LM Roman 12"/>
                <a:ea typeface="LM Roman 12"/>
                <a:cs typeface="LM Roman 12"/>
              </a:rPr>
              <a:t>Async-HeteroFL</a:t>
            </a:r>
          </a:p>
        </p:txBody>
      </p:sp>
      <p:sp>
        <p:nvSpPr>
          <p:cNvPr id="20" name="">
            <a:extLst xmlns:a="http://schemas.openxmlformats.org/drawingml/2006/main">
              <a:ext uri="{FF2B5EF4-FFF2-40B4-BE49-F238E27FC236}">
                <a16:creationId xmlns:a16="http://schemas.microsoft.com/office/drawing/2014/main" id="{30218A99-8940-47A9-9833-F3D80D70F0B3}"/>
              </a:ext>
            </a:extLst>
          </p:cNvPr>
          <p:cNvSpPr>
            <a:spLocks xmlns:a="http://schemas.openxmlformats.org/drawingml/2006/main" noGrp="1"/>
          </p:cNvSpPr>
          <p:nvPr/>
        </p:nvSpPr>
        <p:spPr>
          <a:xfrm xmlns:a="http://schemas.openxmlformats.org/drawingml/2006/main">
            <a:off x="4991100" y="2647950"/>
            <a:ext cx="1295400" cy="342900"/>
          </a:xfrm>
          <a:prstGeom xmlns:a="http://schemas.openxmlformats.org/drawingml/2006/main" prst="rect">
            <a:avLst/>
          </a:prstGeom>
          <a:solidFill xmlns:a="http://schemas.openxmlformats.org/drawingml/2006/main">
            <a:srgbClr val="EEF2F7"/>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85212DFE-7DEA-4352-96AF-9C46A52D4AE3}"/>
              </a:ext>
            </a:extLst>
          </p:cNvPr>
          <p:cNvSpPr>
            <a:spLocks xmlns:a="http://schemas.openxmlformats.org/drawingml/2006/main" noGrp="1"/>
          </p:cNvSpPr>
          <p:nvPr/>
        </p:nvSpPr>
        <p:spPr>
          <a:xfrm xmlns:a="http://schemas.openxmlformats.org/drawingml/2006/main">
            <a:off x="5067300" y="2733675"/>
            <a:ext cx="114300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071F46"/>
                </a:solidFill>
                <a:latin typeface="LM Roman 12"/>
                <a:ea typeface="LM Roman 12"/>
                <a:cs typeface="LM Roman 12"/>
              </a:defRPr>
            </a:pPr>
            <a:r>
              <a:rPr sz="863" b="1">
                <a:solidFill>
                  <a:srgbClr val="071F46"/>
                </a:solidFill>
                <a:latin typeface="LM Roman 12"/>
                <a:ea typeface="LM Roman 12"/>
                <a:cs typeface="LM Roman 12"/>
              </a:rPr>
              <a:t>FedCover gamma=1.5</a:t>
            </a:r>
          </a:p>
        </p:txBody>
      </p:sp>
      <p:sp>
        <p:nvSpPr>
          <p:cNvPr id="22" name="">
            <a:extLst xmlns:a="http://schemas.openxmlformats.org/drawingml/2006/main">
              <a:ext uri="{FF2B5EF4-FFF2-40B4-BE49-F238E27FC236}">
                <a16:creationId xmlns:a16="http://schemas.microsoft.com/office/drawing/2014/main" id="{0F1C461A-E135-4890-9662-3F0B9CAFAFDE}"/>
              </a:ext>
            </a:extLst>
          </p:cNvPr>
          <p:cNvSpPr>
            <a:spLocks xmlns:a="http://schemas.openxmlformats.org/drawingml/2006/main" noGrp="1"/>
          </p:cNvSpPr>
          <p:nvPr/>
        </p:nvSpPr>
        <p:spPr>
          <a:xfrm xmlns:a="http://schemas.openxmlformats.org/drawingml/2006/main">
            <a:off x="666750" y="3028950"/>
            <a:ext cx="1733550" cy="36195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9525">
            <a:solidFill>
              <a:srgbClr val="D5DCE8"/>
            </a:solidFill>
            <a:prstDash val="solid"/>
          </a:ln>
        </p:spPr>
      </p:sp>
      <p:sp>
        <p:nvSpPr>
          <p:cNvPr id="23" name="">
            <a:extLst xmlns:a="http://schemas.openxmlformats.org/drawingml/2006/main">
              <a:ext uri="{FF2B5EF4-FFF2-40B4-BE49-F238E27FC236}">
                <a16:creationId xmlns:a16="http://schemas.microsoft.com/office/drawing/2014/main" id="{D06037E4-2801-4B55-9565-032CE7E69195}"/>
              </a:ext>
            </a:extLst>
          </p:cNvPr>
          <p:cNvSpPr>
            <a:spLocks xmlns:a="http://schemas.openxmlformats.org/drawingml/2006/main" noGrp="1"/>
          </p:cNvSpPr>
          <p:nvPr/>
        </p:nvSpPr>
        <p:spPr>
          <a:xfrm xmlns:a="http://schemas.openxmlformats.org/drawingml/2006/main">
            <a:off x="742950" y="3124200"/>
            <a:ext cx="158115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23" b="0">
                <a:solidFill>
                  <a:srgbClr val="111827"/>
                </a:solidFill>
                <a:latin typeface="LM Roman 12"/>
                <a:ea typeface="LM Roman 12"/>
                <a:cs typeface="LM Roman 12"/>
              </a:defRPr>
            </a:pPr>
            <a:r>
              <a:rPr sz="923" b="0">
                <a:solidFill>
                  <a:srgbClr val="111827"/>
                </a:solidFill>
                <a:latin typeface="LM Roman 12"/>
                <a:ea typeface="LM Roman 12"/>
                <a:cs typeface="LM Roman 12"/>
              </a:rPr>
              <a:t>CIFAR-10 IID</a:t>
            </a:r>
          </a:p>
        </p:txBody>
      </p:sp>
      <p:sp>
        <p:nvSpPr>
          <p:cNvPr id="24" name="">
            <a:extLst xmlns:a="http://schemas.openxmlformats.org/drawingml/2006/main">
              <a:ext uri="{FF2B5EF4-FFF2-40B4-BE49-F238E27FC236}">
                <a16:creationId xmlns:a16="http://schemas.microsoft.com/office/drawing/2014/main" id="{909430CB-E772-4DE2-AAA9-6C03C9CB5E5C}"/>
              </a:ext>
            </a:extLst>
          </p:cNvPr>
          <p:cNvSpPr>
            <a:spLocks xmlns:a="http://schemas.openxmlformats.org/drawingml/2006/main" noGrp="1"/>
          </p:cNvSpPr>
          <p:nvPr/>
        </p:nvSpPr>
        <p:spPr>
          <a:xfrm xmlns:a="http://schemas.openxmlformats.org/drawingml/2006/main">
            <a:off x="2419350" y="3028950"/>
            <a:ext cx="1104900" cy="361950"/>
          </a:xfrm>
          <a:prstGeom xmlns:a="http://schemas.openxmlformats.org/drawingml/2006/main" prst="roundRect">
            <a:avLst>
              <a:gd name="adj" fmla="val 10526"/>
            </a:avLst>
          </a:prstGeom>
          <a:solidFill xmlns:a="http://schemas.openxmlformats.org/drawingml/2006/main">
            <a:srgbClr val="F8FAFC"/>
          </a:solidFill>
          <a:ln xmlns:a="http://schemas.openxmlformats.org/drawingml/2006/main" w="9525">
            <a:solidFill>
              <a:srgbClr val="D5DCE8"/>
            </a:solidFill>
            <a:prstDash val="solid"/>
          </a:ln>
        </p:spPr>
      </p:sp>
      <p:sp>
        <p:nvSpPr>
          <p:cNvPr id="25" name="">
            <a:extLst xmlns:a="http://schemas.openxmlformats.org/drawingml/2006/main">
              <a:ext uri="{FF2B5EF4-FFF2-40B4-BE49-F238E27FC236}">
                <a16:creationId xmlns:a16="http://schemas.microsoft.com/office/drawing/2014/main" id="{01D17E5C-9953-466D-95B4-8FA986FE5AA2}"/>
              </a:ext>
            </a:extLst>
          </p:cNvPr>
          <p:cNvSpPr>
            <a:spLocks xmlns:a="http://schemas.openxmlformats.org/drawingml/2006/main" noGrp="1"/>
          </p:cNvSpPr>
          <p:nvPr/>
        </p:nvSpPr>
        <p:spPr>
          <a:xfrm xmlns:a="http://schemas.openxmlformats.org/drawingml/2006/main">
            <a:off x="2495550" y="3124200"/>
            <a:ext cx="95250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65" b="1">
                <a:solidFill>
                  <a:srgbClr val="071F46"/>
                </a:solidFill>
                <a:latin typeface="LM Roman 12"/>
                <a:ea typeface="LM Roman 12"/>
                <a:cs typeface="LM Roman 12"/>
              </a:defRPr>
            </a:pPr>
            <a:r>
              <a:rPr sz="1065" b="1">
                <a:solidFill>
                  <a:srgbClr val="071F46"/>
                </a:solidFill>
                <a:latin typeface="LM Roman 12"/>
                <a:ea typeface="LM Roman 12"/>
                <a:cs typeface="LM Roman 12"/>
              </a:rPr>
              <a:t>24.2</a:t>
            </a:r>
          </a:p>
        </p:txBody>
      </p:sp>
      <p:sp>
        <p:nvSpPr>
          <p:cNvPr id="26" name="">
            <a:extLst xmlns:a="http://schemas.openxmlformats.org/drawingml/2006/main">
              <a:ext uri="{FF2B5EF4-FFF2-40B4-BE49-F238E27FC236}">
                <a16:creationId xmlns:a16="http://schemas.microsoft.com/office/drawing/2014/main" id="{40970EE7-E7E4-48D8-AFC6-E1149F9B4CFA}"/>
              </a:ext>
            </a:extLst>
          </p:cNvPr>
          <p:cNvSpPr>
            <a:spLocks xmlns:a="http://schemas.openxmlformats.org/drawingml/2006/main" noGrp="1"/>
          </p:cNvSpPr>
          <p:nvPr/>
        </p:nvSpPr>
        <p:spPr>
          <a:xfrm xmlns:a="http://schemas.openxmlformats.org/drawingml/2006/main">
            <a:off x="3543300" y="3028950"/>
            <a:ext cx="1428750" cy="361950"/>
          </a:xfrm>
          <a:prstGeom xmlns:a="http://schemas.openxmlformats.org/drawingml/2006/main" prst="roundRect">
            <a:avLst>
              <a:gd name="adj" fmla="val 10526"/>
            </a:avLst>
          </a:prstGeom>
          <a:solidFill xmlns:a="http://schemas.openxmlformats.org/drawingml/2006/main">
            <a:srgbClr val="F8FAFC"/>
          </a:solidFill>
          <a:ln xmlns:a="http://schemas.openxmlformats.org/drawingml/2006/main" w="9525">
            <a:solidFill>
              <a:srgbClr val="D5DCE8"/>
            </a:solidFill>
            <a:prstDash val="solid"/>
          </a:ln>
        </p:spPr>
      </p:sp>
      <p:sp>
        <p:nvSpPr>
          <p:cNvPr id="27" name="">
            <a:extLst xmlns:a="http://schemas.openxmlformats.org/drawingml/2006/main">
              <a:ext uri="{FF2B5EF4-FFF2-40B4-BE49-F238E27FC236}">
                <a16:creationId xmlns:a16="http://schemas.microsoft.com/office/drawing/2014/main" id="{8E3F6C71-A9AE-4B74-93F6-EFE36ABAE3A8}"/>
              </a:ext>
            </a:extLst>
          </p:cNvPr>
          <p:cNvSpPr>
            <a:spLocks xmlns:a="http://schemas.openxmlformats.org/drawingml/2006/main" noGrp="1"/>
          </p:cNvSpPr>
          <p:nvPr/>
        </p:nvSpPr>
        <p:spPr>
          <a:xfrm xmlns:a="http://schemas.openxmlformats.org/drawingml/2006/main">
            <a:off x="3619500" y="3124200"/>
            <a:ext cx="127635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65" b="1">
                <a:solidFill>
                  <a:srgbClr val="071F46"/>
                </a:solidFill>
                <a:latin typeface="LM Roman 12"/>
                <a:ea typeface="LM Roman 12"/>
                <a:cs typeface="LM Roman 12"/>
              </a:defRPr>
            </a:pPr>
            <a:r>
              <a:rPr sz="1065" b="1">
                <a:solidFill>
                  <a:srgbClr val="071F46"/>
                </a:solidFill>
                <a:latin typeface="LM Roman 12"/>
                <a:ea typeface="LM Roman 12"/>
                <a:cs typeface="LM Roman 12"/>
              </a:rPr>
              <a:t>33.9</a:t>
            </a:r>
          </a:p>
        </p:txBody>
      </p:sp>
      <p:sp>
        <p:nvSpPr>
          <p:cNvPr id="28" name="">
            <a:extLst xmlns:a="http://schemas.openxmlformats.org/drawingml/2006/main">
              <a:ext uri="{FF2B5EF4-FFF2-40B4-BE49-F238E27FC236}">
                <a16:creationId xmlns:a16="http://schemas.microsoft.com/office/drawing/2014/main" id="{3D05BA41-E641-458F-83FF-A16711E2CBE9}"/>
              </a:ext>
            </a:extLst>
          </p:cNvPr>
          <p:cNvSpPr>
            <a:spLocks xmlns:a="http://schemas.openxmlformats.org/drawingml/2006/main" noGrp="1"/>
          </p:cNvSpPr>
          <p:nvPr/>
        </p:nvSpPr>
        <p:spPr>
          <a:xfrm xmlns:a="http://schemas.openxmlformats.org/drawingml/2006/main">
            <a:off x="4991100" y="3028950"/>
            <a:ext cx="1295400" cy="361950"/>
          </a:xfrm>
          <a:prstGeom xmlns:a="http://schemas.openxmlformats.org/drawingml/2006/main" prst="roundRect">
            <a:avLst>
              <a:gd name="adj" fmla="val 10526"/>
            </a:avLst>
          </a:prstGeom>
          <a:solidFill xmlns:a="http://schemas.openxmlformats.org/drawingml/2006/main">
            <a:srgbClr val="EEF7F5"/>
          </a:solidFill>
          <a:ln xmlns:a="http://schemas.openxmlformats.org/drawingml/2006/main" w="9525">
            <a:solidFill>
              <a:srgbClr val="D5DCE8"/>
            </a:solidFill>
            <a:prstDash val="solid"/>
          </a:ln>
        </p:spPr>
      </p:sp>
      <p:sp>
        <p:nvSpPr>
          <p:cNvPr id="29" name="">
            <a:extLst xmlns:a="http://schemas.openxmlformats.org/drawingml/2006/main">
              <a:ext uri="{FF2B5EF4-FFF2-40B4-BE49-F238E27FC236}">
                <a16:creationId xmlns:a16="http://schemas.microsoft.com/office/drawing/2014/main" id="{9F9CA0E4-B2F8-4CB0-B4FF-262C78221D0E}"/>
              </a:ext>
            </a:extLst>
          </p:cNvPr>
          <p:cNvSpPr>
            <a:spLocks xmlns:a="http://schemas.openxmlformats.org/drawingml/2006/main" noGrp="1"/>
          </p:cNvSpPr>
          <p:nvPr/>
        </p:nvSpPr>
        <p:spPr>
          <a:xfrm xmlns:a="http://schemas.openxmlformats.org/drawingml/2006/main">
            <a:off x="5067300" y="3124200"/>
            <a:ext cx="114300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65" b="1">
                <a:solidFill>
                  <a:srgbClr val="43A896"/>
                </a:solidFill>
                <a:latin typeface="LM Roman 12"/>
                <a:ea typeface="LM Roman 12"/>
                <a:cs typeface="LM Roman 12"/>
              </a:defRPr>
            </a:pPr>
            <a:r>
              <a:rPr sz="1065" b="1">
                <a:solidFill>
                  <a:srgbClr val="43A896"/>
                </a:solidFill>
                <a:latin typeface="LM Roman 12"/>
                <a:ea typeface="LM Roman 12"/>
                <a:cs typeface="LM Roman 12"/>
              </a:rPr>
              <a:t>13.7</a:t>
            </a:r>
          </a:p>
        </p:txBody>
      </p:sp>
      <p:sp>
        <p:nvSpPr>
          <p:cNvPr id="30" name="">
            <a:extLst xmlns:a="http://schemas.openxmlformats.org/drawingml/2006/main">
              <a:ext uri="{FF2B5EF4-FFF2-40B4-BE49-F238E27FC236}">
                <a16:creationId xmlns:a16="http://schemas.microsoft.com/office/drawing/2014/main" id="{E650D047-FBD8-4C2E-969E-AFF5FB512C2E}"/>
              </a:ext>
            </a:extLst>
          </p:cNvPr>
          <p:cNvSpPr>
            <a:spLocks xmlns:a="http://schemas.openxmlformats.org/drawingml/2006/main" noGrp="1"/>
          </p:cNvSpPr>
          <p:nvPr/>
        </p:nvSpPr>
        <p:spPr>
          <a:xfrm xmlns:a="http://schemas.openxmlformats.org/drawingml/2006/main">
            <a:off x="666750" y="3429000"/>
            <a:ext cx="1733550" cy="36195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9525">
            <a:solidFill>
              <a:srgbClr val="D5DCE8"/>
            </a:solidFill>
            <a:prstDash val="solid"/>
          </a:ln>
        </p:spPr>
      </p:sp>
      <p:sp>
        <p:nvSpPr>
          <p:cNvPr id="31" name="">
            <a:extLst xmlns:a="http://schemas.openxmlformats.org/drawingml/2006/main">
              <a:ext uri="{FF2B5EF4-FFF2-40B4-BE49-F238E27FC236}">
                <a16:creationId xmlns:a16="http://schemas.microsoft.com/office/drawing/2014/main" id="{F4588759-8F5E-41BC-99D7-0A12D6586A5E}"/>
              </a:ext>
            </a:extLst>
          </p:cNvPr>
          <p:cNvSpPr>
            <a:spLocks xmlns:a="http://schemas.openxmlformats.org/drawingml/2006/main" noGrp="1"/>
          </p:cNvSpPr>
          <p:nvPr/>
        </p:nvSpPr>
        <p:spPr>
          <a:xfrm xmlns:a="http://schemas.openxmlformats.org/drawingml/2006/main">
            <a:off x="742950" y="3524250"/>
            <a:ext cx="158115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23" b="0">
                <a:solidFill>
                  <a:srgbClr val="111827"/>
                </a:solidFill>
                <a:latin typeface="LM Roman 12"/>
                <a:ea typeface="LM Roman 12"/>
                <a:cs typeface="LM Roman 12"/>
              </a:defRPr>
            </a:pPr>
            <a:r>
              <a:rPr sz="923" b="0">
                <a:solidFill>
                  <a:srgbClr val="111827"/>
                </a:solidFill>
                <a:latin typeface="LM Roman 12"/>
                <a:ea typeface="LM Roman 12"/>
                <a:cs typeface="LM Roman 12"/>
              </a:rPr>
              <a:t>CIFAR-10 non-IID</a:t>
            </a:r>
          </a:p>
        </p:txBody>
      </p:sp>
      <p:sp>
        <p:nvSpPr>
          <p:cNvPr id="32" name="">
            <a:extLst xmlns:a="http://schemas.openxmlformats.org/drawingml/2006/main">
              <a:ext uri="{FF2B5EF4-FFF2-40B4-BE49-F238E27FC236}">
                <a16:creationId xmlns:a16="http://schemas.microsoft.com/office/drawing/2014/main" id="{0DD1AF1E-111A-4C5A-90F8-B856672880AF}"/>
              </a:ext>
            </a:extLst>
          </p:cNvPr>
          <p:cNvSpPr>
            <a:spLocks xmlns:a="http://schemas.openxmlformats.org/drawingml/2006/main" noGrp="1"/>
          </p:cNvSpPr>
          <p:nvPr/>
        </p:nvSpPr>
        <p:spPr>
          <a:xfrm xmlns:a="http://schemas.openxmlformats.org/drawingml/2006/main">
            <a:off x="2419350" y="3429000"/>
            <a:ext cx="1104900" cy="361950"/>
          </a:xfrm>
          <a:prstGeom xmlns:a="http://schemas.openxmlformats.org/drawingml/2006/main" prst="roundRect">
            <a:avLst>
              <a:gd name="adj" fmla="val 10526"/>
            </a:avLst>
          </a:prstGeom>
          <a:solidFill xmlns:a="http://schemas.openxmlformats.org/drawingml/2006/main">
            <a:srgbClr val="FFF7ED"/>
          </a:solidFill>
          <a:ln xmlns:a="http://schemas.openxmlformats.org/drawingml/2006/main" w="9525">
            <a:solidFill>
              <a:srgbClr val="D5DCE8"/>
            </a:solidFill>
            <a:prstDash val="solid"/>
          </a:ln>
        </p:spPr>
      </p:sp>
      <p:sp>
        <p:nvSpPr>
          <p:cNvPr id="33" name="">
            <a:extLst xmlns:a="http://schemas.openxmlformats.org/drawingml/2006/main">
              <a:ext uri="{FF2B5EF4-FFF2-40B4-BE49-F238E27FC236}">
                <a16:creationId xmlns:a16="http://schemas.microsoft.com/office/drawing/2014/main" id="{790B0389-6D27-41E4-8BBF-070FC6CBC65C}"/>
              </a:ext>
            </a:extLst>
          </p:cNvPr>
          <p:cNvSpPr>
            <a:spLocks xmlns:a="http://schemas.openxmlformats.org/drawingml/2006/main" noGrp="1"/>
          </p:cNvSpPr>
          <p:nvPr/>
        </p:nvSpPr>
        <p:spPr>
          <a:xfrm xmlns:a="http://schemas.openxmlformats.org/drawingml/2006/main">
            <a:off x="2495550" y="3524250"/>
            <a:ext cx="95250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65" b="1">
                <a:solidFill>
                  <a:srgbClr val="F59E0B"/>
                </a:solidFill>
                <a:latin typeface="LM Roman 12"/>
                <a:ea typeface="LM Roman 12"/>
                <a:cs typeface="LM Roman 12"/>
              </a:defRPr>
            </a:pPr>
            <a:r>
              <a:rPr sz="1065" b="1">
                <a:solidFill>
                  <a:srgbClr val="F59E0B"/>
                </a:solidFill>
                <a:latin typeface="LM Roman 12"/>
                <a:ea typeface="LM Roman 12"/>
                <a:cs typeface="LM Roman 12"/>
              </a:rPr>
              <a:t>51.6†</a:t>
            </a:r>
          </a:p>
        </p:txBody>
      </p:sp>
      <p:sp>
        <p:nvSpPr>
          <p:cNvPr id="34" name="">
            <a:extLst xmlns:a="http://schemas.openxmlformats.org/drawingml/2006/main">
              <a:ext uri="{FF2B5EF4-FFF2-40B4-BE49-F238E27FC236}">
                <a16:creationId xmlns:a16="http://schemas.microsoft.com/office/drawing/2014/main" id="{FA3E3D1D-205B-4C7F-8D14-E824354C14CB}"/>
              </a:ext>
            </a:extLst>
          </p:cNvPr>
          <p:cNvSpPr>
            <a:spLocks xmlns:a="http://schemas.openxmlformats.org/drawingml/2006/main" noGrp="1"/>
          </p:cNvSpPr>
          <p:nvPr/>
        </p:nvSpPr>
        <p:spPr>
          <a:xfrm xmlns:a="http://schemas.openxmlformats.org/drawingml/2006/main">
            <a:off x="3543300" y="3429000"/>
            <a:ext cx="1428750" cy="361950"/>
          </a:xfrm>
          <a:prstGeom xmlns:a="http://schemas.openxmlformats.org/drawingml/2006/main" prst="roundRect">
            <a:avLst>
              <a:gd name="adj" fmla="val 10526"/>
            </a:avLst>
          </a:prstGeom>
          <a:solidFill xmlns:a="http://schemas.openxmlformats.org/drawingml/2006/main">
            <a:srgbClr val="F8FAFC"/>
          </a:solidFill>
          <a:ln xmlns:a="http://schemas.openxmlformats.org/drawingml/2006/main" w="9525">
            <a:solidFill>
              <a:srgbClr val="D5DCE8"/>
            </a:solidFill>
            <a:prstDash val="solid"/>
          </a:ln>
        </p:spPr>
      </p:sp>
      <p:sp>
        <p:nvSpPr>
          <p:cNvPr id="35" name="">
            <a:extLst xmlns:a="http://schemas.openxmlformats.org/drawingml/2006/main">
              <a:ext uri="{FF2B5EF4-FFF2-40B4-BE49-F238E27FC236}">
                <a16:creationId xmlns:a16="http://schemas.microsoft.com/office/drawing/2014/main" id="{95782A33-A1BF-4C40-B451-8DEC95FAAFFF}"/>
              </a:ext>
            </a:extLst>
          </p:cNvPr>
          <p:cNvSpPr>
            <a:spLocks xmlns:a="http://schemas.openxmlformats.org/drawingml/2006/main" noGrp="1"/>
          </p:cNvSpPr>
          <p:nvPr/>
        </p:nvSpPr>
        <p:spPr>
          <a:xfrm xmlns:a="http://schemas.openxmlformats.org/drawingml/2006/main">
            <a:off x="3619500" y="3524250"/>
            <a:ext cx="127635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65" b="1">
                <a:solidFill>
                  <a:srgbClr val="071F46"/>
                </a:solidFill>
                <a:latin typeface="LM Roman 12"/>
                <a:ea typeface="LM Roman 12"/>
                <a:cs typeface="LM Roman 12"/>
              </a:defRPr>
            </a:pPr>
            <a:r>
              <a:rPr sz="1065" b="1">
                <a:solidFill>
                  <a:srgbClr val="071F46"/>
                </a:solidFill>
                <a:latin typeface="LM Roman 12"/>
                <a:ea typeface="LM Roman 12"/>
                <a:cs typeface="LM Roman 12"/>
              </a:rPr>
              <a:t>38.2</a:t>
            </a:r>
          </a:p>
        </p:txBody>
      </p:sp>
      <p:sp>
        <p:nvSpPr>
          <p:cNvPr id="36" name="">
            <a:extLst xmlns:a="http://schemas.openxmlformats.org/drawingml/2006/main">
              <a:ext uri="{FF2B5EF4-FFF2-40B4-BE49-F238E27FC236}">
                <a16:creationId xmlns:a16="http://schemas.microsoft.com/office/drawing/2014/main" id="{63B4F87C-91C3-45EC-8935-DCB70A37BE57}"/>
              </a:ext>
            </a:extLst>
          </p:cNvPr>
          <p:cNvSpPr>
            <a:spLocks xmlns:a="http://schemas.openxmlformats.org/drawingml/2006/main" noGrp="1"/>
          </p:cNvSpPr>
          <p:nvPr/>
        </p:nvSpPr>
        <p:spPr>
          <a:xfrm xmlns:a="http://schemas.openxmlformats.org/drawingml/2006/main">
            <a:off x="4991100" y="3429000"/>
            <a:ext cx="1295400" cy="361950"/>
          </a:xfrm>
          <a:prstGeom xmlns:a="http://schemas.openxmlformats.org/drawingml/2006/main" prst="roundRect">
            <a:avLst>
              <a:gd name="adj" fmla="val 10526"/>
            </a:avLst>
          </a:prstGeom>
          <a:solidFill xmlns:a="http://schemas.openxmlformats.org/drawingml/2006/main">
            <a:srgbClr val="EEF7F5"/>
          </a:solidFill>
          <a:ln xmlns:a="http://schemas.openxmlformats.org/drawingml/2006/main" w="9525">
            <a:solidFill>
              <a:srgbClr val="D5DCE8"/>
            </a:solidFill>
            <a:prstDash val="solid"/>
          </a:ln>
        </p:spPr>
      </p:sp>
      <p:sp>
        <p:nvSpPr>
          <p:cNvPr id="37" name="">
            <a:extLst xmlns:a="http://schemas.openxmlformats.org/drawingml/2006/main">
              <a:ext uri="{FF2B5EF4-FFF2-40B4-BE49-F238E27FC236}">
                <a16:creationId xmlns:a16="http://schemas.microsoft.com/office/drawing/2014/main" id="{7D2B42C9-3360-4F03-9652-854942007ACC}"/>
              </a:ext>
            </a:extLst>
          </p:cNvPr>
          <p:cNvSpPr>
            <a:spLocks xmlns:a="http://schemas.openxmlformats.org/drawingml/2006/main" noGrp="1"/>
          </p:cNvSpPr>
          <p:nvPr/>
        </p:nvSpPr>
        <p:spPr>
          <a:xfrm xmlns:a="http://schemas.openxmlformats.org/drawingml/2006/main">
            <a:off x="5067300" y="3524250"/>
            <a:ext cx="114300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65" b="1">
                <a:solidFill>
                  <a:srgbClr val="43A896"/>
                </a:solidFill>
                <a:latin typeface="LM Roman 12"/>
                <a:ea typeface="LM Roman 12"/>
                <a:cs typeface="LM Roman 12"/>
              </a:defRPr>
            </a:pPr>
            <a:r>
              <a:rPr sz="1065" b="1">
                <a:solidFill>
                  <a:srgbClr val="43A896"/>
                </a:solidFill>
                <a:latin typeface="LM Roman 12"/>
                <a:ea typeface="LM Roman 12"/>
                <a:cs typeface="LM Roman 12"/>
              </a:rPr>
              <a:t>16.3</a:t>
            </a:r>
          </a:p>
        </p:txBody>
      </p:sp>
      <p:sp>
        <p:nvSpPr>
          <p:cNvPr id="38" name="">
            <a:extLst xmlns:a="http://schemas.openxmlformats.org/drawingml/2006/main">
              <a:ext uri="{FF2B5EF4-FFF2-40B4-BE49-F238E27FC236}">
                <a16:creationId xmlns:a16="http://schemas.microsoft.com/office/drawing/2014/main" id="{B533789B-DE30-4F6E-A256-502ABF0A0797}"/>
              </a:ext>
            </a:extLst>
          </p:cNvPr>
          <p:cNvSpPr>
            <a:spLocks xmlns:a="http://schemas.openxmlformats.org/drawingml/2006/main" noGrp="1"/>
          </p:cNvSpPr>
          <p:nvPr/>
        </p:nvSpPr>
        <p:spPr>
          <a:xfrm xmlns:a="http://schemas.openxmlformats.org/drawingml/2006/main">
            <a:off x="666750" y="3829050"/>
            <a:ext cx="1733550" cy="36195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9525">
            <a:solidFill>
              <a:srgbClr val="D5DCE8"/>
            </a:solidFill>
            <a:prstDash val="solid"/>
          </a:ln>
        </p:spPr>
      </p:sp>
      <p:sp>
        <p:nvSpPr>
          <p:cNvPr id="39" name="">
            <a:extLst xmlns:a="http://schemas.openxmlformats.org/drawingml/2006/main">
              <a:ext uri="{FF2B5EF4-FFF2-40B4-BE49-F238E27FC236}">
                <a16:creationId xmlns:a16="http://schemas.microsoft.com/office/drawing/2014/main" id="{FD9A64AF-44F9-457F-AE5D-F70B6C05295C}"/>
              </a:ext>
            </a:extLst>
          </p:cNvPr>
          <p:cNvSpPr>
            <a:spLocks xmlns:a="http://schemas.openxmlformats.org/drawingml/2006/main" noGrp="1"/>
          </p:cNvSpPr>
          <p:nvPr/>
        </p:nvSpPr>
        <p:spPr>
          <a:xfrm xmlns:a="http://schemas.openxmlformats.org/drawingml/2006/main">
            <a:off x="742950" y="3924300"/>
            <a:ext cx="158115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23" b="0">
                <a:solidFill>
                  <a:srgbClr val="111827"/>
                </a:solidFill>
                <a:latin typeface="LM Roman 12"/>
                <a:ea typeface="LM Roman 12"/>
                <a:cs typeface="LM Roman 12"/>
              </a:defRPr>
            </a:pPr>
            <a:r>
              <a:rPr sz="923" b="0">
                <a:solidFill>
                  <a:srgbClr val="111827"/>
                </a:solidFill>
                <a:latin typeface="LM Roman 12"/>
                <a:ea typeface="LM Roman 12"/>
                <a:cs typeface="LM Roman 12"/>
              </a:rPr>
              <a:t>Fashion-MNIST IID</a:t>
            </a:r>
          </a:p>
        </p:txBody>
      </p:sp>
      <p:sp>
        <p:nvSpPr>
          <p:cNvPr id="40" name="">
            <a:extLst xmlns:a="http://schemas.openxmlformats.org/drawingml/2006/main">
              <a:ext uri="{FF2B5EF4-FFF2-40B4-BE49-F238E27FC236}">
                <a16:creationId xmlns:a16="http://schemas.microsoft.com/office/drawing/2014/main" id="{1FB9AA41-54D8-4D81-AC97-0C2BC61F141D}"/>
              </a:ext>
            </a:extLst>
          </p:cNvPr>
          <p:cNvSpPr>
            <a:spLocks xmlns:a="http://schemas.openxmlformats.org/drawingml/2006/main" noGrp="1"/>
          </p:cNvSpPr>
          <p:nvPr/>
        </p:nvSpPr>
        <p:spPr>
          <a:xfrm xmlns:a="http://schemas.openxmlformats.org/drawingml/2006/main">
            <a:off x="2419350" y="3829050"/>
            <a:ext cx="1104900" cy="361950"/>
          </a:xfrm>
          <a:prstGeom xmlns:a="http://schemas.openxmlformats.org/drawingml/2006/main" prst="roundRect">
            <a:avLst>
              <a:gd name="adj" fmla="val 10526"/>
            </a:avLst>
          </a:prstGeom>
          <a:solidFill xmlns:a="http://schemas.openxmlformats.org/drawingml/2006/main">
            <a:srgbClr val="F8FAFC"/>
          </a:solidFill>
          <a:ln xmlns:a="http://schemas.openxmlformats.org/drawingml/2006/main" w="9525">
            <a:solidFill>
              <a:srgbClr val="D5DCE8"/>
            </a:solidFill>
            <a:prstDash val="solid"/>
          </a:ln>
        </p:spPr>
      </p:sp>
      <p:sp>
        <p:nvSpPr>
          <p:cNvPr id="41" name="">
            <a:extLst xmlns:a="http://schemas.openxmlformats.org/drawingml/2006/main">
              <a:ext uri="{FF2B5EF4-FFF2-40B4-BE49-F238E27FC236}">
                <a16:creationId xmlns:a16="http://schemas.microsoft.com/office/drawing/2014/main" id="{7CFAA3F3-12E0-41C9-9AFA-2BBA584549F5}"/>
              </a:ext>
            </a:extLst>
          </p:cNvPr>
          <p:cNvSpPr>
            <a:spLocks xmlns:a="http://schemas.openxmlformats.org/drawingml/2006/main" noGrp="1"/>
          </p:cNvSpPr>
          <p:nvPr/>
        </p:nvSpPr>
        <p:spPr>
          <a:xfrm xmlns:a="http://schemas.openxmlformats.org/drawingml/2006/main">
            <a:off x="2495550" y="3924300"/>
            <a:ext cx="95250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65" b="1">
                <a:solidFill>
                  <a:srgbClr val="071F46"/>
                </a:solidFill>
                <a:latin typeface="LM Roman 12"/>
                <a:ea typeface="LM Roman 12"/>
                <a:cs typeface="LM Roman 12"/>
              </a:defRPr>
            </a:pPr>
            <a:r>
              <a:rPr sz="1065" b="1">
                <a:solidFill>
                  <a:srgbClr val="071F46"/>
                </a:solidFill>
                <a:latin typeface="LM Roman 12"/>
                <a:ea typeface="LM Roman 12"/>
                <a:cs typeface="LM Roman 12"/>
              </a:rPr>
              <a:t>12.9</a:t>
            </a:r>
          </a:p>
        </p:txBody>
      </p:sp>
      <p:sp>
        <p:nvSpPr>
          <p:cNvPr id="42" name="">
            <a:extLst xmlns:a="http://schemas.openxmlformats.org/drawingml/2006/main">
              <a:ext uri="{FF2B5EF4-FFF2-40B4-BE49-F238E27FC236}">
                <a16:creationId xmlns:a16="http://schemas.microsoft.com/office/drawing/2014/main" id="{E22FC5F8-9D8F-4F1D-AB77-06E7078612F5}"/>
              </a:ext>
            </a:extLst>
          </p:cNvPr>
          <p:cNvSpPr>
            <a:spLocks xmlns:a="http://schemas.openxmlformats.org/drawingml/2006/main" noGrp="1"/>
          </p:cNvSpPr>
          <p:nvPr/>
        </p:nvSpPr>
        <p:spPr>
          <a:xfrm xmlns:a="http://schemas.openxmlformats.org/drawingml/2006/main">
            <a:off x="3543300" y="3829050"/>
            <a:ext cx="1428750" cy="361950"/>
          </a:xfrm>
          <a:prstGeom xmlns:a="http://schemas.openxmlformats.org/drawingml/2006/main" prst="roundRect">
            <a:avLst>
              <a:gd name="adj" fmla="val 10526"/>
            </a:avLst>
          </a:prstGeom>
          <a:solidFill xmlns:a="http://schemas.openxmlformats.org/drawingml/2006/main">
            <a:srgbClr val="F8FAFC"/>
          </a:solidFill>
          <a:ln xmlns:a="http://schemas.openxmlformats.org/drawingml/2006/main" w="9525">
            <a:solidFill>
              <a:srgbClr val="D5DCE8"/>
            </a:solidFill>
            <a:prstDash val="solid"/>
          </a:ln>
        </p:spPr>
      </p:sp>
      <p:sp>
        <p:nvSpPr>
          <p:cNvPr id="43" name="">
            <a:extLst xmlns:a="http://schemas.openxmlformats.org/drawingml/2006/main">
              <a:ext uri="{FF2B5EF4-FFF2-40B4-BE49-F238E27FC236}">
                <a16:creationId xmlns:a16="http://schemas.microsoft.com/office/drawing/2014/main" id="{AEF10DB1-83AE-4AC1-A8EB-522B459D6FFB}"/>
              </a:ext>
            </a:extLst>
          </p:cNvPr>
          <p:cNvSpPr>
            <a:spLocks xmlns:a="http://schemas.openxmlformats.org/drawingml/2006/main" noGrp="1"/>
          </p:cNvSpPr>
          <p:nvPr/>
        </p:nvSpPr>
        <p:spPr>
          <a:xfrm xmlns:a="http://schemas.openxmlformats.org/drawingml/2006/main">
            <a:off x="3619500" y="3924300"/>
            <a:ext cx="127635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65" b="1">
                <a:solidFill>
                  <a:srgbClr val="071F46"/>
                </a:solidFill>
                <a:latin typeface="LM Roman 12"/>
                <a:ea typeface="LM Roman 12"/>
                <a:cs typeface="LM Roman 12"/>
              </a:defRPr>
            </a:pPr>
            <a:r>
              <a:rPr sz="1065" b="1">
                <a:solidFill>
                  <a:srgbClr val="071F46"/>
                </a:solidFill>
                <a:latin typeface="LM Roman 12"/>
                <a:ea typeface="LM Roman 12"/>
                <a:cs typeface="LM Roman 12"/>
              </a:rPr>
              <a:t>11.8</a:t>
            </a:r>
          </a:p>
        </p:txBody>
      </p:sp>
      <p:sp>
        <p:nvSpPr>
          <p:cNvPr id="44" name="">
            <a:extLst xmlns:a="http://schemas.openxmlformats.org/drawingml/2006/main">
              <a:ext uri="{FF2B5EF4-FFF2-40B4-BE49-F238E27FC236}">
                <a16:creationId xmlns:a16="http://schemas.microsoft.com/office/drawing/2014/main" id="{3C6E4DE6-E234-4C05-91DC-097505B64430}"/>
              </a:ext>
            </a:extLst>
          </p:cNvPr>
          <p:cNvSpPr>
            <a:spLocks xmlns:a="http://schemas.openxmlformats.org/drawingml/2006/main" noGrp="1"/>
          </p:cNvSpPr>
          <p:nvPr/>
        </p:nvSpPr>
        <p:spPr>
          <a:xfrm xmlns:a="http://schemas.openxmlformats.org/drawingml/2006/main">
            <a:off x="4991100" y="3829050"/>
            <a:ext cx="1295400" cy="361950"/>
          </a:xfrm>
          <a:prstGeom xmlns:a="http://schemas.openxmlformats.org/drawingml/2006/main" prst="roundRect">
            <a:avLst>
              <a:gd name="adj" fmla="val 10526"/>
            </a:avLst>
          </a:prstGeom>
          <a:solidFill xmlns:a="http://schemas.openxmlformats.org/drawingml/2006/main">
            <a:srgbClr val="EEF7F5"/>
          </a:solidFill>
          <a:ln xmlns:a="http://schemas.openxmlformats.org/drawingml/2006/main" w="9525">
            <a:solidFill>
              <a:srgbClr val="D5DCE8"/>
            </a:solidFill>
            <a:prstDash val="solid"/>
          </a:ln>
        </p:spPr>
      </p:sp>
      <p:sp>
        <p:nvSpPr>
          <p:cNvPr id="45" name="">
            <a:extLst xmlns:a="http://schemas.openxmlformats.org/drawingml/2006/main">
              <a:ext uri="{FF2B5EF4-FFF2-40B4-BE49-F238E27FC236}">
                <a16:creationId xmlns:a16="http://schemas.microsoft.com/office/drawing/2014/main" id="{B9F69B01-F8D1-43C6-AB4D-30F04989BD8E}"/>
              </a:ext>
            </a:extLst>
          </p:cNvPr>
          <p:cNvSpPr>
            <a:spLocks xmlns:a="http://schemas.openxmlformats.org/drawingml/2006/main" noGrp="1"/>
          </p:cNvSpPr>
          <p:nvPr/>
        </p:nvSpPr>
        <p:spPr>
          <a:xfrm xmlns:a="http://schemas.openxmlformats.org/drawingml/2006/main">
            <a:off x="5067300" y="3924300"/>
            <a:ext cx="114300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65" b="1">
                <a:solidFill>
                  <a:srgbClr val="43A896"/>
                </a:solidFill>
                <a:latin typeface="LM Roman 12"/>
                <a:ea typeface="LM Roman 12"/>
                <a:cs typeface="LM Roman 12"/>
              </a:defRPr>
            </a:pPr>
            <a:r>
              <a:rPr sz="1065" b="1">
                <a:solidFill>
                  <a:srgbClr val="43A896"/>
                </a:solidFill>
                <a:latin typeface="LM Roman 12"/>
                <a:ea typeface="LM Roman 12"/>
                <a:cs typeface="LM Roman 12"/>
              </a:rPr>
              <a:t>6.0</a:t>
            </a:r>
          </a:p>
        </p:txBody>
      </p:sp>
      <p:sp>
        <p:nvSpPr>
          <p:cNvPr id="46" name="">
            <a:extLst xmlns:a="http://schemas.openxmlformats.org/drawingml/2006/main">
              <a:ext uri="{FF2B5EF4-FFF2-40B4-BE49-F238E27FC236}">
                <a16:creationId xmlns:a16="http://schemas.microsoft.com/office/drawing/2014/main" id="{035420C1-FBE2-465D-8185-D191FB5A0503}"/>
              </a:ext>
            </a:extLst>
          </p:cNvPr>
          <p:cNvSpPr>
            <a:spLocks xmlns:a="http://schemas.openxmlformats.org/drawingml/2006/main" noGrp="1"/>
          </p:cNvSpPr>
          <p:nvPr/>
        </p:nvSpPr>
        <p:spPr>
          <a:xfrm xmlns:a="http://schemas.openxmlformats.org/drawingml/2006/main">
            <a:off x="666750" y="4229100"/>
            <a:ext cx="1733550" cy="36195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9525">
            <a:solidFill>
              <a:srgbClr val="D5DCE8"/>
            </a:solidFill>
            <a:prstDash val="solid"/>
          </a:ln>
        </p:spPr>
      </p:sp>
      <p:sp>
        <p:nvSpPr>
          <p:cNvPr id="47" name="">
            <a:extLst xmlns:a="http://schemas.openxmlformats.org/drawingml/2006/main">
              <a:ext uri="{FF2B5EF4-FFF2-40B4-BE49-F238E27FC236}">
                <a16:creationId xmlns:a16="http://schemas.microsoft.com/office/drawing/2014/main" id="{0FA98312-C1CC-458F-BFDC-83375F6C1029}"/>
              </a:ext>
            </a:extLst>
          </p:cNvPr>
          <p:cNvSpPr>
            <a:spLocks xmlns:a="http://schemas.openxmlformats.org/drawingml/2006/main" noGrp="1"/>
          </p:cNvSpPr>
          <p:nvPr/>
        </p:nvSpPr>
        <p:spPr>
          <a:xfrm xmlns:a="http://schemas.openxmlformats.org/drawingml/2006/main">
            <a:off x="742950" y="4324350"/>
            <a:ext cx="158115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23" b="0">
                <a:solidFill>
                  <a:srgbClr val="111827"/>
                </a:solidFill>
                <a:latin typeface="LM Roman 12"/>
                <a:ea typeface="LM Roman 12"/>
                <a:cs typeface="LM Roman 12"/>
              </a:defRPr>
            </a:pPr>
            <a:r>
              <a:rPr sz="923" b="0">
                <a:solidFill>
                  <a:srgbClr val="111827"/>
                </a:solidFill>
                <a:latin typeface="LM Roman 12"/>
                <a:ea typeface="LM Roman 12"/>
                <a:cs typeface="LM Roman 12"/>
              </a:rPr>
              <a:t>Fashion-MNIST non-IID</a:t>
            </a:r>
          </a:p>
        </p:txBody>
      </p:sp>
      <p:sp>
        <p:nvSpPr>
          <p:cNvPr id="48" name="">
            <a:extLst xmlns:a="http://schemas.openxmlformats.org/drawingml/2006/main">
              <a:ext uri="{FF2B5EF4-FFF2-40B4-BE49-F238E27FC236}">
                <a16:creationId xmlns:a16="http://schemas.microsoft.com/office/drawing/2014/main" id="{46690350-A778-4B60-A8C9-2EF50E0BF4E4}"/>
              </a:ext>
            </a:extLst>
          </p:cNvPr>
          <p:cNvSpPr>
            <a:spLocks xmlns:a="http://schemas.openxmlformats.org/drawingml/2006/main" noGrp="1"/>
          </p:cNvSpPr>
          <p:nvPr/>
        </p:nvSpPr>
        <p:spPr>
          <a:xfrm xmlns:a="http://schemas.openxmlformats.org/drawingml/2006/main">
            <a:off x="2419350" y="4229100"/>
            <a:ext cx="1104900" cy="361950"/>
          </a:xfrm>
          <a:prstGeom xmlns:a="http://schemas.openxmlformats.org/drawingml/2006/main" prst="roundRect">
            <a:avLst>
              <a:gd name="adj" fmla="val 10526"/>
            </a:avLst>
          </a:prstGeom>
          <a:solidFill xmlns:a="http://schemas.openxmlformats.org/drawingml/2006/main">
            <a:srgbClr val="FFF7ED"/>
          </a:solidFill>
          <a:ln xmlns:a="http://schemas.openxmlformats.org/drawingml/2006/main" w="9525">
            <a:solidFill>
              <a:srgbClr val="D5DCE8"/>
            </a:solidFill>
            <a:prstDash val="solid"/>
          </a:ln>
        </p:spPr>
      </p:sp>
      <p:sp>
        <p:nvSpPr>
          <p:cNvPr id="49" name="">
            <a:extLst xmlns:a="http://schemas.openxmlformats.org/drawingml/2006/main">
              <a:ext uri="{FF2B5EF4-FFF2-40B4-BE49-F238E27FC236}">
                <a16:creationId xmlns:a16="http://schemas.microsoft.com/office/drawing/2014/main" id="{5B044F8F-6E99-4903-B9E0-9D7F3D1193D4}"/>
              </a:ext>
            </a:extLst>
          </p:cNvPr>
          <p:cNvSpPr>
            <a:spLocks xmlns:a="http://schemas.openxmlformats.org/drawingml/2006/main" noGrp="1"/>
          </p:cNvSpPr>
          <p:nvPr/>
        </p:nvSpPr>
        <p:spPr>
          <a:xfrm xmlns:a="http://schemas.openxmlformats.org/drawingml/2006/main">
            <a:off x="2495550" y="4324350"/>
            <a:ext cx="95250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65" b="1">
                <a:solidFill>
                  <a:srgbClr val="F59E0B"/>
                </a:solidFill>
                <a:latin typeface="LM Roman 12"/>
                <a:ea typeface="LM Roman 12"/>
                <a:cs typeface="LM Roman 12"/>
              </a:defRPr>
            </a:pPr>
            <a:r>
              <a:rPr sz="1065" b="1">
                <a:solidFill>
                  <a:srgbClr val="F59E0B"/>
                </a:solidFill>
                <a:latin typeface="LM Roman 12"/>
                <a:ea typeface="LM Roman 12"/>
                <a:cs typeface="LM Roman 12"/>
              </a:rPr>
              <a:t>22.6†</a:t>
            </a:r>
          </a:p>
        </p:txBody>
      </p:sp>
      <p:sp>
        <p:nvSpPr>
          <p:cNvPr id="50" name="">
            <a:extLst xmlns:a="http://schemas.openxmlformats.org/drawingml/2006/main">
              <a:ext uri="{FF2B5EF4-FFF2-40B4-BE49-F238E27FC236}">
                <a16:creationId xmlns:a16="http://schemas.microsoft.com/office/drawing/2014/main" id="{E64B598B-6336-45C0-9458-60EECE4F7ED0}"/>
              </a:ext>
            </a:extLst>
          </p:cNvPr>
          <p:cNvSpPr>
            <a:spLocks xmlns:a="http://schemas.openxmlformats.org/drawingml/2006/main" noGrp="1"/>
          </p:cNvSpPr>
          <p:nvPr/>
        </p:nvSpPr>
        <p:spPr>
          <a:xfrm xmlns:a="http://schemas.openxmlformats.org/drawingml/2006/main">
            <a:off x="3543300" y="4229100"/>
            <a:ext cx="1428750" cy="361950"/>
          </a:xfrm>
          <a:prstGeom xmlns:a="http://schemas.openxmlformats.org/drawingml/2006/main" prst="roundRect">
            <a:avLst>
              <a:gd name="adj" fmla="val 10526"/>
            </a:avLst>
          </a:prstGeom>
          <a:solidFill xmlns:a="http://schemas.openxmlformats.org/drawingml/2006/main">
            <a:srgbClr val="FFF7ED"/>
          </a:solidFill>
          <a:ln xmlns:a="http://schemas.openxmlformats.org/drawingml/2006/main" w="9525">
            <a:solidFill>
              <a:srgbClr val="D5DCE8"/>
            </a:solidFill>
            <a:prstDash val="solid"/>
          </a:ln>
        </p:spPr>
      </p:sp>
      <p:sp>
        <p:nvSpPr>
          <p:cNvPr id="51" name="">
            <a:extLst xmlns:a="http://schemas.openxmlformats.org/drawingml/2006/main">
              <a:ext uri="{FF2B5EF4-FFF2-40B4-BE49-F238E27FC236}">
                <a16:creationId xmlns:a16="http://schemas.microsoft.com/office/drawing/2014/main" id="{172BAC98-8082-4BE2-8238-FD8FD57105EC}"/>
              </a:ext>
            </a:extLst>
          </p:cNvPr>
          <p:cNvSpPr>
            <a:spLocks xmlns:a="http://schemas.openxmlformats.org/drawingml/2006/main" noGrp="1"/>
          </p:cNvSpPr>
          <p:nvPr/>
        </p:nvSpPr>
        <p:spPr>
          <a:xfrm xmlns:a="http://schemas.openxmlformats.org/drawingml/2006/main">
            <a:off x="3619500" y="4324350"/>
            <a:ext cx="127635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65" b="1">
                <a:solidFill>
                  <a:srgbClr val="F59E0B"/>
                </a:solidFill>
                <a:latin typeface="LM Roman 12"/>
                <a:ea typeface="LM Roman 12"/>
                <a:cs typeface="LM Roman 12"/>
              </a:defRPr>
            </a:pPr>
            <a:r>
              <a:rPr sz="1065" b="1">
                <a:solidFill>
                  <a:srgbClr val="F59E0B"/>
                </a:solidFill>
                <a:latin typeface="LM Roman 12"/>
                <a:ea typeface="LM Roman 12"/>
                <a:cs typeface="LM Roman 12"/>
              </a:rPr>
              <a:t>20.5†</a:t>
            </a:r>
          </a:p>
        </p:txBody>
      </p:sp>
      <p:sp>
        <p:nvSpPr>
          <p:cNvPr id="52" name="">
            <a:extLst xmlns:a="http://schemas.openxmlformats.org/drawingml/2006/main">
              <a:ext uri="{FF2B5EF4-FFF2-40B4-BE49-F238E27FC236}">
                <a16:creationId xmlns:a16="http://schemas.microsoft.com/office/drawing/2014/main" id="{CDC5C3A5-EA26-4EAD-8D15-C735A8472A72}"/>
              </a:ext>
            </a:extLst>
          </p:cNvPr>
          <p:cNvSpPr>
            <a:spLocks xmlns:a="http://schemas.openxmlformats.org/drawingml/2006/main" noGrp="1"/>
          </p:cNvSpPr>
          <p:nvPr/>
        </p:nvSpPr>
        <p:spPr>
          <a:xfrm xmlns:a="http://schemas.openxmlformats.org/drawingml/2006/main">
            <a:off x="4991100" y="4229100"/>
            <a:ext cx="1295400" cy="361950"/>
          </a:xfrm>
          <a:prstGeom xmlns:a="http://schemas.openxmlformats.org/drawingml/2006/main" prst="roundRect">
            <a:avLst>
              <a:gd name="adj" fmla="val 10526"/>
            </a:avLst>
          </a:prstGeom>
          <a:solidFill xmlns:a="http://schemas.openxmlformats.org/drawingml/2006/main">
            <a:srgbClr val="EEF7F5"/>
          </a:solidFill>
          <a:ln xmlns:a="http://schemas.openxmlformats.org/drawingml/2006/main" w="9525">
            <a:solidFill>
              <a:srgbClr val="D5DCE8"/>
            </a:solidFill>
            <a:prstDash val="solid"/>
          </a:ln>
        </p:spPr>
      </p:sp>
      <p:sp>
        <p:nvSpPr>
          <p:cNvPr id="53" name="">
            <a:extLst xmlns:a="http://schemas.openxmlformats.org/drawingml/2006/main">
              <a:ext uri="{FF2B5EF4-FFF2-40B4-BE49-F238E27FC236}">
                <a16:creationId xmlns:a16="http://schemas.microsoft.com/office/drawing/2014/main" id="{BD231EA2-F145-4DE1-8412-45F646FFA3EE}"/>
              </a:ext>
            </a:extLst>
          </p:cNvPr>
          <p:cNvSpPr>
            <a:spLocks xmlns:a="http://schemas.openxmlformats.org/drawingml/2006/main" noGrp="1"/>
          </p:cNvSpPr>
          <p:nvPr/>
        </p:nvSpPr>
        <p:spPr>
          <a:xfrm xmlns:a="http://schemas.openxmlformats.org/drawingml/2006/main">
            <a:off x="5067300" y="4324350"/>
            <a:ext cx="1143000" cy="1714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65" b="1">
                <a:solidFill>
                  <a:srgbClr val="43A896"/>
                </a:solidFill>
                <a:latin typeface="LM Roman 12"/>
                <a:ea typeface="LM Roman 12"/>
                <a:cs typeface="LM Roman 12"/>
              </a:defRPr>
            </a:pPr>
            <a:r>
              <a:rPr sz="1065" b="1">
                <a:solidFill>
                  <a:srgbClr val="43A896"/>
                </a:solidFill>
                <a:latin typeface="LM Roman 12"/>
                <a:ea typeface="LM Roman 12"/>
                <a:cs typeface="LM Roman 12"/>
              </a:rPr>
              <a:t>11.0</a:t>
            </a:r>
          </a:p>
        </p:txBody>
      </p:sp>
      <p:sp>
        <p:nvSpPr>
          <p:cNvPr id="54" name="">
            <a:extLst xmlns:a="http://schemas.openxmlformats.org/drawingml/2006/main">
              <a:ext uri="{FF2B5EF4-FFF2-40B4-BE49-F238E27FC236}">
                <a16:creationId xmlns:a16="http://schemas.microsoft.com/office/drawing/2014/main" id="{6DA56549-3199-4A14-941A-AAAFF859D8FE}"/>
              </a:ext>
            </a:extLst>
          </p:cNvPr>
          <p:cNvSpPr>
            <a:spLocks xmlns:a="http://schemas.openxmlformats.org/drawingml/2006/main" noGrp="1"/>
          </p:cNvSpPr>
          <p:nvPr/>
        </p:nvSpPr>
        <p:spPr>
          <a:xfrm xmlns:a="http://schemas.openxmlformats.org/drawingml/2006/main">
            <a:off x="666750" y="4686300"/>
            <a:ext cx="4953000" cy="1524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73" b="0">
                <a:solidFill>
                  <a:srgbClr val="5B6472"/>
                </a:solidFill>
                <a:latin typeface="LM Roman 12"/>
                <a:ea typeface="LM Roman 12"/>
                <a:cs typeface="LM Roman 12"/>
              </a:defRPr>
            </a:pPr>
            <a:r>
              <a:rPr sz="773" b="0">
                <a:solidFill>
                  <a:srgbClr val="5B6472"/>
                </a:solidFill>
                <a:latin typeface="LM Roman 12"/>
                <a:ea typeface="LM Roman 12"/>
                <a:cs typeface="LM Roman 12"/>
              </a:rPr>
              <a:t>† lower-bound: at least one seed did not reach target within budget.</a:t>
            </a:r>
          </a:p>
        </p:txBody>
      </p:sp>
      <p:sp>
        <p:nvSpPr>
          <p:cNvPr id="55" name="">
            <a:extLst xmlns:a="http://schemas.openxmlformats.org/drawingml/2006/main">
              <a:ext uri="{FF2B5EF4-FFF2-40B4-BE49-F238E27FC236}">
                <a16:creationId xmlns:a16="http://schemas.microsoft.com/office/drawing/2014/main" id="{81443785-44D5-498D-BF9D-D94BB8977339}"/>
              </a:ext>
            </a:extLst>
          </p:cNvPr>
          <p:cNvSpPr>
            <a:spLocks xmlns:a="http://schemas.openxmlformats.org/drawingml/2006/main" noGrp="1"/>
          </p:cNvSpPr>
          <p:nvPr/>
        </p:nvSpPr>
        <p:spPr>
          <a:xfrm xmlns:a="http://schemas.openxmlformats.org/drawingml/2006/main">
            <a:off x="6934200" y="2343150"/>
            <a:ext cx="4686300" cy="2647950"/>
          </a:xfrm>
          <a:prstGeom xmlns:a="http://schemas.openxmlformats.org/drawingml/2006/main" prst="roundRect">
            <a:avLst>
              <a:gd name="adj" fmla="val 2518"/>
            </a:avLst>
          </a:prstGeom>
          <a:solidFill xmlns:a="http://schemas.openxmlformats.org/drawingml/2006/main">
            <a:srgbClr val="FFFFFF"/>
          </a:solidFill>
          <a:ln xmlns:a="http://schemas.openxmlformats.org/drawingml/2006/main" w="9525">
            <a:solidFill>
              <a:srgbClr val="D5DCE8"/>
            </a:solidFill>
            <a:prstDash val="solid"/>
          </a:ln>
        </p:spPr>
      </p:sp>
      <p:sp>
        <p:nvSpPr>
          <p:cNvPr id="56" name="">
            <a:extLst xmlns:a="http://schemas.openxmlformats.org/drawingml/2006/main">
              <a:ext uri="{FF2B5EF4-FFF2-40B4-BE49-F238E27FC236}">
                <a16:creationId xmlns:a16="http://schemas.microsoft.com/office/drawing/2014/main" id="{CE609A26-AD1C-46FB-8865-A2438C57DAF8}"/>
              </a:ext>
            </a:extLst>
          </p:cNvPr>
          <p:cNvSpPr>
            <a:spLocks xmlns:a="http://schemas.openxmlformats.org/drawingml/2006/main" noGrp="1"/>
          </p:cNvSpPr>
          <p:nvPr/>
        </p:nvSpPr>
        <p:spPr>
          <a:xfrm xmlns:a="http://schemas.openxmlformats.org/drawingml/2006/main">
            <a:off x="7181850" y="2400300"/>
            <a:ext cx="4000500" cy="2095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071F46"/>
                </a:solidFill>
                <a:latin typeface="LM Roman 12"/>
                <a:ea typeface="LM Roman 12"/>
                <a:cs typeface="LM Roman 12"/>
              </a:defRPr>
            </a:pPr>
            <a:r>
              <a:rPr sz="1163" b="1">
                <a:solidFill>
                  <a:srgbClr val="071F46"/>
                </a:solidFill>
                <a:latin typeface="LM Roman 12"/>
                <a:ea typeface="LM Roman 12"/>
                <a:cs typeface="LM Roman 12"/>
              </a:rPr>
              <a:t>Post-warm-up speedup vs Async-HeteroFL</a:t>
            </a:r>
          </a:p>
        </p:txBody>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1db4fdb305b54b36">
            <a:extLst>
              <a:ext uri="{96DAC541-7B7A-43D3-8B79-37D633B846F1}">
                <asvg:svgBlip xmlns:asvg="http://schemas.microsoft.com/office/drawing/2016/SVG/main" r:embed="R15256db9a62e41f3"/>
              </a:ext>
            </a:extLst>
          </a:blip>
          <a:stretch xmlns:a="http://schemas.openxmlformats.org/drawingml/2006/main"/>
        </p:blipFill>
        <p:spPr>
          <a:xfrm xmlns:a="http://schemas.openxmlformats.org/drawingml/2006/main">
            <a:off x="7124700" y="3029357"/>
            <a:ext cx="4267200" cy="1332686"/>
          </a:xfrm>
          <a:prstGeom xmlns:a="http://schemas.openxmlformats.org/drawingml/2006/main" prst="rect">
            <a:avLst/>
          </a:prstGeom>
        </p:spPr>
      </p:pic>
      <p:sp>
        <p:nvSpPr>
          <p:cNvPr id="58" name="">
            <a:extLst xmlns:a="http://schemas.openxmlformats.org/drawingml/2006/main">
              <a:ext uri="{FF2B5EF4-FFF2-40B4-BE49-F238E27FC236}">
                <a16:creationId xmlns:a16="http://schemas.microsoft.com/office/drawing/2014/main" id="{70DF599F-6708-4380-90CC-DF0980084427}"/>
              </a:ext>
            </a:extLst>
          </p:cNvPr>
          <p:cNvSpPr>
            <a:spLocks xmlns:a="http://schemas.openxmlformats.org/drawingml/2006/main" noGrp="1"/>
          </p:cNvSpPr>
          <p:nvPr/>
        </p:nvSpPr>
        <p:spPr>
          <a:xfrm xmlns:a="http://schemas.openxmlformats.org/drawingml/2006/main">
            <a:off x="1314450" y="5238750"/>
            <a:ext cx="9563100" cy="552450"/>
          </a:xfrm>
          <a:prstGeom xmlns:a="http://schemas.openxmlformats.org/drawingml/2006/main" prst="roundRect">
            <a:avLst>
              <a:gd name="adj" fmla="val 12069"/>
            </a:avLst>
          </a:prstGeom>
          <a:solidFill xmlns:a="http://schemas.openxmlformats.org/drawingml/2006/main">
            <a:srgbClr val="F1F5F9"/>
          </a:solidFill>
          <a:ln xmlns:a="http://schemas.openxmlformats.org/drawingml/2006/main" w="0">
            <a:solidFill>
              <a:srgbClr val="000000">
                <a:alpha val="0"/>
              </a:srgbClr>
            </a:solidFill>
            <a:prstDash val="solid"/>
          </a:ln>
        </p:spPr>
      </p:sp>
      <p:sp>
        <p:nvSpPr>
          <p:cNvPr id="59" name="">
            <a:extLst xmlns:a="http://schemas.openxmlformats.org/drawingml/2006/main">
              <a:ext uri="{FF2B5EF4-FFF2-40B4-BE49-F238E27FC236}">
                <a16:creationId xmlns:a16="http://schemas.microsoft.com/office/drawing/2014/main" id="{58372AF0-F39F-4755-99F8-A1EFEEA922D0}"/>
              </a:ext>
            </a:extLst>
          </p:cNvPr>
          <p:cNvSpPr>
            <a:spLocks xmlns:a="http://schemas.openxmlformats.org/drawingml/2006/main" noGrp="1"/>
          </p:cNvSpPr>
          <p:nvPr/>
        </p:nvSpPr>
        <p:spPr>
          <a:xfrm xmlns:a="http://schemas.openxmlformats.org/drawingml/2006/main">
            <a:off x="1676400" y="5391150"/>
            <a:ext cx="883920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071F46"/>
                </a:solidFill>
                <a:latin typeface="LM Roman 12"/>
                <a:ea typeface="LM Roman 12"/>
                <a:cs typeface="LM Roman 12"/>
              </a:defRPr>
            </a:pPr>
            <a:r>
              <a:rPr sz="1200" b="1">
                <a:solidFill>
                  <a:srgbClr val="071F46"/>
                </a:solidFill>
                <a:latin typeface="LM Roman 12"/>
                <a:ea typeface="LM Roman 12"/>
                <a:cs typeface="LM Roman 12"/>
              </a:rPr>
              <a:t>Target-time table gives the primary result; the gamma sweep confirms the gain persists after warm-up.</a:t>
            </a:r>
          </a:p>
        </p:txBody>
      </p:sp>
      <p:sp>
        <p:nvSpPr>
          <p:cNvPr id="60" name="">
            <a:extLst xmlns:a="http://schemas.openxmlformats.org/drawingml/2006/main">
              <a:ext uri="{FF2B5EF4-FFF2-40B4-BE49-F238E27FC236}">
                <a16:creationId xmlns:a16="http://schemas.microsoft.com/office/drawing/2014/main" id="{786A8B06-0397-46FD-9B07-EF91D83C1093}"/>
              </a:ext>
            </a:extLst>
          </p:cNvPr>
          <p:cNvSpPr>
            <a:spLocks xmlns:a="http://schemas.openxmlformats.org/drawingml/2006/main" noGrp="1"/>
          </p:cNvSpPr>
          <p:nvPr/>
        </p:nvSpPr>
        <p:spPr>
          <a:xfrm xmlns:a="http://schemas.openxmlformats.org/drawingml/2006/main">
            <a:off x="666750" y="6057900"/>
            <a:ext cx="8572500" cy="2095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5B6472"/>
                </a:solidFill>
                <a:latin typeface="LM Roman 12"/>
                <a:ea typeface="LM Roman 12"/>
                <a:cs typeface="LM Roman 12"/>
              </a:defRPr>
            </a:pPr>
            <a:r>
              <a:rPr sz="825" b="0">
                <a:solidFill>
                  <a:srgbClr val="5B6472"/>
                </a:solidFill>
                <a:latin typeface="LM Roman 12"/>
                <a:ea typeface="LM Roman 12"/>
                <a:cs typeface="LM Roman 12"/>
              </a:rPr>
              <a:t>Sources: Table 5.10 and Figure 5.17; all FedCover rows use kappa_max=3.</a:t>
            </a:r>
          </a:p>
        </p:txBody>
      </p:sp>
      <p:sp>
        <p:nvSpPr>
          <p:cNvPr id="61" name="">
            <a:extLst xmlns:a="http://schemas.openxmlformats.org/drawingml/2006/main">
              <a:ext uri="{FF2B5EF4-FFF2-40B4-BE49-F238E27FC236}">
                <a16:creationId xmlns:a16="http://schemas.microsoft.com/office/drawing/2014/main" id="{8B23EEBB-1083-42C8-918B-95F084A1D74E}"/>
              </a:ext>
            </a:extLst>
          </p:cNvPr>
          <p:cNvSpPr>
            <a:spLocks xmlns:a="http://schemas.openxmlformats.org/drawingml/2006/main" noGrp="1"/>
          </p:cNvSpPr>
          <p:nvPr/>
        </p:nvSpPr>
        <p:spPr>
          <a:xfrm xmlns:a="http://schemas.openxmlformats.org/drawingml/2006/main">
            <a:off x="666750" y="6296025"/>
            <a:ext cx="10858500" cy="9525"/>
          </a:xfrm>
          <a:prstGeom xmlns:a="http://schemas.openxmlformats.org/drawingml/2006/main" prst="rect">
            <a:avLst/>
          </a:prstGeom>
          <a:solidFill xmlns:a="http://schemas.openxmlformats.org/drawingml/2006/main">
            <a:srgbClr val="E6EBF3"/>
          </a:solidFill>
          <a:ln xmlns:a="http://schemas.openxmlformats.org/drawingml/2006/main" w="0">
            <a:solidFill>
              <a:srgbClr val="000000">
                <a:alpha val="0"/>
              </a:srgbClr>
            </a:solidFill>
            <a:prstDash val="solid"/>
          </a:ln>
        </p:spPr>
      </p:sp>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c8de42b1ff854853"/>
          <a:stretch xmlns:a="http://schemas.openxmlformats.org/drawingml/2006/main"/>
        </p:blipFill>
        <p:spPr>
          <a:xfrm xmlns:a="http://schemas.openxmlformats.org/drawingml/2006/main">
            <a:off x="666977" y="6429375"/>
            <a:ext cx="269103" cy="228600"/>
          </a:xfrm>
          <a:prstGeom xmlns:a="http://schemas.openxmlformats.org/drawingml/2006/main" prst="rect">
            <a:avLst/>
          </a:prstGeom>
        </p:spPr>
      </p:pic>
      <p:sp>
        <p:nvSpPr>
          <p:cNvPr id="63" name="">
            <a:extLst xmlns:a="http://schemas.openxmlformats.org/drawingml/2006/main">
              <a:ext uri="{FF2B5EF4-FFF2-40B4-BE49-F238E27FC236}">
                <a16:creationId xmlns:a16="http://schemas.microsoft.com/office/drawing/2014/main" id="{EB49046D-1910-4EC2-ACB2-EF6E47CFAA4B}"/>
              </a:ext>
            </a:extLst>
          </p:cNvPr>
          <p:cNvSpPr>
            <a:spLocks xmlns:a="http://schemas.openxmlformats.org/drawingml/2006/main" noGrp="1"/>
          </p:cNvSpPr>
          <p:nvPr/>
        </p:nvSpPr>
        <p:spPr>
          <a:xfrm xmlns:a="http://schemas.openxmlformats.org/drawingml/2006/main">
            <a:off x="990600" y="6457950"/>
            <a:ext cx="400050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A1-A2: FedCover target-time evidence</a:t>
            </a:r>
          </a:p>
        </p:txBody>
      </p:sp>
      <p:sp>
        <p:nvSpPr>
          <p:cNvPr id="64" name="">
            <a:extLst xmlns:a="http://schemas.openxmlformats.org/drawingml/2006/main">
              <a:ext uri="{FF2B5EF4-FFF2-40B4-BE49-F238E27FC236}">
                <a16:creationId xmlns:a16="http://schemas.microsoft.com/office/drawing/2014/main" id="{7144CB78-D0B2-47C2-91B6-914E642EA135}"/>
              </a:ext>
            </a:extLst>
          </p:cNvPr>
          <p:cNvSpPr>
            <a:spLocks xmlns:a="http://schemas.openxmlformats.org/drawingml/2006/main" noGrp="1"/>
          </p:cNvSpPr>
          <p:nvPr/>
        </p:nvSpPr>
        <p:spPr>
          <a:xfrm xmlns:a="http://schemas.openxmlformats.org/drawingml/2006/main">
            <a:off x="11049000" y="6457950"/>
            <a:ext cx="47625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13</a:t>
            </a:r>
          </a:p>
        </p:txBody>
      </p:sp>
    </p:spTree>
    <p:extLst>
      <p:ext uri="{BB962C8B-B14F-4D97-AF65-F5344CB8AC3E}">
        <p14:creationId xmlns:p14="http://schemas.microsoft.com/office/powerpoint/2010/main" val="1166318875"/>
      </p:ext>
    </p:extLst>
  </p:cSld>
</p:sld>
</file>

<file path=ppt/slides/slide14.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03CC9B4-7668-4325-B968-E7DCC8125EDB}"/>
              </a:ext>
            </a:extLst>
          </p:cNvPr>
          <p:cNvSpPr>
            <a:spLocks xmlns:a="http://schemas.openxmlformats.org/drawingml/2006/main" noGrp="1"/>
          </p:cNvSpPr>
          <p:nvPr/>
        </p:nvSpPr>
        <p:spPr>
          <a:xfrm xmlns:a="http://schemas.openxmlformats.org/drawingml/2006/main">
            <a:off x="0" y="0"/>
            <a:ext cx="12192000" cy="800100"/>
          </a:xfrm>
          <a:prstGeom xmlns:a="http://schemas.openxmlformats.org/drawingml/2006/main" prst="rect">
            <a:avLst/>
          </a:prstGeom>
          <a:solidFill xmlns:a="http://schemas.openxmlformats.org/drawingml/2006/main">
            <a:srgbClr val="071F4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67A446D-EEC2-4DC5-A924-A3064C77C531}"/>
              </a:ext>
            </a:extLst>
          </p:cNvPr>
          <p:cNvSpPr>
            <a:spLocks xmlns:a="http://schemas.openxmlformats.org/drawingml/2006/main" noGrp="1"/>
          </p:cNvSpPr>
          <p:nvPr/>
        </p:nvSpPr>
        <p:spPr>
          <a:xfrm xmlns:a="http://schemas.openxmlformats.org/drawingml/2006/main">
            <a:off x="723900" y="266700"/>
            <a:ext cx="4762500" cy="3619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00" b="1">
                <a:solidFill>
                  <a:srgbClr val="FFFFFF"/>
                </a:solidFill>
                <a:latin typeface="LM Roman 12"/>
                <a:ea typeface="LM Roman 12"/>
                <a:cs typeface="LM Roman 12"/>
              </a:defRPr>
            </a:pPr>
            <a:r>
              <a:rPr sz="2400" b="1">
                <a:solidFill>
                  <a:srgbClr val="FFFFFF"/>
                </a:solidFill>
                <a:latin typeface="LM Roman 12"/>
                <a:ea typeface="LM Roman 12"/>
                <a:cs typeface="LM Roman 12"/>
              </a:rPr>
              <a:t>Conclusions</a:t>
            </a:r>
          </a:p>
        </p:txBody>
      </p:sp>
      <p:sp>
        <p:nvSpPr>
          <p:cNvPr id="3" name="">
            <a:extLst xmlns:a="http://schemas.openxmlformats.org/drawingml/2006/main">
              <a:ext uri="{FF2B5EF4-FFF2-40B4-BE49-F238E27FC236}">
                <a16:creationId xmlns:a16="http://schemas.microsoft.com/office/drawing/2014/main" id="{6CC9AB85-A11B-4EFD-9CF7-D00BA4815838}"/>
              </a:ext>
            </a:extLst>
          </p:cNvPr>
          <p:cNvSpPr>
            <a:spLocks xmlns:a="http://schemas.openxmlformats.org/drawingml/2006/main" noGrp="1"/>
          </p:cNvSpPr>
          <p:nvPr/>
        </p:nvSpPr>
        <p:spPr>
          <a:xfrm xmlns:a="http://schemas.openxmlformats.org/drawingml/2006/main">
            <a:off x="857250" y="933450"/>
            <a:ext cx="10096500" cy="552450"/>
          </a:xfrm>
          <a:prstGeom xmlns:a="http://schemas.openxmlformats.org/drawingml/2006/main" prst="roundRect">
            <a:avLst>
              <a:gd name="adj" fmla="val 12069"/>
            </a:avLst>
          </a:prstGeom>
          <a:solidFill xmlns:a="http://schemas.openxmlformats.org/drawingml/2006/main">
            <a:srgbClr val="EEF7F5"/>
          </a:solidFill>
          <a:ln xmlns:a="http://schemas.openxmlformats.org/drawingml/2006/main" w="9525">
            <a:solidFill>
              <a:srgbClr val="D5DCE8"/>
            </a:solidFill>
            <a:prstDash val="solid"/>
          </a:ln>
        </p:spPr>
      </p:sp>
      <p:sp>
        <p:nvSpPr>
          <p:cNvPr id="4" name="">
            <a:extLst xmlns:a="http://schemas.openxmlformats.org/drawingml/2006/main">
              <a:ext uri="{FF2B5EF4-FFF2-40B4-BE49-F238E27FC236}">
                <a16:creationId xmlns:a16="http://schemas.microsoft.com/office/drawing/2014/main" id="{88AFC7DA-B9E4-46CA-9928-6B90155F3B96}"/>
              </a:ext>
            </a:extLst>
          </p:cNvPr>
          <p:cNvSpPr>
            <a:spLocks xmlns:a="http://schemas.openxmlformats.org/drawingml/2006/main" noGrp="1"/>
          </p:cNvSpPr>
          <p:nvPr/>
        </p:nvSpPr>
        <p:spPr>
          <a:xfrm xmlns:a="http://schemas.openxmlformats.org/drawingml/2006/main">
            <a:off x="857250" y="933450"/>
            <a:ext cx="76200" cy="552450"/>
          </a:xfrm>
          <a:prstGeom xmlns:a="http://schemas.openxmlformats.org/drawingml/2006/main" prst="roundRect">
            <a:avLst>
              <a:gd name="adj" fmla="val 50000"/>
            </a:avLst>
          </a:prstGeom>
          <a:solidFill xmlns:a="http://schemas.openxmlformats.org/drawingml/2006/main">
            <a:srgbClr val="43A896"/>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4563B180-3BD3-4364-866F-D0319562DF7E}"/>
              </a:ext>
            </a:extLst>
          </p:cNvPr>
          <p:cNvSpPr>
            <a:spLocks xmlns:a="http://schemas.openxmlformats.org/drawingml/2006/main" noGrp="1"/>
          </p:cNvSpPr>
          <p:nvPr/>
        </p:nvSpPr>
        <p:spPr>
          <a:xfrm xmlns:a="http://schemas.openxmlformats.org/drawingml/2006/main">
            <a:off x="1123950" y="1028700"/>
            <a:ext cx="9525000" cy="4000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071F46"/>
                </a:solidFill>
                <a:latin typeface="LM Roman 12"/>
                <a:ea typeface="LM Roman 12"/>
                <a:cs typeface="LM Roman 12"/>
              </a:defRPr>
            </a:pPr>
            <a:r>
              <a:rPr sz="1350" b="1">
                <a:solidFill>
                  <a:srgbClr val="071F46"/>
                </a:solidFill>
                <a:latin typeface="LM Roman 12"/>
                <a:ea typeface="LM Roman 12"/>
                <a:cs typeface="LM Roman 12"/>
              </a:rPr>
              <a:t>Heterogeneous FL must be evaluated through both model performance and deployment behaviour.</a:t>
            </a:r>
          </a:p>
        </p:txBody>
      </p:sp>
      <p:sp>
        <p:nvSpPr>
          <p:cNvPr id="6" name="">
            <a:extLst xmlns:a="http://schemas.openxmlformats.org/drawingml/2006/main">
              <a:ext uri="{FF2B5EF4-FFF2-40B4-BE49-F238E27FC236}">
                <a16:creationId xmlns:a16="http://schemas.microsoft.com/office/drawing/2014/main" id="{73DA0AA6-E1DF-4601-9951-33AFDBE2448D}"/>
              </a:ext>
            </a:extLst>
          </p:cNvPr>
          <p:cNvSpPr>
            <a:spLocks xmlns:a="http://schemas.openxmlformats.org/drawingml/2006/main" noGrp="1"/>
          </p:cNvSpPr>
          <p:nvPr/>
        </p:nvSpPr>
        <p:spPr>
          <a:xfrm xmlns:a="http://schemas.openxmlformats.org/drawingml/2006/main">
            <a:off x="876300" y="1581150"/>
            <a:ext cx="7162800" cy="952500"/>
          </a:xfrm>
          <a:prstGeom xmlns:a="http://schemas.openxmlformats.org/drawingml/2006/main" prst="roundRect">
            <a:avLst>
              <a:gd name="adj" fmla="val 7000"/>
            </a:avLst>
          </a:prstGeom>
          <a:solidFill xmlns:a="http://schemas.openxmlformats.org/drawingml/2006/main">
            <a:srgbClr val="FFFFFF"/>
          </a:solidFill>
          <a:ln xmlns:a="http://schemas.openxmlformats.org/drawingml/2006/main" w="9525">
            <a:solidFill>
              <a:srgbClr val="D5DCE8"/>
            </a:solidFill>
            <a:prstDash val="solid"/>
          </a:ln>
        </p:spPr>
      </p:sp>
      <p:sp>
        <p:nvSpPr>
          <p:cNvPr id="7" name="">
            <a:extLst xmlns:a="http://schemas.openxmlformats.org/drawingml/2006/main">
              <a:ext uri="{FF2B5EF4-FFF2-40B4-BE49-F238E27FC236}">
                <a16:creationId xmlns:a16="http://schemas.microsoft.com/office/drawing/2014/main" id="{BAE05649-BA81-4DFE-B7C6-611C648479FB}"/>
              </a:ext>
            </a:extLst>
          </p:cNvPr>
          <p:cNvSpPr>
            <a:spLocks xmlns:a="http://schemas.openxmlformats.org/drawingml/2006/main" noGrp="1"/>
          </p:cNvSpPr>
          <p:nvPr/>
        </p:nvSpPr>
        <p:spPr>
          <a:xfrm xmlns:a="http://schemas.openxmlformats.org/drawingml/2006/main">
            <a:off x="876300" y="1581150"/>
            <a:ext cx="76200" cy="952500"/>
          </a:xfrm>
          <a:prstGeom xmlns:a="http://schemas.openxmlformats.org/drawingml/2006/main" prst="roundRect">
            <a:avLst>
              <a:gd name="adj" fmla="val 50000"/>
            </a:avLst>
          </a:prstGeom>
          <a:solidFill xmlns:a="http://schemas.openxmlformats.org/drawingml/2006/main">
            <a:srgbClr val="43A896"/>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7EE3344F-B195-4BE8-897D-21493BB26239}"/>
              </a:ext>
            </a:extLst>
          </p:cNvPr>
          <p:cNvSpPr>
            <a:spLocks xmlns:a="http://schemas.openxmlformats.org/drawingml/2006/main" noGrp="1"/>
          </p:cNvSpPr>
          <p:nvPr/>
        </p:nvSpPr>
        <p:spPr>
          <a:xfrm xmlns:a="http://schemas.openxmlformats.org/drawingml/2006/main">
            <a:off x="1162050" y="1714500"/>
            <a:ext cx="2095500" cy="4000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71F46"/>
                </a:solidFill>
                <a:latin typeface="LM Roman 12"/>
                <a:ea typeface="LM Roman 12"/>
                <a:cs typeface="LM Roman 12"/>
              </a:defRPr>
            </a:pPr>
            <a:r>
              <a:rPr sz="1350" b="1">
                <a:solidFill>
                  <a:srgbClr val="071F46"/>
                </a:solidFill>
                <a:latin typeface="LM Roman 12"/>
                <a:ea typeface="LM Roman 12"/>
                <a:cs typeface="LM Roman 12"/>
              </a:rPr>
              <a:t>Deployment-aware evaluation</a:t>
            </a:r>
          </a:p>
        </p:txBody>
      </p:sp>
      <p:sp>
        <p:nvSpPr>
          <p:cNvPr id="9" name="">
            <a:extLst xmlns:a="http://schemas.openxmlformats.org/drawingml/2006/main">
              <a:ext uri="{FF2B5EF4-FFF2-40B4-BE49-F238E27FC236}">
                <a16:creationId xmlns:a16="http://schemas.microsoft.com/office/drawing/2014/main" id="{98EEEFEC-F331-49FF-82E6-BB3D9DA6FB0B}"/>
              </a:ext>
            </a:extLst>
          </p:cNvPr>
          <p:cNvSpPr>
            <a:spLocks xmlns:a="http://schemas.openxmlformats.org/drawingml/2006/main" noGrp="1"/>
          </p:cNvSpPr>
          <p:nvPr/>
        </p:nvSpPr>
        <p:spPr>
          <a:xfrm xmlns:a="http://schemas.openxmlformats.org/drawingml/2006/main">
            <a:off x="3448050" y="1714500"/>
            <a:ext cx="4514850" cy="609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0">
                <a:solidFill>
                  <a:srgbClr val="111827"/>
                </a:solidFill>
                <a:latin typeface="LM Roman 12"/>
                <a:ea typeface="LM Roman 12"/>
                <a:cs typeface="LM Roman 12"/>
              </a:defRPr>
            </a:pPr>
            <a:r>
              <a:rPr sz="1163" b="0">
                <a:solidFill>
                  <a:srgbClr val="111827"/>
                </a:solidFill>
                <a:latin typeface="LM Roman 12"/>
                <a:ea typeface="LM Roman 12"/>
                <a:cs typeface="LM Roman 12"/>
              </a:rPr>
              <a:t>Compute and straggler heterogeneity create trade-offs between wall-clock time, participation, submodel quality, and fairness.</a:t>
            </a:r>
          </a:p>
        </p:txBody>
      </p:sp>
      <p:sp>
        <p:nvSpPr>
          <p:cNvPr id="10" name="">
            <a:extLst xmlns:a="http://schemas.openxmlformats.org/drawingml/2006/main">
              <a:ext uri="{FF2B5EF4-FFF2-40B4-BE49-F238E27FC236}">
                <a16:creationId xmlns:a16="http://schemas.microsoft.com/office/drawing/2014/main" id="{914D981F-A145-487D-9F21-44AC57C86FE1}"/>
              </a:ext>
            </a:extLst>
          </p:cNvPr>
          <p:cNvSpPr>
            <a:spLocks xmlns:a="http://schemas.openxmlformats.org/drawingml/2006/main" noGrp="1"/>
          </p:cNvSpPr>
          <p:nvPr/>
        </p:nvSpPr>
        <p:spPr>
          <a:xfrm xmlns:a="http://schemas.openxmlformats.org/drawingml/2006/main">
            <a:off x="876300" y="2647950"/>
            <a:ext cx="7162800" cy="952500"/>
          </a:xfrm>
          <a:prstGeom xmlns:a="http://schemas.openxmlformats.org/drawingml/2006/main" prst="roundRect">
            <a:avLst>
              <a:gd name="adj" fmla="val 7000"/>
            </a:avLst>
          </a:prstGeom>
          <a:solidFill xmlns:a="http://schemas.openxmlformats.org/drawingml/2006/main">
            <a:srgbClr val="FFFFFF"/>
          </a:solidFill>
          <a:ln xmlns:a="http://schemas.openxmlformats.org/drawingml/2006/main" w="9525">
            <a:solidFill>
              <a:srgbClr val="D5DCE8"/>
            </a:solidFill>
            <a:prstDash val="solid"/>
          </a:ln>
        </p:spPr>
      </p:sp>
      <p:sp>
        <p:nvSpPr>
          <p:cNvPr id="11" name="">
            <a:extLst xmlns:a="http://schemas.openxmlformats.org/drawingml/2006/main">
              <a:ext uri="{FF2B5EF4-FFF2-40B4-BE49-F238E27FC236}">
                <a16:creationId xmlns:a16="http://schemas.microsoft.com/office/drawing/2014/main" id="{327D5BA1-AA83-47E0-A1A3-BC7A2EC3372D}"/>
              </a:ext>
            </a:extLst>
          </p:cNvPr>
          <p:cNvSpPr>
            <a:spLocks xmlns:a="http://schemas.openxmlformats.org/drawingml/2006/main" noGrp="1"/>
          </p:cNvSpPr>
          <p:nvPr/>
        </p:nvSpPr>
        <p:spPr>
          <a:xfrm xmlns:a="http://schemas.openxmlformats.org/drawingml/2006/main">
            <a:off x="876300" y="2647950"/>
            <a:ext cx="76200" cy="952500"/>
          </a:xfrm>
          <a:prstGeom xmlns:a="http://schemas.openxmlformats.org/drawingml/2006/main" prst="roundRect">
            <a:avLst>
              <a:gd name="adj" fmla="val 50000"/>
            </a:avLst>
          </a:prstGeom>
          <a:solidFill xmlns:a="http://schemas.openxmlformats.org/drawingml/2006/main">
            <a:srgbClr val="F3C432"/>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A943A1D7-BD6C-4408-BB3E-B33684E5FF8F}"/>
              </a:ext>
            </a:extLst>
          </p:cNvPr>
          <p:cNvSpPr>
            <a:spLocks xmlns:a="http://schemas.openxmlformats.org/drawingml/2006/main" noGrp="1"/>
          </p:cNvSpPr>
          <p:nvPr/>
        </p:nvSpPr>
        <p:spPr>
          <a:xfrm xmlns:a="http://schemas.openxmlformats.org/drawingml/2006/main">
            <a:off x="1162050" y="2781300"/>
            <a:ext cx="2095500" cy="4000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71F46"/>
                </a:solidFill>
                <a:latin typeface="LM Roman 12"/>
                <a:ea typeface="LM Roman 12"/>
                <a:cs typeface="LM Roman 12"/>
              </a:defRPr>
            </a:pPr>
            <a:r>
              <a:rPr sz="1350" b="1">
                <a:solidFill>
                  <a:srgbClr val="071F46"/>
                </a:solidFill>
                <a:latin typeface="LM Roman 12"/>
                <a:ea typeface="LM Roman 12"/>
                <a:cs typeface="LM Roman 12"/>
              </a:rPr>
              <a:t>fedctl contribution</a:t>
            </a:r>
          </a:p>
        </p:txBody>
      </p:sp>
      <p:sp>
        <p:nvSpPr>
          <p:cNvPr id="13" name="">
            <a:extLst xmlns:a="http://schemas.openxmlformats.org/drawingml/2006/main">
              <a:ext uri="{FF2B5EF4-FFF2-40B4-BE49-F238E27FC236}">
                <a16:creationId xmlns:a16="http://schemas.microsoft.com/office/drawing/2014/main" id="{4FBD189C-88DF-4C84-8238-6829FA881D65}"/>
              </a:ext>
            </a:extLst>
          </p:cNvPr>
          <p:cNvSpPr>
            <a:spLocks xmlns:a="http://schemas.openxmlformats.org/drawingml/2006/main" noGrp="1"/>
          </p:cNvSpPr>
          <p:nvPr/>
        </p:nvSpPr>
        <p:spPr>
          <a:xfrm xmlns:a="http://schemas.openxmlformats.org/drawingml/2006/main">
            <a:off x="3448050" y="2781300"/>
            <a:ext cx="4514850" cy="609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0">
                <a:solidFill>
                  <a:srgbClr val="111827"/>
                </a:solidFill>
                <a:latin typeface="LM Roman 12"/>
                <a:ea typeface="LM Roman 12"/>
                <a:cs typeface="LM Roman 12"/>
              </a:defRPr>
            </a:pPr>
            <a:r>
              <a:rPr sz="1163" b="0">
                <a:solidFill>
                  <a:srgbClr val="111827"/>
                </a:solidFill>
                <a:latin typeface="LM Roman 12"/>
                <a:ea typeface="LM Roman 12"/>
                <a:cs typeface="LM Roman 12"/>
              </a:rPr>
              <a:t>Repeatable Flower-to-Nomad runs preserve run/deploy configs, typed placement, netem profiles, logs, metrics, and artefacts.</a:t>
            </a:r>
          </a:p>
        </p:txBody>
      </p:sp>
      <p:sp>
        <p:nvSpPr>
          <p:cNvPr id="14" name="">
            <a:extLst xmlns:a="http://schemas.openxmlformats.org/drawingml/2006/main">
              <a:ext uri="{FF2B5EF4-FFF2-40B4-BE49-F238E27FC236}">
                <a16:creationId xmlns:a16="http://schemas.microsoft.com/office/drawing/2014/main" id="{2616F78F-4F26-4E65-9320-5BD0671A5E52}"/>
              </a:ext>
            </a:extLst>
          </p:cNvPr>
          <p:cNvSpPr>
            <a:spLocks xmlns:a="http://schemas.openxmlformats.org/drawingml/2006/main" noGrp="1"/>
          </p:cNvSpPr>
          <p:nvPr/>
        </p:nvSpPr>
        <p:spPr>
          <a:xfrm xmlns:a="http://schemas.openxmlformats.org/drawingml/2006/main">
            <a:off x="876300" y="3714750"/>
            <a:ext cx="7162800" cy="952500"/>
          </a:xfrm>
          <a:prstGeom xmlns:a="http://schemas.openxmlformats.org/drawingml/2006/main" prst="roundRect">
            <a:avLst>
              <a:gd name="adj" fmla="val 7000"/>
            </a:avLst>
          </a:prstGeom>
          <a:solidFill xmlns:a="http://schemas.openxmlformats.org/drawingml/2006/main">
            <a:srgbClr val="FFFFFF"/>
          </a:solidFill>
          <a:ln xmlns:a="http://schemas.openxmlformats.org/drawingml/2006/main" w="9525">
            <a:solidFill>
              <a:srgbClr val="D5DCE8"/>
            </a:solidFill>
            <a:prstDash val="solid"/>
          </a:ln>
        </p:spPr>
      </p:sp>
      <p:sp>
        <p:nvSpPr>
          <p:cNvPr id="15" name="">
            <a:extLst xmlns:a="http://schemas.openxmlformats.org/drawingml/2006/main">
              <a:ext uri="{FF2B5EF4-FFF2-40B4-BE49-F238E27FC236}">
                <a16:creationId xmlns:a16="http://schemas.microsoft.com/office/drawing/2014/main" id="{DD1895FF-CD02-4A4C-B593-FA89091DCA99}"/>
              </a:ext>
            </a:extLst>
          </p:cNvPr>
          <p:cNvSpPr>
            <a:spLocks xmlns:a="http://schemas.openxmlformats.org/drawingml/2006/main" noGrp="1"/>
          </p:cNvSpPr>
          <p:nvPr/>
        </p:nvSpPr>
        <p:spPr>
          <a:xfrm xmlns:a="http://schemas.openxmlformats.org/drawingml/2006/main">
            <a:off x="876300" y="3714750"/>
            <a:ext cx="76200" cy="952500"/>
          </a:xfrm>
          <a:prstGeom xmlns:a="http://schemas.openxmlformats.org/drawingml/2006/main" prst="roundRect">
            <a:avLst>
              <a:gd name="adj" fmla="val 50000"/>
            </a:avLst>
          </a:prstGeom>
          <a:solidFill xmlns:a="http://schemas.openxmlformats.org/drawingml/2006/main">
            <a:srgbClr val="F04A23"/>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7B770FE3-EE90-4F22-85D8-A7F2FDBAC0C3}"/>
              </a:ext>
            </a:extLst>
          </p:cNvPr>
          <p:cNvSpPr>
            <a:spLocks xmlns:a="http://schemas.openxmlformats.org/drawingml/2006/main" noGrp="1"/>
          </p:cNvSpPr>
          <p:nvPr/>
        </p:nvSpPr>
        <p:spPr>
          <a:xfrm xmlns:a="http://schemas.openxmlformats.org/drawingml/2006/main">
            <a:off x="1162050" y="3848100"/>
            <a:ext cx="2095500" cy="4000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71F46"/>
                </a:solidFill>
                <a:latin typeface="LM Roman 12"/>
                <a:ea typeface="LM Roman 12"/>
                <a:cs typeface="LM Roman 12"/>
              </a:defRPr>
            </a:pPr>
            <a:r>
              <a:rPr sz="1350" b="1">
                <a:solidFill>
                  <a:srgbClr val="071F46"/>
                </a:solidFill>
                <a:latin typeface="LM Roman 12"/>
                <a:ea typeface="LM Roman 12"/>
                <a:cs typeface="LM Roman 12"/>
              </a:rPr>
              <a:t>FedCover contribution</a:t>
            </a:r>
          </a:p>
        </p:txBody>
      </p:sp>
      <p:sp>
        <p:nvSpPr>
          <p:cNvPr id="17" name="">
            <a:extLst xmlns:a="http://schemas.openxmlformats.org/drawingml/2006/main">
              <a:ext uri="{FF2B5EF4-FFF2-40B4-BE49-F238E27FC236}">
                <a16:creationId xmlns:a16="http://schemas.microsoft.com/office/drawing/2014/main" id="{F2F299DF-A276-48F7-A14E-705824FD5E0E}"/>
              </a:ext>
            </a:extLst>
          </p:cNvPr>
          <p:cNvSpPr>
            <a:spLocks xmlns:a="http://schemas.openxmlformats.org/drawingml/2006/main" noGrp="1"/>
          </p:cNvSpPr>
          <p:nvPr/>
        </p:nvSpPr>
        <p:spPr>
          <a:xfrm xmlns:a="http://schemas.openxmlformats.org/drawingml/2006/main">
            <a:off x="3448050" y="3848100"/>
            <a:ext cx="4514850" cy="609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0">
                <a:solidFill>
                  <a:srgbClr val="111827"/>
                </a:solidFill>
                <a:latin typeface="LM Roman 12"/>
                <a:ea typeface="LM Roman 12"/>
                <a:cs typeface="LM Roman 12"/>
              </a:defRPr>
            </a:pPr>
            <a:r>
              <a:rPr sz="1163" b="0">
                <a:solidFill>
                  <a:srgbClr val="111827"/>
                </a:solidFill>
                <a:latin typeface="LM Roman 12"/>
                <a:ea typeface="LM Roman 12"/>
                <a:cs typeface="LM Roman 12"/>
              </a:rPr>
              <a:t>Async submodel FL is feasible, but stale partial replies make coverage an aggregation variable; capped inverse-coverage improves target time.</a:t>
            </a:r>
          </a:p>
        </p:txBody>
      </p:sp>
      <p:sp>
        <p:nvSpPr>
          <p:cNvPr id="18" name="">
            <a:extLst xmlns:a="http://schemas.openxmlformats.org/drawingml/2006/main">
              <a:ext uri="{FF2B5EF4-FFF2-40B4-BE49-F238E27FC236}">
                <a16:creationId xmlns:a16="http://schemas.microsoft.com/office/drawing/2014/main" id="{5C4D927E-1848-4A1A-B5BA-B3E3253024A3}"/>
              </a:ext>
            </a:extLst>
          </p:cNvPr>
          <p:cNvSpPr>
            <a:spLocks xmlns:a="http://schemas.openxmlformats.org/drawingml/2006/main" noGrp="1"/>
          </p:cNvSpPr>
          <p:nvPr/>
        </p:nvSpPr>
        <p:spPr>
          <a:xfrm xmlns:a="http://schemas.openxmlformats.org/drawingml/2006/main">
            <a:off x="8477250" y="1581150"/>
            <a:ext cx="2381250" cy="2971800"/>
          </a:xfrm>
          <a:prstGeom xmlns:a="http://schemas.openxmlformats.org/drawingml/2006/main" prst="roundRect">
            <a:avLst>
              <a:gd name="adj" fmla="val 2800"/>
            </a:avLst>
          </a:prstGeom>
          <a:solidFill xmlns:a="http://schemas.openxmlformats.org/drawingml/2006/main">
            <a:srgbClr val="F1F5F9"/>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69E2C8FB-C4A9-4DCF-8CCB-53FAD4F5F7EF}"/>
              </a:ext>
            </a:extLst>
          </p:cNvPr>
          <p:cNvSpPr>
            <a:spLocks xmlns:a="http://schemas.openxmlformats.org/drawingml/2006/main" noGrp="1"/>
          </p:cNvSpPr>
          <p:nvPr/>
        </p:nvSpPr>
        <p:spPr>
          <a:xfrm xmlns:a="http://schemas.openxmlformats.org/drawingml/2006/main">
            <a:off x="8715375" y="1809750"/>
            <a:ext cx="1905000" cy="3048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75" b="1">
                <a:solidFill>
                  <a:srgbClr val="071F46"/>
                </a:solidFill>
                <a:latin typeface="LM Roman 12"/>
                <a:ea typeface="LM Roman 12"/>
                <a:cs typeface="LM Roman 12"/>
              </a:defRPr>
            </a:pPr>
            <a:r>
              <a:rPr sz="1575" b="1">
                <a:solidFill>
                  <a:srgbClr val="071F46"/>
                </a:solidFill>
                <a:latin typeface="LM Roman 12"/>
                <a:ea typeface="LM Roman 12"/>
                <a:cs typeface="LM Roman 12"/>
              </a:rPr>
              <a:t>Future work</a:t>
            </a:r>
          </a:p>
        </p:txBody>
      </p:sp>
      <p:sp>
        <p:nvSpPr>
          <p:cNvPr id="20" name="">
            <a:extLst xmlns:a="http://schemas.openxmlformats.org/drawingml/2006/main">
              <a:ext uri="{FF2B5EF4-FFF2-40B4-BE49-F238E27FC236}">
                <a16:creationId xmlns:a16="http://schemas.microsoft.com/office/drawing/2014/main" id="{5DABFD04-00C8-48BA-8EBC-EB2F5C58AACE}"/>
              </a:ext>
            </a:extLst>
          </p:cNvPr>
          <p:cNvSpPr>
            <a:spLocks xmlns:a="http://schemas.openxmlformats.org/drawingml/2006/main" noGrp="1"/>
          </p:cNvSpPr>
          <p:nvPr/>
        </p:nvSpPr>
        <p:spPr>
          <a:xfrm xmlns:a="http://schemas.openxmlformats.org/drawingml/2006/main">
            <a:off x="8743950" y="2381250"/>
            <a:ext cx="76200" cy="76200"/>
          </a:xfrm>
          <a:prstGeom xmlns:a="http://schemas.openxmlformats.org/drawingml/2006/main" prst="roundRect">
            <a:avLst>
              <a:gd name="adj" fmla="val 50000"/>
            </a:avLst>
          </a:prstGeom>
          <a:solidFill xmlns:a="http://schemas.openxmlformats.org/drawingml/2006/main">
            <a:srgbClr val="F3C432"/>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029717D0-7F96-47CF-98DC-2D2AA16F5DEF}"/>
              </a:ext>
            </a:extLst>
          </p:cNvPr>
          <p:cNvSpPr>
            <a:spLocks xmlns:a="http://schemas.openxmlformats.org/drawingml/2006/main" noGrp="1"/>
          </p:cNvSpPr>
          <p:nvPr/>
        </p:nvSpPr>
        <p:spPr>
          <a:xfrm xmlns:a="http://schemas.openxmlformats.org/drawingml/2006/main">
            <a:off x="8953500" y="2305050"/>
            <a:ext cx="1676400" cy="428625"/>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60" b="0">
                <a:solidFill>
                  <a:srgbClr val="111827"/>
                </a:solidFill>
                <a:latin typeface="LM Roman 12"/>
                <a:ea typeface="LM Roman 12"/>
                <a:cs typeface="LM Roman 12"/>
              </a:defRPr>
            </a:pPr>
            <a:r>
              <a:rPr sz="960" b="0">
                <a:solidFill>
                  <a:srgbClr val="111827"/>
                </a:solidFill>
                <a:latin typeface="LM Roman 12"/>
                <a:ea typeface="LM Roman 12"/>
                <a:cs typeface="LM Roman 12"/>
              </a:rPr>
              <a:t>Broader workloads, devices, and runtimes.</a:t>
            </a:r>
          </a:p>
        </p:txBody>
      </p:sp>
      <p:sp>
        <p:nvSpPr>
          <p:cNvPr id="22" name="">
            <a:extLst xmlns:a="http://schemas.openxmlformats.org/drawingml/2006/main">
              <a:ext uri="{FF2B5EF4-FFF2-40B4-BE49-F238E27FC236}">
                <a16:creationId xmlns:a16="http://schemas.microsoft.com/office/drawing/2014/main" id="{CB3B0CEE-AB1C-4D05-AE71-9E3C1AB606B6}"/>
              </a:ext>
            </a:extLst>
          </p:cNvPr>
          <p:cNvSpPr>
            <a:spLocks xmlns:a="http://schemas.openxmlformats.org/drawingml/2006/main" noGrp="1"/>
          </p:cNvSpPr>
          <p:nvPr/>
        </p:nvSpPr>
        <p:spPr>
          <a:xfrm xmlns:a="http://schemas.openxmlformats.org/drawingml/2006/main">
            <a:off x="8743950" y="2828925"/>
            <a:ext cx="76200" cy="76200"/>
          </a:xfrm>
          <a:prstGeom xmlns:a="http://schemas.openxmlformats.org/drawingml/2006/main" prst="roundRect">
            <a:avLst>
              <a:gd name="adj" fmla="val 50000"/>
            </a:avLst>
          </a:prstGeom>
          <a:solidFill xmlns:a="http://schemas.openxmlformats.org/drawingml/2006/main">
            <a:srgbClr val="F3C432"/>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106EF732-FCCB-4BC4-A42D-012A5EEB9C20}"/>
              </a:ext>
            </a:extLst>
          </p:cNvPr>
          <p:cNvSpPr>
            <a:spLocks xmlns:a="http://schemas.openxmlformats.org/drawingml/2006/main" noGrp="1"/>
          </p:cNvSpPr>
          <p:nvPr/>
        </p:nvSpPr>
        <p:spPr>
          <a:xfrm xmlns:a="http://schemas.openxmlformats.org/drawingml/2006/main">
            <a:off x="8953500" y="2752725"/>
            <a:ext cx="1676400" cy="428625"/>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60" b="0">
                <a:solidFill>
                  <a:srgbClr val="111827"/>
                </a:solidFill>
                <a:latin typeface="LM Roman 12"/>
                <a:ea typeface="LM Roman 12"/>
                <a:cs typeface="LM Roman 12"/>
              </a:defRPr>
            </a:pPr>
            <a:r>
              <a:rPr sz="960" b="0">
                <a:solidFill>
                  <a:srgbClr val="111827"/>
                </a:solidFill>
                <a:latin typeface="LM Roman 12"/>
                <a:ea typeface="LM Roman 12"/>
                <a:cs typeface="LM Roman 12"/>
              </a:rPr>
              <a:t>Representation-aware async training.</a:t>
            </a:r>
          </a:p>
        </p:txBody>
      </p:sp>
      <p:sp>
        <p:nvSpPr>
          <p:cNvPr id="24" name="">
            <a:extLst xmlns:a="http://schemas.openxmlformats.org/drawingml/2006/main">
              <a:ext uri="{FF2B5EF4-FFF2-40B4-BE49-F238E27FC236}">
                <a16:creationId xmlns:a16="http://schemas.microsoft.com/office/drawing/2014/main" id="{E50DD90A-156C-4346-9128-120AF184480A}"/>
              </a:ext>
            </a:extLst>
          </p:cNvPr>
          <p:cNvSpPr>
            <a:spLocks xmlns:a="http://schemas.openxmlformats.org/drawingml/2006/main" noGrp="1"/>
          </p:cNvSpPr>
          <p:nvPr/>
        </p:nvSpPr>
        <p:spPr>
          <a:xfrm xmlns:a="http://schemas.openxmlformats.org/drawingml/2006/main">
            <a:off x="8743950" y="3276600"/>
            <a:ext cx="76200" cy="76200"/>
          </a:xfrm>
          <a:prstGeom xmlns:a="http://schemas.openxmlformats.org/drawingml/2006/main" prst="roundRect">
            <a:avLst>
              <a:gd name="adj" fmla="val 50000"/>
            </a:avLst>
          </a:prstGeom>
          <a:solidFill xmlns:a="http://schemas.openxmlformats.org/drawingml/2006/main">
            <a:srgbClr val="F3C432"/>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7CAC9FE1-B290-4D8C-8F2B-494B283EA16C}"/>
              </a:ext>
            </a:extLst>
          </p:cNvPr>
          <p:cNvSpPr>
            <a:spLocks xmlns:a="http://schemas.openxmlformats.org/drawingml/2006/main" noGrp="1"/>
          </p:cNvSpPr>
          <p:nvPr/>
        </p:nvSpPr>
        <p:spPr>
          <a:xfrm xmlns:a="http://schemas.openxmlformats.org/drawingml/2006/main">
            <a:off x="8953500" y="3200400"/>
            <a:ext cx="1676400" cy="428625"/>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60" b="0">
                <a:solidFill>
                  <a:srgbClr val="111827"/>
                </a:solidFill>
                <a:latin typeface="LM Roman 12"/>
                <a:ea typeface="LM Roman 12"/>
                <a:cs typeface="LM Roman 12"/>
              </a:defRPr>
            </a:pPr>
            <a:r>
              <a:rPr sz="960" b="0">
                <a:solidFill>
                  <a:srgbClr val="111827"/>
                </a:solidFill>
                <a:latin typeface="LM Roman 12"/>
                <a:ea typeface="LM Roman 12"/>
                <a:cs typeface="LM Roman 12"/>
              </a:rPr>
              <a:t>Hardware-aware sparse submodel execution.</a:t>
            </a:r>
          </a:p>
        </p:txBody>
      </p:sp>
      <p:sp>
        <p:nvSpPr>
          <p:cNvPr id="26" name="">
            <a:extLst xmlns:a="http://schemas.openxmlformats.org/drawingml/2006/main">
              <a:ext uri="{FF2B5EF4-FFF2-40B4-BE49-F238E27FC236}">
                <a16:creationId xmlns:a16="http://schemas.microsoft.com/office/drawing/2014/main" id="{65A98473-0582-420E-8843-115E3E76633E}"/>
              </a:ext>
            </a:extLst>
          </p:cNvPr>
          <p:cNvSpPr>
            <a:spLocks xmlns:a="http://schemas.openxmlformats.org/drawingml/2006/main" noGrp="1"/>
          </p:cNvSpPr>
          <p:nvPr/>
        </p:nvSpPr>
        <p:spPr>
          <a:xfrm xmlns:a="http://schemas.openxmlformats.org/drawingml/2006/main">
            <a:off x="8743950" y="3724275"/>
            <a:ext cx="76200" cy="76200"/>
          </a:xfrm>
          <a:prstGeom xmlns:a="http://schemas.openxmlformats.org/drawingml/2006/main" prst="roundRect">
            <a:avLst>
              <a:gd name="adj" fmla="val 50000"/>
            </a:avLst>
          </a:prstGeom>
          <a:solidFill xmlns:a="http://schemas.openxmlformats.org/drawingml/2006/main">
            <a:srgbClr val="F3C432"/>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769A7AA0-C714-4B4C-9C6B-3CE682C1567A}"/>
              </a:ext>
            </a:extLst>
          </p:cNvPr>
          <p:cNvSpPr>
            <a:spLocks xmlns:a="http://schemas.openxmlformats.org/drawingml/2006/main" noGrp="1"/>
          </p:cNvSpPr>
          <p:nvPr/>
        </p:nvSpPr>
        <p:spPr>
          <a:xfrm xmlns:a="http://schemas.openxmlformats.org/drawingml/2006/main">
            <a:off x="8953500" y="3648075"/>
            <a:ext cx="1676400" cy="428625"/>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60" b="0">
                <a:solidFill>
                  <a:srgbClr val="111827"/>
                </a:solidFill>
                <a:latin typeface="LM Roman 12"/>
                <a:ea typeface="LM Roman 12"/>
                <a:cs typeface="LM Roman 12"/>
              </a:defRPr>
            </a:pPr>
            <a:r>
              <a:rPr sz="960" b="0">
                <a:solidFill>
                  <a:srgbClr val="111827"/>
                </a:solidFill>
                <a:latin typeface="LM Roman 12"/>
                <a:ea typeface="LM Roman 12"/>
                <a:cs typeface="LM Roman 12"/>
              </a:rPr>
              <a:t>Trace-driven straggler evaluation.</a:t>
            </a:r>
          </a:p>
        </p:txBody>
      </p:sp>
      <p:sp>
        <p:nvSpPr>
          <p:cNvPr id="28" name="">
            <a:extLst xmlns:a="http://schemas.openxmlformats.org/drawingml/2006/main">
              <a:ext uri="{FF2B5EF4-FFF2-40B4-BE49-F238E27FC236}">
                <a16:creationId xmlns:a16="http://schemas.microsoft.com/office/drawing/2014/main" id="{DFB0272A-2ECC-4626-ADBC-D31B9188C11A}"/>
              </a:ext>
            </a:extLst>
          </p:cNvPr>
          <p:cNvSpPr>
            <a:spLocks xmlns:a="http://schemas.openxmlformats.org/drawingml/2006/main" noGrp="1"/>
          </p:cNvSpPr>
          <p:nvPr/>
        </p:nvSpPr>
        <p:spPr>
          <a:xfrm xmlns:a="http://schemas.openxmlformats.org/drawingml/2006/main">
            <a:off x="666750" y="5219700"/>
            <a:ext cx="10858500" cy="9525"/>
          </a:xfrm>
          <a:prstGeom xmlns:a="http://schemas.openxmlformats.org/drawingml/2006/main" prst="rect">
            <a:avLst/>
          </a:prstGeom>
          <a:solidFill xmlns:a="http://schemas.openxmlformats.org/drawingml/2006/main">
            <a:srgbClr val="E6EBF3"/>
          </a:solidFill>
          <a:ln xmlns:a="http://schemas.openxmlformats.org/drawingml/2006/main" w="0">
            <a:solidFill>
              <a:srgbClr val="000000">
                <a:alpha val="0"/>
              </a:srgbClr>
            </a:solidFill>
            <a:prstDash val="solid"/>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765d28b7fb4e4a2f"/>
          <a:stretch xmlns:a="http://schemas.openxmlformats.org/drawingml/2006/main"/>
        </p:blipFill>
        <p:spPr>
          <a:xfrm xmlns:a="http://schemas.openxmlformats.org/drawingml/2006/main">
            <a:off x="2637445" y="5486400"/>
            <a:ext cx="554410" cy="647700"/>
          </a:xfrm>
          <a:prstGeom xmlns:a="http://schemas.openxmlformats.org/drawingml/2006/main" prst="rect">
            <a:avLst/>
          </a:prstGeom>
        </p:spPr>
      </p:pic>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99ba46fbcde14d58"/>
          <a:stretch xmlns:a="http://schemas.openxmlformats.org/drawingml/2006/main"/>
        </p:blipFill>
        <p:spPr>
          <a:xfrm xmlns:a="http://schemas.openxmlformats.org/drawingml/2006/main">
            <a:off x="4343171" y="5486400"/>
            <a:ext cx="762458" cy="647700"/>
          </a:xfrm>
          <a:prstGeom xmlns:a="http://schemas.openxmlformats.org/drawingml/2006/main" prst="rect">
            <a:avLst/>
          </a:prstGeom>
        </p:spPr>
      </p:pic>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6dcbf5b9418e4c84"/>
          <a:stretch xmlns:a="http://schemas.openxmlformats.org/drawingml/2006/main"/>
        </p:blipFill>
        <p:spPr>
          <a:xfrm xmlns:a="http://schemas.openxmlformats.org/drawingml/2006/main">
            <a:off x="6166498" y="5486400"/>
            <a:ext cx="735305" cy="647700"/>
          </a:xfrm>
          <a:prstGeom xmlns:a="http://schemas.openxmlformats.org/drawingml/2006/main" prst="rect">
            <a:avLst/>
          </a:prstGeom>
        </p:spPr>
      </p:pic>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3216348d27924ec8"/>
          <a:stretch xmlns:a="http://schemas.openxmlformats.org/drawingml/2006/main"/>
        </p:blipFill>
        <p:spPr>
          <a:xfrm xmlns:a="http://schemas.openxmlformats.org/drawingml/2006/main">
            <a:off x="8020369" y="5486400"/>
            <a:ext cx="647063" cy="647700"/>
          </a:xfrm>
          <a:prstGeom xmlns:a="http://schemas.openxmlformats.org/drawingml/2006/main" prst="rect">
            <a:avLst/>
          </a:prstGeom>
        </p:spPr>
      </p:pic>
    </p:spTree>
    <p:extLst>
      <p:ext uri="{BB962C8B-B14F-4D97-AF65-F5344CB8AC3E}">
        <p14:creationId xmlns:p14="http://schemas.microsoft.com/office/powerpoint/2010/main" val="1199591271"/>
      </p:ext>
    </p:extLst>
  </p:cSld>
</p:sld>
</file>

<file path=ppt/slides/slide15.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4F45DA0-2217-440F-A527-11EFE0443C69}"/>
              </a:ext>
            </a:extLst>
          </p:cNvPr>
          <p:cNvSpPr>
            <a:spLocks xmlns:a="http://schemas.openxmlformats.org/drawingml/2006/main" noGrp="1"/>
          </p:cNvSpPr>
          <p:nvPr/>
        </p:nvSpPr>
        <p:spPr>
          <a:xfrm xmlns:a="http://schemas.openxmlformats.org/drawingml/2006/main">
            <a:off x="0" y="0"/>
            <a:ext cx="12192000" cy="1047750"/>
          </a:xfrm>
          <a:prstGeom xmlns:a="http://schemas.openxmlformats.org/drawingml/2006/main" prst="rect">
            <a:avLst/>
          </a:prstGeom>
          <a:solidFill xmlns:a="http://schemas.openxmlformats.org/drawingml/2006/main">
            <a:srgbClr val="071F4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9D74C68-2E08-4751-ADBE-C8525EB90F88}"/>
              </a:ext>
            </a:extLst>
          </p:cNvPr>
          <p:cNvSpPr>
            <a:spLocks xmlns:a="http://schemas.openxmlformats.org/drawingml/2006/main" noGrp="1"/>
          </p:cNvSpPr>
          <p:nvPr/>
        </p:nvSpPr>
        <p:spPr>
          <a:xfrm xmlns:a="http://schemas.openxmlformats.org/drawingml/2006/main">
            <a:off x="0" y="1047750"/>
            <a:ext cx="12192000" cy="76200"/>
          </a:xfrm>
          <a:prstGeom xmlns:a="http://schemas.openxmlformats.org/drawingml/2006/main" prst="rect">
            <a:avLst/>
          </a:prstGeom>
          <a:solidFill xmlns:a="http://schemas.openxmlformats.org/drawingml/2006/main">
            <a:srgbClr val="F3C432"/>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04DE4F65-FE5A-41DD-B71B-2E32F3AF22F0}"/>
              </a:ext>
            </a:extLst>
          </p:cNvPr>
          <p:cNvSpPr>
            <a:spLocks xmlns:a="http://schemas.openxmlformats.org/drawingml/2006/main" noGrp="1"/>
          </p:cNvSpPr>
          <p:nvPr/>
        </p:nvSpPr>
        <p:spPr>
          <a:xfrm xmlns:a="http://schemas.openxmlformats.org/drawingml/2006/main">
            <a:off x="781050" y="1619250"/>
            <a:ext cx="4762500" cy="5334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071F46"/>
                </a:solidFill>
                <a:latin typeface="LM Roman 12"/>
                <a:ea typeface="LM Roman 12"/>
                <a:cs typeface="LM Roman 12"/>
              </a:defRPr>
            </a:pPr>
            <a:r>
              <a:rPr sz="3150" b="1">
                <a:solidFill>
                  <a:srgbClr val="071F46"/>
                </a:solidFill>
                <a:latin typeface="LM Roman 12"/>
                <a:ea typeface="LM Roman 12"/>
                <a:cs typeface="LM Roman 12"/>
              </a:rPr>
              <a:t>Appendix</a:t>
            </a:r>
          </a:p>
        </p:txBody>
      </p:sp>
      <p:sp>
        <p:nvSpPr>
          <p:cNvPr id="4" name="">
            <a:extLst xmlns:a="http://schemas.openxmlformats.org/drawingml/2006/main">
              <a:ext uri="{FF2B5EF4-FFF2-40B4-BE49-F238E27FC236}">
                <a16:creationId xmlns:a16="http://schemas.microsoft.com/office/drawing/2014/main" id="{821A0391-4F9A-4B99-AF85-05CE7D8745AD}"/>
              </a:ext>
            </a:extLst>
          </p:cNvPr>
          <p:cNvSpPr>
            <a:spLocks xmlns:a="http://schemas.openxmlformats.org/drawingml/2006/main" noGrp="1"/>
          </p:cNvSpPr>
          <p:nvPr/>
        </p:nvSpPr>
        <p:spPr>
          <a:xfrm xmlns:a="http://schemas.openxmlformats.org/drawingml/2006/main">
            <a:off x="800100" y="2266950"/>
            <a:ext cx="5334000" cy="3238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5B6472"/>
                </a:solidFill>
                <a:latin typeface="LM Roman 12"/>
                <a:ea typeface="LM Roman 12"/>
                <a:cs typeface="LM Roman 12"/>
              </a:defRPr>
            </a:pPr>
            <a:r>
              <a:rPr sz="1800" b="0">
                <a:solidFill>
                  <a:srgbClr val="5B6472"/>
                </a:solidFill>
                <a:latin typeface="LM Roman 12"/>
                <a:ea typeface="LM Roman 12"/>
                <a:cs typeface="LM Roman 12"/>
              </a:rPr>
              <a:t>Backup evidence for Q&amp;A</a:t>
            </a:r>
          </a:p>
        </p:txBody>
      </p:sp>
      <p:sp>
        <p:nvSpPr>
          <p:cNvPr id="5" name="">
            <a:extLst xmlns:a="http://schemas.openxmlformats.org/drawingml/2006/main">
              <a:ext uri="{FF2B5EF4-FFF2-40B4-BE49-F238E27FC236}">
                <a16:creationId xmlns:a16="http://schemas.microsoft.com/office/drawing/2014/main" id="{0084B724-5368-4226-ADA8-8F5D58D54550}"/>
              </a:ext>
            </a:extLst>
          </p:cNvPr>
          <p:cNvSpPr>
            <a:spLocks xmlns:a="http://schemas.openxmlformats.org/drawingml/2006/main" noGrp="1"/>
          </p:cNvSpPr>
          <p:nvPr/>
        </p:nvSpPr>
        <p:spPr>
          <a:xfrm xmlns:a="http://schemas.openxmlformats.org/drawingml/2006/main">
            <a:off x="952500" y="3219450"/>
            <a:ext cx="76200" cy="76200"/>
          </a:xfrm>
          <a:prstGeom xmlns:a="http://schemas.openxmlformats.org/drawingml/2006/main" prst="roundRect">
            <a:avLst>
              <a:gd name="adj" fmla="val 50000"/>
            </a:avLst>
          </a:prstGeom>
          <a:solidFill xmlns:a="http://schemas.openxmlformats.org/drawingml/2006/main">
            <a:srgbClr val="F3C432"/>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6AC37C20-1D22-43FC-8E03-D4E084AA5817}"/>
              </a:ext>
            </a:extLst>
          </p:cNvPr>
          <p:cNvSpPr>
            <a:spLocks xmlns:a="http://schemas.openxmlformats.org/drawingml/2006/main" noGrp="1"/>
          </p:cNvSpPr>
          <p:nvPr/>
        </p:nvSpPr>
        <p:spPr>
          <a:xfrm xmlns:a="http://schemas.openxmlformats.org/drawingml/2006/main">
            <a:off x="1162050" y="3143250"/>
            <a:ext cx="7696200" cy="5143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827"/>
                </a:solidFill>
                <a:latin typeface="LM Roman 12"/>
                <a:ea typeface="LM Roman 12"/>
                <a:cs typeface="LM Roman 12"/>
              </a:defRPr>
            </a:pPr>
            <a:r>
              <a:rPr sz="1575" b="0">
                <a:solidFill>
                  <a:srgbClr val="111827"/>
                </a:solidFill>
                <a:latin typeface="LM Roman 12"/>
                <a:ea typeface="LM Roman 12"/>
                <a:cs typeface="LM Roman 12"/>
              </a:rPr>
              <a:t>fedctl queue, configuration, placement, and network-control diagrams.</a:t>
            </a:r>
          </a:p>
        </p:txBody>
      </p:sp>
      <p:sp>
        <p:nvSpPr>
          <p:cNvPr id="7" name="">
            <a:extLst xmlns:a="http://schemas.openxmlformats.org/drawingml/2006/main">
              <a:ext uri="{FF2B5EF4-FFF2-40B4-BE49-F238E27FC236}">
                <a16:creationId xmlns:a16="http://schemas.microsoft.com/office/drawing/2014/main" id="{1F80779B-710D-4558-BC4E-E611C9316147}"/>
              </a:ext>
            </a:extLst>
          </p:cNvPr>
          <p:cNvSpPr>
            <a:spLocks xmlns:a="http://schemas.openxmlformats.org/drawingml/2006/main" noGrp="1"/>
          </p:cNvSpPr>
          <p:nvPr/>
        </p:nvSpPr>
        <p:spPr>
          <a:xfrm xmlns:a="http://schemas.openxmlformats.org/drawingml/2006/main">
            <a:off x="952500" y="3752850"/>
            <a:ext cx="76200" cy="76200"/>
          </a:xfrm>
          <a:prstGeom xmlns:a="http://schemas.openxmlformats.org/drawingml/2006/main" prst="roundRect">
            <a:avLst>
              <a:gd name="adj" fmla="val 50000"/>
            </a:avLst>
          </a:prstGeom>
          <a:solidFill xmlns:a="http://schemas.openxmlformats.org/drawingml/2006/main">
            <a:srgbClr val="F3C432"/>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8142BB2A-2977-421F-8BBE-D9F10C639DF7}"/>
              </a:ext>
            </a:extLst>
          </p:cNvPr>
          <p:cNvSpPr>
            <a:spLocks xmlns:a="http://schemas.openxmlformats.org/drawingml/2006/main" noGrp="1"/>
          </p:cNvSpPr>
          <p:nvPr/>
        </p:nvSpPr>
        <p:spPr>
          <a:xfrm xmlns:a="http://schemas.openxmlformats.org/drawingml/2006/main">
            <a:off x="1162050" y="3676650"/>
            <a:ext cx="7696200" cy="5143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827"/>
                </a:solidFill>
                <a:latin typeface="LM Roman 12"/>
                <a:ea typeface="LM Roman 12"/>
                <a:cs typeface="LM Roman 12"/>
              </a:defRPr>
            </a:pPr>
            <a:r>
              <a:rPr sz="1575" b="0">
                <a:solidFill>
                  <a:srgbClr val="111827"/>
                </a:solidFill>
                <a:latin typeface="LM Roman 12"/>
                <a:ea typeface="LM Roman 12"/>
                <a:cs typeface="LM Roman 12"/>
              </a:rPr>
              <a:t>Full compute diagnostics for local submodels and client timing.</a:t>
            </a:r>
          </a:p>
        </p:txBody>
      </p:sp>
      <p:sp>
        <p:nvSpPr>
          <p:cNvPr id="9" name="">
            <a:extLst xmlns:a="http://schemas.openxmlformats.org/drawingml/2006/main">
              <a:ext uri="{FF2B5EF4-FFF2-40B4-BE49-F238E27FC236}">
                <a16:creationId xmlns:a16="http://schemas.microsoft.com/office/drawing/2014/main" id="{95458EA6-8BFD-40EA-A7AF-97E746B1F988}"/>
              </a:ext>
            </a:extLst>
          </p:cNvPr>
          <p:cNvSpPr>
            <a:spLocks xmlns:a="http://schemas.openxmlformats.org/drawingml/2006/main" noGrp="1"/>
          </p:cNvSpPr>
          <p:nvPr/>
        </p:nvSpPr>
        <p:spPr>
          <a:xfrm xmlns:a="http://schemas.openxmlformats.org/drawingml/2006/main">
            <a:off x="952500" y="4286250"/>
            <a:ext cx="76200" cy="76200"/>
          </a:xfrm>
          <a:prstGeom xmlns:a="http://schemas.openxmlformats.org/drawingml/2006/main" prst="roundRect">
            <a:avLst>
              <a:gd name="adj" fmla="val 50000"/>
            </a:avLst>
          </a:prstGeom>
          <a:solidFill xmlns:a="http://schemas.openxmlformats.org/drawingml/2006/main">
            <a:srgbClr val="F3C432"/>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E5F08E9C-36F9-4D58-A5A0-B33552B92C8A}"/>
              </a:ext>
            </a:extLst>
          </p:cNvPr>
          <p:cNvSpPr>
            <a:spLocks xmlns:a="http://schemas.openxmlformats.org/drawingml/2006/main" noGrp="1"/>
          </p:cNvSpPr>
          <p:nvPr/>
        </p:nvSpPr>
        <p:spPr>
          <a:xfrm xmlns:a="http://schemas.openxmlformats.org/drawingml/2006/main">
            <a:off x="1162050" y="4210050"/>
            <a:ext cx="7696200" cy="5143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827"/>
                </a:solidFill>
                <a:latin typeface="LM Roman 12"/>
                <a:ea typeface="LM Roman 12"/>
                <a:cs typeface="LM Roman 12"/>
              </a:defRPr>
            </a:pPr>
            <a:r>
              <a:rPr sz="1575" b="0">
                <a:solidFill>
                  <a:srgbClr val="111827"/>
                </a:solidFill>
                <a:latin typeface="LM Roman 12"/>
                <a:ea typeface="LM Roman 12"/>
                <a:cs typeface="LM Roman 12"/>
              </a:rPr>
              <a:t>Async staleness, update-share, device-correlated skew, and FedCover gamma evidence.</a:t>
            </a:r>
          </a:p>
        </p:txBody>
      </p:sp>
      <p:sp>
        <p:nvSpPr>
          <p:cNvPr id="11" name="">
            <a:extLst xmlns:a="http://schemas.openxmlformats.org/drawingml/2006/main">
              <a:ext uri="{FF2B5EF4-FFF2-40B4-BE49-F238E27FC236}">
                <a16:creationId xmlns:a16="http://schemas.microsoft.com/office/drawing/2014/main" id="{7EB4C57C-40D2-48F7-A6D8-DE902FBF66D0}"/>
              </a:ext>
            </a:extLst>
          </p:cNvPr>
          <p:cNvSpPr>
            <a:spLocks xmlns:a="http://schemas.openxmlformats.org/drawingml/2006/main" noGrp="1"/>
          </p:cNvSpPr>
          <p:nvPr/>
        </p:nvSpPr>
        <p:spPr>
          <a:xfrm xmlns:a="http://schemas.openxmlformats.org/drawingml/2006/main">
            <a:off x="666750" y="6296025"/>
            <a:ext cx="10858500" cy="9525"/>
          </a:xfrm>
          <a:prstGeom xmlns:a="http://schemas.openxmlformats.org/drawingml/2006/main" prst="rect">
            <a:avLst/>
          </a:prstGeom>
          <a:solidFill xmlns:a="http://schemas.openxmlformats.org/drawingml/2006/main">
            <a:srgbClr val="E6EBF3"/>
          </a:solidFill>
          <a:ln xmlns:a="http://schemas.openxmlformats.org/drawingml/2006/main" w="0">
            <a:solidFill>
              <a:srgbClr val="000000">
                <a:alpha val="0"/>
              </a:srgbClr>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6aaf309525004aa9"/>
          <a:stretch xmlns:a="http://schemas.openxmlformats.org/drawingml/2006/main"/>
        </p:blipFill>
        <p:spPr>
          <a:xfrm xmlns:a="http://schemas.openxmlformats.org/drawingml/2006/main">
            <a:off x="666977" y="6429375"/>
            <a:ext cx="269103" cy="2286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993EC48C-E5F3-4413-BE96-25657B188308}"/>
              </a:ext>
            </a:extLst>
          </p:cNvPr>
          <p:cNvSpPr>
            <a:spLocks xmlns:a="http://schemas.openxmlformats.org/drawingml/2006/main" noGrp="1"/>
          </p:cNvSpPr>
          <p:nvPr/>
        </p:nvSpPr>
        <p:spPr>
          <a:xfrm xmlns:a="http://schemas.openxmlformats.org/drawingml/2006/main">
            <a:off x="990600" y="6457950"/>
            <a:ext cx="400050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appendix</a:t>
            </a:r>
          </a:p>
        </p:txBody>
      </p:sp>
      <p:sp>
        <p:nvSpPr>
          <p:cNvPr id="14" name="">
            <a:extLst xmlns:a="http://schemas.openxmlformats.org/drawingml/2006/main">
              <a:ext uri="{FF2B5EF4-FFF2-40B4-BE49-F238E27FC236}">
                <a16:creationId xmlns:a16="http://schemas.microsoft.com/office/drawing/2014/main" id="{6C45196E-668F-4C4A-8C05-CD7926716802}"/>
              </a:ext>
            </a:extLst>
          </p:cNvPr>
          <p:cNvSpPr>
            <a:spLocks xmlns:a="http://schemas.openxmlformats.org/drawingml/2006/main" noGrp="1"/>
          </p:cNvSpPr>
          <p:nvPr/>
        </p:nvSpPr>
        <p:spPr>
          <a:xfrm xmlns:a="http://schemas.openxmlformats.org/drawingml/2006/main">
            <a:off x="11049000" y="6457950"/>
            <a:ext cx="47625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15</a:t>
            </a:r>
          </a:p>
        </p:txBody>
      </p:sp>
    </p:spTree>
    <p:extLst>
      <p:ext uri="{BB962C8B-B14F-4D97-AF65-F5344CB8AC3E}">
        <p14:creationId xmlns:p14="http://schemas.microsoft.com/office/powerpoint/2010/main" val="2075388402"/>
      </p:ext>
    </p:extLst>
  </p:cSld>
</p:sld>
</file>

<file path=ppt/slides/slide16.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35A013D-880B-4CA2-868F-F6328D2DE1B3}"/>
              </a:ext>
            </a:extLst>
          </p:cNvPr>
          <p:cNvSpPr>
            <a:spLocks xmlns:a="http://schemas.openxmlformats.org/drawingml/2006/main" noGrp="1"/>
          </p:cNvSpPr>
          <p:nvPr/>
        </p:nvSpPr>
        <p:spPr>
          <a:xfrm xmlns:a="http://schemas.openxmlformats.org/drawingml/2006/main">
            <a:off x="666750" y="342900"/>
            <a:ext cx="4953000" cy="1905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43A896"/>
                </a:solidFill>
                <a:latin typeface="LM Roman 12"/>
                <a:ea typeface="LM Roman 12"/>
                <a:cs typeface="LM Roman 12"/>
              </a:defRPr>
            </a:pPr>
            <a:r>
              <a:rPr sz="975" b="1">
                <a:solidFill>
                  <a:srgbClr val="43A896"/>
                </a:solidFill>
                <a:latin typeface="LM Roman 12"/>
                <a:ea typeface="LM Roman 12"/>
                <a:cs typeface="LM Roman 12"/>
              </a:rPr>
              <a:t>TESTBED AND CONTROLS</a:t>
            </a:r>
          </a:p>
        </p:txBody>
      </p:sp>
      <p:sp>
        <p:nvSpPr>
          <p:cNvPr id="2" name="">
            <a:extLst xmlns:a="http://schemas.openxmlformats.org/drawingml/2006/main">
              <a:ext uri="{FF2B5EF4-FFF2-40B4-BE49-F238E27FC236}">
                <a16:creationId xmlns:a16="http://schemas.microsoft.com/office/drawing/2014/main" id="{C0218DAF-9C51-435C-8A49-3466C9670351}"/>
              </a:ext>
            </a:extLst>
          </p:cNvPr>
          <p:cNvSpPr>
            <a:spLocks xmlns:a="http://schemas.openxmlformats.org/drawingml/2006/main" noGrp="1"/>
          </p:cNvSpPr>
          <p:nvPr/>
        </p:nvSpPr>
        <p:spPr>
          <a:xfrm xmlns:a="http://schemas.openxmlformats.org/drawingml/2006/main">
            <a:off x="666750" y="590550"/>
            <a:ext cx="9239250" cy="6477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71F46"/>
                </a:solidFill>
                <a:latin typeface="LM Roman 12"/>
                <a:ea typeface="LM Roman 12"/>
                <a:cs typeface="LM Roman 12"/>
              </a:defRPr>
            </a:pPr>
            <a:r>
              <a:rPr sz="2250" b="1">
                <a:solidFill>
                  <a:srgbClr val="071F46"/>
                </a:solidFill>
                <a:latin typeface="LM Roman 12"/>
                <a:ea typeface="LM Roman 12"/>
                <a:cs typeface="LM Roman 12"/>
              </a:rPr>
              <a:t>Deployment conditions are first-class variables</a:t>
            </a:r>
          </a:p>
        </p:txBody>
      </p:sp>
      <p:sp>
        <p:nvSpPr>
          <p:cNvPr id="3" name="">
            <a:extLst xmlns:a="http://schemas.openxmlformats.org/drawingml/2006/main">
              <a:ext uri="{FF2B5EF4-FFF2-40B4-BE49-F238E27FC236}">
                <a16:creationId xmlns:a16="http://schemas.microsoft.com/office/drawing/2014/main" id="{F5A48C82-380B-4B51-815D-C22ADFF078DA}"/>
              </a:ext>
            </a:extLst>
          </p:cNvPr>
          <p:cNvSpPr>
            <a:spLocks xmlns:a="http://schemas.openxmlformats.org/drawingml/2006/main" noGrp="1"/>
          </p:cNvSpPr>
          <p:nvPr/>
        </p:nvSpPr>
        <p:spPr>
          <a:xfrm xmlns:a="http://schemas.openxmlformats.org/drawingml/2006/main">
            <a:off x="666750" y="1005840"/>
            <a:ext cx="1143000" cy="47625"/>
          </a:xfrm>
          <a:prstGeom xmlns:a="http://schemas.openxmlformats.org/drawingml/2006/main" prst="rect">
            <a:avLst/>
          </a:prstGeom>
          <a:solidFill xmlns:a="http://schemas.openxmlformats.org/drawingml/2006/main">
            <a:srgbClr val="F3C43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ED5B7D9A-703C-4F90-A5D6-E14B095CA4C0}"/>
              </a:ext>
            </a:extLst>
          </p:cNvPr>
          <p:cNvSpPr>
            <a:spLocks xmlns:a="http://schemas.openxmlformats.org/drawingml/2006/main" noGrp="1"/>
          </p:cNvSpPr>
          <p:nvPr/>
        </p:nvSpPr>
        <p:spPr>
          <a:xfrm xmlns:a="http://schemas.openxmlformats.org/drawingml/2006/main">
            <a:off x="762000" y="1600200"/>
            <a:ext cx="2571750" cy="1104900"/>
          </a:xfrm>
          <a:prstGeom xmlns:a="http://schemas.openxmlformats.org/drawingml/2006/main" prst="roundRect">
            <a:avLst>
              <a:gd name="adj" fmla="val 6034"/>
            </a:avLst>
          </a:prstGeom>
          <a:solidFill xmlns:a="http://schemas.openxmlformats.org/drawingml/2006/main">
            <a:srgbClr val="FFFFFF"/>
          </a:solidFill>
          <a:ln xmlns:a="http://schemas.openxmlformats.org/drawingml/2006/main" w="9525">
            <a:solidFill>
              <a:srgbClr val="D5DCE8"/>
            </a:solidFill>
            <a:prstDash val="solid"/>
          </a:ln>
        </p:spPr>
      </p:sp>
      <p:sp>
        <p:nvSpPr>
          <p:cNvPr id="5" name="">
            <a:extLst xmlns:a="http://schemas.openxmlformats.org/drawingml/2006/main">
              <a:ext uri="{FF2B5EF4-FFF2-40B4-BE49-F238E27FC236}">
                <a16:creationId xmlns:a16="http://schemas.microsoft.com/office/drawing/2014/main" id="{EB24B6F0-D005-403C-90C1-571E8303B944}"/>
              </a:ext>
            </a:extLst>
          </p:cNvPr>
          <p:cNvSpPr>
            <a:spLocks xmlns:a="http://schemas.openxmlformats.org/drawingml/2006/main" noGrp="1"/>
          </p:cNvSpPr>
          <p:nvPr/>
        </p:nvSpPr>
        <p:spPr>
          <a:xfrm xmlns:a="http://schemas.openxmlformats.org/drawingml/2006/main">
            <a:off x="762000" y="1600200"/>
            <a:ext cx="76200" cy="110490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7E9F51F5-C7A4-43E6-9710-738F993406B5}"/>
              </a:ext>
            </a:extLst>
          </p:cNvPr>
          <p:cNvSpPr>
            <a:spLocks xmlns:a="http://schemas.openxmlformats.org/drawingml/2006/main" noGrp="1"/>
          </p:cNvSpPr>
          <p:nvPr/>
        </p:nvSpPr>
        <p:spPr>
          <a:xfrm xmlns:a="http://schemas.openxmlformats.org/drawingml/2006/main">
            <a:off x="971550" y="1733550"/>
            <a:ext cx="2228850" cy="3619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071F46"/>
                </a:solidFill>
                <a:latin typeface="LM Roman 12"/>
                <a:ea typeface="LM Roman 12"/>
                <a:cs typeface="LM Roman 12"/>
              </a:defRPr>
            </a:pPr>
            <a:r>
              <a:rPr sz="2175" b="1">
                <a:solidFill>
                  <a:srgbClr val="071F46"/>
                </a:solidFill>
                <a:latin typeface="LM Roman 12"/>
                <a:ea typeface="LM Roman 12"/>
                <a:cs typeface="LM Roman 12"/>
              </a:rPr>
              <a:t>30 x rpi4</a:t>
            </a:r>
          </a:p>
        </p:txBody>
      </p:sp>
      <p:sp>
        <p:nvSpPr>
          <p:cNvPr id="7" name="">
            <a:extLst xmlns:a="http://schemas.openxmlformats.org/drawingml/2006/main">
              <a:ext uri="{FF2B5EF4-FFF2-40B4-BE49-F238E27FC236}">
                <a16:creationId xmlns:a16="http://schemas.microsoft.com/office/drawing/2014/main" id="{204094BA-B181-422C-B618-3FF70F264471}"/>
              </a:ext>
            </a:extLst>
          </p:cNvPr>
          <p:cNvSpPr>
            <a:spLocks xmlns:a="http://schemas.openxmlformats.org/drawingml/2006/main" noGrp="1"/>
          </p:cNvSpPr>
          <p:nvPr/>
        </p:nvSpPr>
        <p:spPr>
          <a:xfrm xmlns:a="http://schemas.openxmlformats.org/drawingml/2006/main">
            <a:off x="971550" y="2152650"/>
            <a:ext cx="2228850" cy="4000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slower worker pool; used as the weak-device class</a:t>
            </a:r>
          </a:p>
        </p:txBody>
      </p:sp>
      <p:sp>
        <p:nvSpPr>
          <p:cNvPr id="8" name="">
            <a:extLst xmlns:a="http://schemas.openxmlformats.org/drawingml/2006/main">
              <a:ext uri="{FF2B5EF4-FFF2-40B4-BE49-F238E27FC236}">
                <a16:creationId xmlns:a16="http://schemas.microsoft.com/office/drawing/2014/main" id="{673C1F27-6DEE-45E3-ABE6-54405ADB83C5}"/>
              </a:ext>
            </a:extLst>
          </p:cNvPr>
          <p:cNvSpPr>
            <a:spLocks xmlns:a="http://schemas.openxmlformats.org/drawingml/2006/main" noGrp="1"/>
          </p:cNvSpPr>
          <p:nvPr/>
        </p:nvSpPr>
        <p:spPr>
          <a:xfrm xmlns:a="http://schemas.openxmlformats.org/drawingml/2006/main">
            <a:off x="762000" y="2781300"/>
            <a:ext cx="2571750" cy="1104900"/>
          </a:xfrm>
          <a:prstGeom xmlns:a="http://schemas.openxmlformats.org/drawingml/2006/main" prst="roundRect">
            <a:avLst>
              <a:gd name="adj" fmla="val 6034"/>
            </a:avLst>
          </a:prstGeom>
          <a:solidFill xmlns:a="http://schemas.openxmlformats.org/drawingml/2006/main">
            <a:srgbClr val="FFFFFF"/>
          </a:solidFill>
          <a:ln xmlns:a="http://schemas.openxmlformats.org/drawingml/2006/main" w="9525">
            <a:solidFill>
              <a:srgbClr val="D5DCE8"/>
            </a:solidFill>
            <a:prstDash val="solid"/>
          </a:ln>
        </p:spPr>
      </p:sp>
      <p:sp>
        <p:nvSpPr>
          <p:cNvPr id="9" name="">
            <a:extLst xmlns:a="http://schemas.openxmlformats.org/drawingml/2006/main">
              <a:ext uri="{FF2B5EF4-FFF2-40B4-BE49-F238E27FC236}">
                <a16:creationId xmlns:a16="http://schemas.microsoft.com/office/drawing/2014/main" id="{C3DE2C8C-27A0-477C-9ACC-F9080574778C}"/>
              </a:ext>
            </a:extLst>
          </p:cNvPr>
          <p:cNvSpPr>
            <a:spLocks xmlns:a="http://schemas.openxmlformats.org/drawingml/2006/main" noGrp="1"/>
          </p:cNvSpPr>
          <p:nvPr/>
        </p:nvSpPr>
        <p:spPr>
          <a:xfrm xmlns:a="http://schemas.openxmlformats.org/drawingml/2006/main">
            <a:off x="762000" y="2781300"/>
            <a:ext cx="76200" cy="1104900"/>
          </a:xfrm>
          <a:prstGeom xmlns:a="http://schemas.openxmlformats.org/drawingml/2006/main" prst="roundRect">
            <a:avLst>
              <a:gd name="adj" fmla="val 50000"/>
            </a:avLst>
          </a:prstGeom>
          <a:solidFill xmlns:a="http://schemas.openxmlformats.org/drawingml/2006/main">
            <a:srgbClr val="43A896"/>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83B6A0E4-C1FD-47ED-AA5F-ABE966C0DE37}"/>
              </a:ext>
            </a:extLst>
          </p:cNvPr>
          <p:cNvSpPr>
            <a:spLocks xmlns:a="http://schemas.openxmlformats.org/drawingml/2006/main" noGrp="1"/>
          </p:cNvSpPr>
          <p:nvPr/>
        </p:nvSpPr>
        <p:spPr>
          <a:xfrm xmlns:a="http://schemas.openxmlformats.org/drawingml/2006/main">
            <a:off x="971550" y="2914650"/>
            <a:ext cx="2228850" cy="3619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071F46"/>
                </a:solidFill>
                <a:latin typeface="LM Roman 12"/>
                <a:ea typeface="LM Roman 12"/>
                <a:cs typeface="LM Roman 12"/>
              </a:defRPr>
            </a:pPr>
            <a:r>
              <a:rPr sz="2175" b="1">
                <a:solidFill>
                  <a:srgbClr val="071F46"/>
                </a:solidFill>
                <a:latin typeface="LM Roman 12"/>
                <a:ea typeface="LM Roman 12"/>
                <a:cs typeface="LM Roman 12"/>
              </a:rPr>
              <a:t>20 x rpi5</a:t>
            </a:r>
          </a:p>
        </p:txBody>
      </p:sp>
      <p:sp>
        <p:nvSpPr>
          <p:cNvPr id="11" name="">
            <a:extLst xmlns:a="http://schemas.openxmlformats.org/drawingml/2006/main">
              <a:ext uri="{FF2B5EF4-FFF2-40B4-BE49-F238E27FC236}">
                <a16:creationId xmlns:a16="http://schemas.microsoft.com/office/drawing/2014/main" id="{26ACBC38-3E36-4C45-BD54-3D583B709599}"/>
              </a:ext>
            </a:extLst>
          </p:cNvPr>
          <p:cNvSpPr>
            <a:spLocks xmlns:a="http://schemas.openxmlformats.org/drawingml/2006/main" noGrp="1"/>
          </p:cNvSpPr>
          <p:nvPr/>
        </p:nvSpPr>
        <p:spPr>
          <a:xfrm xmlns:a="http://schemas.openxmlformats.org/drawingml/2006/main">
            <a:off x="971550" y="3333750"/>
            <a:ext cx="2228850" cy="4000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faster worker pool; used for controls and mixed slices</a:t>
            </a:r>
          </a:p>
        </p:txBody>
      </p:sp>
      <p:sp>
        <p:nvSpPr>
          <p:cNvPr id="12" name="">
            <a:extLst xmlns:a="http://schemas.openxmlformats.org/drawingml/2006/main">
              <a:ext uri="{FF2B5EF4-FFF2-40B4-BE49-F238E27FC236}">
                <a16:creationId xmlns:a16="http://schemas.microsoft.com/office/drawing/2014/main" id="{A2F995D3-5BD9-4532-90CE-2596DE33B64B}"/>
              </a:ext>
            </a:extLst>
          </p:cNvPr>
          <p:cNvSpPr>
            <a:spLocks xmlns:a="http://schemas.openxmlformats.org/drawingml/2006/main" noGrp="1"/>
          </p:cNvSpPr>
          <p:nvPr/>
        </p:nvSpPr>
        <p:spPr>
          <a:xfrm xmlns:a="http://schemas.openxmlformats.org/drawingml/2006/main">
            <a:off x="762000" y="3962400"/>
            <a:ext cx="2571750" cy="1104900"/>
          </a:xfrm>
          <a:prstGeom xmlns:a="http://schemas.openxmlformats.org/drawingml/2006/main" prst="roundRect">
            <a:avLst>
              <a:gd name="adj" fmla="val 6034"/>
            </a:avLst>
          </a:prstGeom>
          <a:solidFill xmlns:a="http://schemas.openxmlformats.org/drawingml/2006/main">
            <a:srgbClr val="FFFFFF"/>
          </a:solidFill>
          <a:ln xmlns:a="http://schemas.openxmlformats.org/drawingml/2006/main" w="9525">
            <a:solidFill>
              <a:srgbClr val="D5DCE8"/>
            </a:solidFill>
            <a:prstDash val="solid"/>
          </a:ln>
        </p:spPr>
      </p:sp>
      <p:sp>
        <p:nvSpPr>
          <p:cNvPr id="13" name="">
            <a:extLst xmlns:a="http://schemas.openxmlformats.org/drawingml/2006/main">
              <a:ext uri="{FF2B5EF4-FFF2-40B4-BE49-F238E27FC236}">
                <a16:creationId xmlns:a16="http://schemas.microsoft.com/office/drawing/2014/main" id="{78A366EC-BFE4-4D90-A68B-0C723EB9DE71}"/>
              </a:ext>
            </a:extLst>
          </p:cNvPr>
          <p:cNvSpPr>
            <a:spLocks xmlns:a="http://schemas.openxmlformats.org/drawingml/2006/main" noGrp="1"/>
          </p:cNvSpPr>
          <p:nvPr/>
        </p:nvSpPr>
        <p:spPr>
          <a:xfrm xmlns:a="http://schemas.openxmlformats.org/drawingml/2006/main">
            <a:off x="762000" y="3962400"/>
            <a:ext cx="76200" cy="1104900"/>
          </a:xfrm>
          <a:prstGeom xmlns:a="http://schemas.openxmlformats.org/drawingml/2006/main" prst="roundRect">
            <a:avLst>
              <a:gd name="adj" fmla="val 50000"/>
            </a:avLst>
          </a:prstGeom>
          <a:solidFill xmlns:a="http://schemas.openxmlformats.org/drawingml/2006/main">
            <a:srgbClr val="123A66"/>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CE761EDA-887A-4765-9142-B1E3E7F06955}"/>
              </a:ext>
            </a:extLst>
          </p:cNvPr>
          <p:cNvSpPr>
            <a:spLocks xmlns:a="http://schemas.openxmlformats.org/drawingml/2006/main" noGrp="1"/>
          </p:cNvSpPr>
          <p:nvPr/>
        </p:nvSpPr>
        <p:spPr>
          <a:xfrm xmlns:a="http://schemas.openxmlformats.org/drawingml/2006/main">
            <a:off x="971550" y="4095750"/>
            <a:ext cx="2228850" cy="3619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071F46"/>
                </a:solidFill>
                <a:latin typeface="LM Roman 12"/>
                <a:ea typeface="LM Roman 12"/>
                <a:cs typeface="LM Roman 12"/>
              </a:defRPr>
            </a:pPr>
            <a:r>
              <a:rPr sz="2175" b="1">
                <a:solidFill>
                  <a:srgbClr val="071F46"/>
                </a:solidFill>
                <a:latin typeface="LM Roman 12"/>
                <a:ea typeface="LM Roman 12"/>
                <a:cs typeface="LM Roman 12"/>
              </a:rPr>
              <a:t>typed slices</a:t>
            </a:r>
          </a:p>
        </p:txBody>
      </p:sp>
      <p:sp>
        <p:nvSpPr>
          <p:cNvPr id="15" name="">
            <a:extLst xmlns:a="http://schemas.openxmlformats.org/drawingml/2006/main">
              <a:ext uri="{FF2B5EF4-FFF2-40B4-BE49-F238E27FC236}">
                <a16:creationId xmlns:a16="http://schemas.microsoft.com/office/drawing/2014/main" id="{16325E09-9068-499B-8E99-F2052BAD2B6D}"/>
              </a:ext>
            </a:extLst>
          </p:cNvPr>
          <p:cNvSpPr>
            <a:spLocks xmlns:a="http://schemas.openxmlformats.org/drawingml/2006/main" noGrp="1"/>
          </p:cNvSpPr>
          <p:nvPr/>
        </p:nvSpPr>
        <p:spPr>
          <a:xfrm xmlns:a="http://schemas.openxmlformats.org/drawingml/2006/main">
            <a:off x="971550" y="4514850"/>
            <a:ext cx="2228850" cy="4000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e.g. 10 rpi4 + 10 rpi5 without changing app code</a:t>
            </a:r>
          </a:p>
        </p:txBody>
      </p:sp>
      <p:sp>
        <p:nvSpPr>
          <p:cNvPr id="16" name="">
            <a:extLst xmlns:a="http://schemas.openxmlformats.org/drawingml/2006/main">
              <a:ext uri="{FF2B5EF4-FFF2-40B4-BE49-F238E27FC236}">
                <a16:creationId xmlns:a16="http://schemas.microsoft.com/office/drawing/2014/main" id="{42E95126-9DCE-4894-931A-D945CF886FA2}"/>
              </a:ext>
            </a:extLst>
          </p:cNvPr>
          <p:cNvSpPr>
            <a:spLocks xmlns:a="http://schemas.openxmlformats.org/drawingml/2006/main" noGrp="1"/>
          </p:cNvSpPr>
          <p:nvPr/>
        </p:nvSpPr>
        <p:spPr>
          <a:xfrm xmlns:a="http://schemas.openxmlformats.org/drawingml/2006/main">
            <a:off x="3771900" y="1600200"/>
            <a:ext cx="3124200" cy="1428750"/>
          </a:xfrm>
          <a:prstGeom xmlns:a="http://schemas.openxmlformats.org/drawingml/2006/main" prst="roundRect">
            <a:avLst>
              <a:gd name="adj" fmla="val 4667"/>
            </a:avLst>
          </a:prstGeom>
          <a:solidFill xmlns:a="http://schemas.openxmlformats.org/drawingml/2006/main">
            <a:srgbClr val="FFFFFF"/>
          </a:solidFill>
          <a:ln xmlns:a="http://schemas.openxmlformats.org/drawingml/2006/main" w="9525">
            <a:solidFill>
              <a:srgbClr val="D5DCE8"/>
            </a:solidFill>
            <a:prstDash val="solid"/>
          </a:ln>
        </p:spPr>
      </p:sp>
      <p:sp>
        <p:nvSpPr>
          <p:cNvPr id="17" name="">
            <a:extLst xmlns:a="http://schemas.openxmlformats.org/drawingml/2006/main">
              <a:ext uri="{FF2B5EF4-FFF2-40B4-BE49-F238E27FC236}">
                <a16:creationId xmlns:a16="http://schemas.microsoft.com/office/drawing/2014/main" id="{334612B2-2D0B-4868-8C12-0A4F0C568456}"/>
              </a:ext>
            </a:extLst>
          </p:cNvPr>
          <p:cNvSpPr>
            <a:spLocks xmlns:a="http://schemas.openxmlformats.org/drawingml/2006/main" noGrp="1"/>
          </p:cNvSpPr>
          <p:nvPr/>
        </p:nvSpPr>
        <p:spPr>
          <a:xfrm xmlns:a="http://schemas.openxmlformats.org/drawingml/2006/main">
            <a:off x="3771900" y="1600200"/>
            <a:ext cx="66675" cy="1428750"/>
          </a:xfrm>
          <a:prstGeom xmlns:a="http://schemas.openxmlformats.org/drawingml/2006/main" prst="roundRect">
            <a:avLst>
              <a:gd name="adj" fmla="val 50000"/>
            </a:avLst>
          </a:prstGeom>
          <a:solidFill xmlns:a="http://schemas.openxmlformats.org/drawingml/2006/main">
            <a:srgbClr val="43A896"/>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B528E684-9D29-4F30-9381-2E39CA29C24C}"/>
              </a:ext>
            </a:extLst>
          </p:cNvPr>
          <p:cNvSpPr>
            <a:spLocks xmlns:a="http://schemas.openxmlformats.org/drawingml/2006/main" noGrp="1"/>
          </p:cNvSpPr>
          <p:nvPr/>
        </p:nvSpPr>
        <p:spPr>
          <a:xfrm xmlns:a="http://schemas.openxmlformats.org/drawingml/2006/main">
            <a:off x="3962400" y="1752600"/>
            <a:ext cx="2800350" cy="2857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071F46"/>
                </a:solidFill>
                <a:latin typeface="LM Roman 12"/>
                <a:ea typeface="LM Roman 12"/>
                <a:cs typeface="LM Roman 12"/>
              </a:defRPr>
            </a:pPr>
            <a:r>
              <a:rPr sz="1425" b="1">
                <a:solidFill>
                  <a:srgbClr val="071F46"/>
                </a:solidFill>
                <a:latin typeface="LM Roman 12"/>
                <a:ea typeface="LM Roman 12"/>
                <a:cs typeface="LM Roman 12"/>
              </a:rPr>
              <a:t>Run config</a:t>
            </a:r>
          </a:p>
        </p:txBody>
      </p:sp>
      <p:sp>
        <p:nvSpPr>
          <p:cNvPr id="19" name="">
            <a:extLst xmlns:a="http://schemas.openxmlformats.org/drawingml/2006/main">
              <a:ext uri="{FF2B5EF4-FFF2-40B4-BE49-F238E27FC236}">
                <a16:creationId xmlns:a16="http://schemas.microsoft.com/office/drawing/2014/main" id="{2E996E4C-4C92-43A3-85EF-F0F39AD65A73}"/>
              </a:ext>
            </a:extLst>
          </p:cNvPr>
          <p:cNvSpPr>
            <a:spLocks xmlns:a="http://schemas.openxmlformats.org/drawingml/2006/main" noGrp="1"/>
          </p:cNvSpPr>
          <p:nvPr/>
        </p:nvSpPr>
        <p:spPr>
          <a:xfrm xmlns:a="http://schemas.openxmlformats.org/drawingml/2006/main">
            <a:off x="3962400" y="2095500"/>
            <a:ext cx="2800350" cy="8382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111827"/>
                </a:solidFill>
                <a:latin typeface="LM Roman 12"/>
                <a:ea typeface="LM Roman 12"/>
                <a:cs typeface="LM Roman 12"/>
              </a:defRPr>
            </a:pPr>
            <a:r>
              <a:rPr sz="1050" b="0">
                <a:solidFill>
                  <a:srgbClr val="111827"/>
                </a:solidFill>
                <a:latin typeface="LM Roman 12"/>
                <a:ea typeface="LM Roman 12"/>
                <a:cs typeface="LM Roman 12"/>
              </a:rPr>
              <a:t>Scientific definition: task, model, partitioner, method, seed, local budget, evaluation.</a:t>
            </a:r>
          </a:p>
        </p:txBody>
      </p:sp>
      <p:sp>
        <p:nvSpPr>
          <p:cNvPr id="20" name="">
            <a:extLst xmlns:a="http://schemas.openxmlformats.org/drawingml/2006/main">
              <a:ext uri="{FF2B5EF4-FFF2-40B4-BE49-F238E27FC236}">
                <a16:creationId xmlns:a16="http://schemas.microsoft.com/office/drawing/2014/main" id="{CC03BD9C-1C7E-4FF7-9305-A88C28C57972}"/>
              </a:ext>
            </a:extLst>
          </p:cNvPr>
          <p:cNvSpPr>
            <a:spLocks xmlns:a="http://schemas.openxmlformats.org/drawingml/2006/main" noGrp="1"/>
          </p:cNvSpPr>
          <p:nvPr/>
        </p:nvSpPr>
        <p:spPr>
          <a:xfrm xmlns:a="http://schemas.openxmlformats.org/drawingml/2006/main">
            <a:off x="7334250" y="1600200"/>
            <a:ext cx="3124200" cy="1428750"/>
          </a:xfrm>
          <a:prstGeom xmlns:a="http://schemas.openxmlformats.org/drawingml/2006/main" prst="roundRect">
            <a:avLst>
              <a:gd name="adj" fmla="val 4667"/>
            </a:avLst>
          </a:prstGeom>
          <a:solidFill xmlns:a="http://schemas.openxmlformats.org/drawingml/2006/main">
            <a:srgbClr val="FFFFFF"/>
          </a:solidFill>
          <a:ln xmlns:a="http://schemas.openxmlformats.org/drawingml/2006/main" w="9525">
            <a:solidFill>
              <a:srgbClr val="D5DCE8"/>
            </a:solidFill>
            <a:prstDash val="solid"/>
          </a:ln>
        </p:spPr>
      </p:sp>
      <p:sp>
        <p:nvSpPr>
          <p:cNvPr id="21" name="">
            <a:extLst xmlns:a="http://schemas.openxmlformats.org/drawingml/2006/main">
              <a:ext uri="{FF2B5EF4-FFF2-40B4-BE49-F238E27FC236}">
                <a16:creationId xmlns:a16="http://schemas.microsoft.com/office/drawing/2014/main" id="{09493362-DB30-46AD-BC1B-A0E20A711F0E}"/>
              </a:ext>
            </a:extLst>
          </p:cNvPr>
          <p:cNvSpPr>
            <a:spLocks xmlns:a="http://schemas.openxmlformats.org/drawingml/2006/main" noGrp="1"/>
          </p:cNvSpPr>
          <p:nvPr/>
        </p:nvSpPr>
        <p:spPr>
          <a:xfrm xmlns:a="http://schemas.openxmlformats.org/drawingml/2006/main">
            <a:off x="7334250" y="1600200"/>
            <a:ext cx="66675" cy="1428750"/>
          </a:xfrm>
          <a:prstGeom xmlns:a="http://schemas.openxmlformats.org/drawingml/2006/main" prst="roundRect">
            <a:avLst>
              <a:gd name="adj" fmla="val 50000"/>
            </a:avLst>
          </a:prstGeom>
          <a:solidFill xmlns:a="http://schemas.openxmlformats.org/drawingml/2006/main">
            <a:srgbClr val="F3C432"/>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EEB0F236-BF9F-4AC2-9D2E-C1335B4526A5}"/>
              </a:ext>
            </a:extLst>
          </p:cNvPr>
          <p:cNvSpPr>
            <a:spLocks xmlns:a="http://schemas.openxmlformats.org/drawingml/2006/main" noGrp="1"/>
          </p:cNvSpPr>
          <p:nvPr/>
        </p:nvSpPr>
        <p:spPr>
          <a:xfrm xmlns:a="http://schemas.openxmlformats.org/drawingml/2006/main">
            <a:off x="7524750" y="1752600"/>
            <a:ext cx="2800350" cy="2857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071F46"/>
                </a:solidFill>
                <a:latin typeface="LM Roman 12"/>
                <a:ea typeface="LM Roman 12"/>
                <a:cs typeface="LM Roman 12"/>
              </a:defRPr>
            </a:pPr>
            <a:r>
              <a:rPr sz="1425" b="1">
                <a:solidFill>
                  <a:srgbClr val="071F46"/>
                </a:solidFill>
                <a:latin typeface="LM Roman 12"/>
                <a:ea typeface="LM Roman 12"/>
                <a:cs typeface="LM Roman 12"/>
              </a:rPr>
              <a:t>Deploy config</a:t>
            </a:r>
          </a:p>
        </p:txBody>
      </p:sp>
      <p:sp>
        <p:nvSpPr>
          <p:cNvPr id="23" name="">
            <a:extLst xmlns:a="http://schemas.openxmlformats.org/drawingml/2006/main">
              <a:ext uri="{FF2B5EF4-FFF2-40B4-BE49-F238E27FC236}">
                <a16:creationId xmlns:a16="http://schemas.microsoft.com/office/drawing/2014/main" id="{48CAD2AE-E356-4F86-B3CB-3EA974477D2D}"/>
              </a:ext>
            </a:extLst>
          </p:cNvPr>
          <p:cNvSpPr>
            <a:spLocks xmlns:a="http://schemas.openxmlformats.org/drawingml/2006/main" noGrp="1"/>
          </p:cNvSpPr>
          <p:nvPr/>
        </p:nvSpPr>
        <p:spPr>
          <a:xfrm xmlns:a="http://schemas.openxmlformats.org/drawingml/2006/main">
            <a:off x="7524750" y="2095500"/>
            <a:ext cx="2800350" cy="8382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111827"/>
                </a:solidFill>
                <a:latin typeface="LM Roman 12"/>
                <a:ea typeface="LM Roman 12"/>
                <a:cs typeface="LM Roman 12"/>
              </a:defRPr>
            </a:pPr>
            <a:r>
              <a:rPr sz="1050" b="0">
                <a:solidFill>
                  <a:srgbClr val="111827"/>
                </a:solidFill>
                <a:latin typeface="LM Roman 12"/>
                <a:ea typeface="LM Roman 12"/>
                <a:cs typeface="LM Roman 12"/>
              </a:rPr>
              <a:t>Execution definition: device counts, placement, resource reservations, images, registry, network profiles.</a:t>
            </a:r>
          </a:p>
        </p:txBody>
      </p:sp>
      <p:sp>
        <p:nvSpPr>
          <p:cNvPr id="24" name="">
            <a:extLst xmlns:a="http://schemas.openxmlformats.org/drawingml/2006/main">
              <a:ext uri="{FF2B5EF4-FFF2-40B4-BE49-F238E27FC236}">
                <a16:creationId xmlns:a16="http://schemas.microsoft.com/office/drawing/2014/main" id="{B19F3F84-6C36-4888-A45E-43BDCCA1B841}"/>
              </a:ext>
            </a:extLst>
          </p:cNvPr>
          <p:cNvSpPr>
            <a:spLocks xmlns:a="http://schemas.openxmlformats.org/drawingml/2006/main" noGrp="1"/>
          </p:cNvSpPr>
          <p:nvPr/>
        </p:nvSpPr>
        <p:spPr>
          <a:xfrm xmlns:a="http://schemas.openxmlformats.org/drawingml/2006/main">
            <a:off x="6896100" y="2181225"/>
            <a:ext cx="438150" cy="2857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75" b="1">
                <a:solidFill>
                  <a:srgbClr val="9AA6B8"/>
                </a:solidFill>
                <a:latin typeface="LM Roman 12"/>
                <a:ea typeface="LM Roman 12"/>
                <a:cs typeface="LM Roman 12"/>
              </a:defRPr>
            </a:pPr>
            <a:r>
              <a:rPr sz="1575" b="1">
                <a:solidFill>
                  <a:srgbClr val="9AA6B8"/>
                </a:solidFill>
                <a:latin typeface="LM Roman 12"/>
                <a:ea typeface="LM Roman 12"/>
                <a:cs typeface="LM Roman 12"/>
              </a:rPr>
              <a:t>→</a:t>
            </a:r>
          </a:p>
        </p:txBody>
      </p:sp>
      <p:sp>
        <p:nvSpPr>
          <p:cNvPr id="25" name="">
            <a:extLst xmlns:a="http://schemas.openxmlformats.org/drawingml/2006/main">
              <a:ext uri="{FF2B5EF4-FFF2-40B4-BE49-F238E27FC236}">
                <a16:creationId xmlns:a16="http://schemas.microsoft.com/office/drawing/2014/main" id="{81FBFA9B-209A-463E-8D55-F579F8E27E64}"/>
              </a:ext>
            </a:extLst>
          </p:cNvPr>
          <p:cNvSpPr>
            <a:spLocks xmlns:a="http://schemas.openxmlformats.org/drawingml/2006/main" noGrp="1"/>
          </p:cNvSpPr>
          <p:nvPr/>
        </p:nvSpPr>
        <p:spPr>
          <a:xfrm xmlns:a="http://schemas.openxmlformats.org/drawingml/2006/main">
            <a:off x="3771900" y="3409950"/>
            <a:ext cx="6705600" cy="1924050"/>
          </a:xfrm>
          <a:prstGeom xmlns:a="http://schemas.openxmlformats.org/drawingml/2006/main" prst="roundRect">
            <a:avLst>
              <a:gd name="adj" fmla="val 3465"/>
            </a:avLst>
          </a:prstGeom>
          <a:solidFill xmlns:a="http://schemas.openxmlformats.org/drawingml/2006/main">
            <a:srgbClr val="FFFFFF"/>
          </a:solidFill>
          <a:ln xmlns:a="http://schemas.openxmlformats.org/drawingml/2006/main" w="9525">
            <a:solidFill>
              <a:srgbClr val="D5DCE8"/>
            </a:solidFill>
            <a:prstDash val="solid"/>
          </a:ln>
        </p:spPr>
      </p:sp>
      <p:sp>
        <p:nvSpPr>
          <p:cNvPr id="26" name="">
            <a:extLst xmlns:a="http://schemas.openxmlformats.org/drawingml/2006/main">
              <a:ext uri="{FF2B5EF4-FFF2-40B4-BE49-F238E27FC236}">
                <a16:creationId xmlns:a16="http://schemas.microsoft.com/office/drawing/2014/main" id="{F31A8472-3022-4609-9363-EEFF58B71C6D}"/>
              </a:ext>
            </a:extLst>
          </p:cNvPr>
          <p:cNvSpPr>
            <a:spLocks xmlns:a="http://schemas.openxmlformats.org/drawingml/2006/main" noGrp="1"/>
          </p:cNvSpPr>
          <p:nvPr/>
        </p:nvSpPr>
        <p:spPr>
          <a:xfrm xmlns:a="http://schemas.openxmlformats.org/drawingml/2006/main">
            <a:off x="4057650" y="3676650"/>
            <a:ext cx="2857500" cy="2857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071F46"/>
                </a:solidFill>
                <a:latin typeface="LM Roman 12"/>
                <a:ea typeface="LM Roman 12"/>
                <a:cs typeface="LM Roman 12"/>
              </a:defRPr>
            </a:pPr>
            <a:r>
              <a:rPr sz="1725" b="1">
                <a:solidFill>
                  <a:srgbClr val="071F46"/>
                </a:solidFill>
                <a:latin typeface="LM Roman 12"/>
                <a:ea typeface="LM Roman 12"/>
                <a:cs typeface="LM Roman 12"/>
              </a:rPr>
              <a:t>Controlled heterogeneity</a:t>
            </a:r>
          </a:p>
        </p:txBody>
      </p:sp>
      <p:sp>
        <p:nvSpPr>
          <p:cNvPr id="27" name="">
            <a:extLst xmlns:a="http://schemas.openxmlformats.org/drawingml/2006/main">
              <a:ext uri="{FF2B5EF4-FFF2-40B4-BE49-F238E27FC236}">
                <a16:creationId xmlns:a16="http://schemas.microsoft.com/office/drawing/2014/main" id="{FC08D364-D253-4226-9F27-7708B720F74B}"/>
              </a:ext>
            </a:extLst>
          </p:cNvPr>
          <p:cNvSpPr>
            <a:spLocks xmlns:a="http://schemas.openxmlformats.org/drawingml/2006/main" noGrp="1"/>
          </p:cNvSpPr>
          <p:nvPr/>
        </p:nvSpPr>
        <p:spPr>
          <a:xfrm xmlns:a="http://schemas.openxmlformats.org/drawingml/2006/main">
            <a:off x="4095750" y="4191000"/>
            <a:ext cx="76200" cy="76200"/>
          </a:xfrm>
          <a:prstGeom xmlns:a="http://schemas.openxmlformats.org/drawingml/2006/main" prst="roundRect">
            <a:avLst>
              <a:gd name="adj" fmla="val 50000"/>
            </a:avLst>
          </a:prstGeom>
          <a:solidFill xmlns:a="http://schemas.openxmlformats.org/drawingml/2006/main">
            <a:srgbClr val="F3C432"/>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0BFAD46E-2D33-45C0-B23F-AE5333ACDB45}"/>
              </a:ext>
            </a:extLst>
          </p:cNvPr>
          <p:cNvSpPr>
            <a:spLocks xmlns:a="http://schemas.openxmlformats.org/drawingml/2006/main" noGrp="1"/>
          </p:cNvSpPr>
          <p:nvPr/>
        </p:nvSpPr>
        <p:spPr>
          <a:xfrm xmlns:a="http://schemas.openxmlformats.org/drawingml/2006/main">
            <a:off x="4305300" y="4114800"/>
            <a:ext cx="5695950" cy="3238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11827"/>
                </a:solidFill>
                <a:latin typeface="LM Roman 12"/>
                <a:ea typeface="LM Roman 12"/>
                <a:cs typeface="LM Roman 12"/>
              </a:defRPr>
            </a:pPr>
            <a:r>
              <a:rPr sz="1125" b="0">
                <a:solidFill>
                  <a:srgbClr val="111827"/>
                </a:solidFill>
                <a:latin typeface="LM Roman 12"/>
                <a:ea typeface="LM Roman 12"/>
                <a:cs typeface="LM Roman 12"/>
              </a:rPr>
              <a:t>Placement records which logical clients ran on which device class.</a:t>
            </a:r>
          </a:p>
        </p:txBody>
      </p:sp>
      <p:sp>
        <p:nvSpPr>
          <p:cNvPr id="29" name="">
            <a:extLst xmlns:a="http://schemas.openxmlformats.org/drawingml/2006/main">
              <a:ext uri="{FF2B5EF4-FFF2-40B4-BE49-F238E27FC236}">
                <a16:creationId xmlns:a16="http://schemas.microsoft.com/office/drawing/2014/main" id="{8351B6B3-0985-45FE-860A-9B790DA94098}"/>
              </a:ext>
            </a:extLst>
          </p:cNvPr>
          <p:cNvSpPr>
            <a:spLocks xmlns:a="http://schemas.openxmlformats.org/drawingml/2006/main" noGrp="1"/>
          </p:cNvSpPr>
          <p:nvPr/>
        </p:nvSpPr>
        <p:spPr>
          <a:xfrm xmlns:a="http://schemas.openxmlformats.org/drawingml/2006/main">
            <a:off x="4095750" y="4533900"/>
            <a:ext cx="76200" cy="76200"/>
          </a:xfrm>
          <a:prstGeom xmlns:a="http://schemas.openxmlformats.org/drawingml/2006/main" prst="roundRect">
            <a:avLst>
              <a:gd name="adj" fmla="val 50000"/>
            </a:avLst>
          </a:prstGeom>
          <a:solidFill xmlns:a="http://schemas.openxmlformats.org/drawingml/2006/main">
            <a:srgbClr val="F3C432"/>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C978FDD4-7433-472E-912A-7551AAEB2639}"/>
              </a:ext>
            </a:extLst>
          </p:cNvPr>
          <p:cNvSpPr>
            <a:spLocks xmlns:a="http://schemas.openxmlformats.org/drawingml/2006/main" noGrp="1"/>
          </p:cNvSpPr>
          <p:nvPr/>
        </p:nvSpPr>
        <p:spPr>
          <a:xfrm xmlns:a="http://schemas.openxmlformats.org/drawingml/2006/main">
            <a:off x="4305300" y="4457700"/>
            <a:ext cx="5695950" cy="3238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11827"/>
                </a:solidFill>
                <a:latin typeface="LM Roman 12"/>
                <a:ea typeface="LM Roman 12"/>
                <a:cs typeface="LM Roman 12"/>
              </a:defRPr>
            </a:pPr>
            <a:r>
              <a:rPr sz="1125" b="0">
                <a:solidFill>
                  <a:srgbClr val="111827"/>
                </a:solidFill>
                <a:latin typeface="LM Roman 12"/>
                <a:ea typeface="LM Roman 12"/>
                <a:cs typeface="LM Roman 12"/>
              </a:rPr>
              <a:t>netem profiles add delay, jitter, loss, and bandwidth limits at deployment time.</a:t>
            </a:r>
          </a:p>
        </p:txBody>
      </p:sp>
      <p:sp>
        <p:nvSpPr>
          <p:cNvPr id="31" name="">
            <a:extLst xmlns:a="http://schemas.openxmlformats.org/drawingml/2006/main">
              <a:ext uri="{FF2B5EF4-FFF2-40B4-BE49-F238E27FC236}">
                <a16:creationId xmlns:a16="http://schemas.microsoft.com/office/drawing/2014/main" id="{C6109EDB-0442-49C9-9F78-029ECF61064E}"/>
              </a:ext>
            </a:extLst>
          </p:cNvPr>
          <p:cNvSpPr>
            <a:spLocks xmlns:a="http://schemas.openxmlformats.org/drawingml/2006/main" noGrp="1"/>
          </p:cNvSpPr>
          <p:nvPr/>
        </p:nvSpPr>
        <p:spPr>
          <a:xfrm xmlns:a="http://schemas.openxmlformats.org/drawingml/2006/main">
            <a:off x="4095750" y="4876800"/>
            <a:ext cx="76200" cy="76200"/>
          </a:xfrm>
          <a:prstGeom xmlns:a="http://schemas.openxmlformats.org/drawingml/2006/main" prst="roundRect">
            <a:avLst>
              <a:gd name="adj" fmla="val 50000"/>
            </a:avLst>
          </a:prstGeom>
          <a:solidFill xmlns:a="http://schemas.openxmlformats.org/drawingml/2006/main">
            <a:srgbClr val="F3C432"/>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9863AFB0-AE86-4EB4-8118-EF305F365DCD}"/>
              </a:ext>
            </a:extLst>
          </p:cNvPr>
          <p:cNvSpPr>
            <a:spLocks xmlns:a="http://schemas.openxmlformats.org/drawingml/2006/main" noGrp="1"/>
          </p:cNvSpPr>
          <p:nvPr/>
        </p:nvSpPr>
        <p:spPr>
          <a:xfrm xmlns:a="http://schemas.openxmlformats.org/drawingml/2006/main">
            <a:off x="4305300" y="4800600"/>
            <a:ext cx="5695950" cy="3238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11827"/>
                </a:solidFill>
                <a:latin typeface="LM Roman 12"/>
                <a:ea typeface="LM Roman 12"/>
                <a:cs typeface="LM Roman 12"/>
              </a:defRPr>
            </a:pPr>
            <a:r>
              <a:rPr sz="1125" b="0">
                <a:solidFill>
                  <a:srgbClr val="111827"/>
                </a:solidFill>
                <a:latin typeface="LM Roman 12"/>
                <a:ea typeface="LM Roman 12"/>
                <a:cs typeface="LM Roman 12"/>
              </a:rPr>
              <a:t>Logs, W&amp;B metrics, artifacts, and runtime metadata preserve the run record.</a:t>
            </a:r>
          </a:p>
        </p:txBody>
      </p:sp>
      <p:sp>
        <p:nvSpPr>
          <p:cNvPr id="33" name="">
            <a:extLst xmlns:a="http://schemas.openxmlformats.org/drawingml/2006/main">
              <a:ext uri="{FF2B5EF4-FFF2-40B4-BE49-F238E27FC236}">
                <a16:creationId xmlns:a16="http://schemas.microsoft.com/office/drawing/2014/main" id="{8B5DA327-6D0F-4144-B659-FC2B792DDCEF}"/>
              </a:ext>
            </a:extLst>
          </p:cNvPr>
          <p:cNvSpPr>
            <a:spLocks xmlns:a="http://schemas.openxmlformats.org/drawingml/2006/main" noGrp="1"/>
          </p:cNvSpPr>
          <p:nvPr/>
        </p:nvSpPr>
        <p:spPr>
          <a:xfrm xmlns:a="http://schemas.openxmlformats.org/drawingml/2006/main">
            <a:off x="666750" y="6057900"/>
            <a:ext cx="8572500" cy="2095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5B6472"/>
                </a:solidFill>
                <a:latin typeface="LM Roman 12"/>
                <a:ea typeface="LM Roman 12"/>
                <a:cs typeface="LM Roman 12"/>
              </a:defRPr>
            </a:pPr>
            <a:r>
              <a:rPr sz="825" b="0">
                <a:solidFill>
                  <a:srgbClr val="5B6472"/>
                </a:solidFill>
                <a:latin typeface="LM Roman 12"/>
                <a:ea typeface="LM Roman 12"/>
                <a:cs typeface="LM Roman 12"/>
              </a:rPr>
              <a:t>Full device-placement and network-impairment diagrams are in the appendix.</a:t>
            </a:r>
          </a:p>
        </p:txBody>
      </p:sp>
      <p:sp>
        <p:nvSpPr>
          <p:cNvPr id="34" name="">
            <a:extLst xmlns:a="http://schemas.openxmlformats.org/drawingml/2006/main">
              <a:ext uri="{FF2B5EF4-FFF2-40B4-BE49-F238E27FC236}">
                <a16:creationId xmlns:a16="http://schemas.microsoft.com/office/drawing/2014/main" id="{95998558-FF7C-45FE-AFA2-69548EEDD0B0}"/>
              </a:ext>
            </a:extLst>
          </p:cNvPr>
          <p:cNvSpPr>
            <a:spLocks xmlns:a="http://schemas.openxmlformats.org/drawingml/2006/main" noGrp="1"/>
          </p:cNvSpPr>
          <p:nvPr/>
        </p:nvSpPr>
        <p:spPr>
          <a:xfrm xmlns:a="http://schemas.openxmlformats.org/drawingml/2006/main">
            <a:off x="666750" y="6296025"/>
            <a:ext cx="10858500" cy="9525"/>
          </a:xfrm>
          <a:prstGeom xmlns:a="http://schemas.openxmlformats.org/drawingml/2006/main" prst="rect">
            <a:avLst/>
          </a:prstGeom>
          <a:solidFill xmlns:a="http://schemas.openxmlformats.org/drawingml/2006/main">
            <a:srgbClr val="E6EBF3"/>
          </a:solidFill>
          <a:ln xmlns:a="http://schemas.openxmlformats.org/drawingml/2006/main" w="0">
            <a:solidFill>
              <a:srgbClr val="000000">
                <a:alpha val="0"/>
              </a:srgbClr>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f8a93d5b487a4b0d"/>
          <a:stretch xmlns:a="http://schemas.openxmlformats.org/drawingml/2006/main"/>
        </p:blipFill>
        <p:spPr>
          <a:xfrm xmlns:a="http://schemas.openxmlformats.org/drawingml/2006/main">
            <a:off x="666977" y="6429375"/>
            <a:ext cx="269103" cy="228600"/>
          </a:xfrm>
          <a:prstGeom xmlns:a="http://schemas.openxmlformats.org/drawingml/2006/main" prst="rect">
            <a:avLst/>
          </a:prstGeom>
        </p:spPr>
      </p:pic>
      <p:sp>
        <p:nvSpPr>
          <p:cNvPr id="36" name="">
            <a:extLst xmlns:a="http://schemas.openxmlformats.org/drawingml/2006/main">
              <a:ext uri="{FF2B5EF4-FFF2-40B4-BE49-F238E27FC236}">
                <a16:creationId xmlns:a16="http://schemas.microsoft.com/office/drawing/2014/main" id="{C0277E02-6ED6-4BB5-903F-063B587728BF}"/>
              </a:ext>
            </a:extLst>
          </p:cNvPr>
          <p:cNvSpPr>
            <a:spLocks xmlns:a="http://schemas.openxmlformats.org/drawingml/2006/main" noGrp="1"/>
          </p:cNvSpPr>
          <p:nvPr/>
        </p:nvSpPr>
        <p:spPr>
          <a:xfrm xmlns:a="http://schemas.openxmlformats.org/drawingml/2006/main">
            <a:off x="990600" y="6457950"/>
            <a:ext cx="400050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appendix: testbed and controls</a:t>
            </a:r>
          </a:p>
        </p:txBody>
      </p:sp>
      <p:sp>
        <p:nvSpPr>
          <p:cNvPr id="37" name="">
            <a:extLst xmlns:a="http://schemas.openxmlformats.org/drawingml/2006/main">
              <a:ext uri="{FF2B5EF4-FFF2-40B4-BE49-F238E27FC236}">
                <a16:creationId xmlns:a16="http://schemas.microsoft.com/office/drawing/2014/main" id="{19FC1E32-E884-4957-BFF9-970B8CD1A693}"/>
              </a:ext>
            </a:extLst>
          </p:cNvPr>
          <p:cNvSpPr>
            <a:spLocks xmlns:a="http://schemas.openxmlformats.org/drawingml/2006/main" noGrp="1"/>
          </p:cNvSpPr>
          <p:nvPr/>
        </p:nvSpPr>
        <p:spPr>
          <a:xfrm xmlns:a="http://schemas.openxmlformats.org/drawingml/2006/main">
            <a:off x="11049000" y="6457950"/>
            <a:ext cx="47625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16</a:t>
            </a:r>
          </a:p>
        </p:txBody>
      </p:sp>
    </p:spTree>
    <p:extLst>
      <p:ext uri="{BB962C8B-B14F-4D97-AF65-F5344CB8AC3E}">
        <p14:creationId xmlns:p14="http://schemas.microsoft.com/office/powerpoint/2010/main" val="1817548941"/>
      </p:ext>
    </p:extLst>
  </p:cSld>
</p:sld>
</file>

<file path=ppt/slides/slide17.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281D144-F440-4E22-A473-DF97C11F08C0}"/>
              </a:ext>
            </a:extLst>
          </p:cNvPr>
          <p:cNvSpPr>
            <a:spLocks xmlns:a="http://schemas.openxmlformats.org/drawingml/2006/main" noGrp="1"/>
          </p:cNvSpPr>
          <p:nvPr/>
        </p:nvSpPr>
        <p:spPr>
          <a:xfrm xmlns:a="http://schemas.openxmlformats.org/drawingml/2006/main">
            <a:off x="666750" y="342900"/>
            <a:ext cx="2857500" cy="1905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43A896"/>
                </a:solidFill>
                <a:latin typeface="LM Roman 12"/>
                <a:ea typeface="LM Roman 12"/>
                <a:cs typeface="LM Roman 12"/>
              </a:defRPr>
            </a:pPr>
            <a:r>
              <a:rPr sz="975" b="1">
                <a:solidFill>
                  <a:srgbClr val="43A896"/>
                </a:solidFill>
                <a:latin typeface="LM Roman 12"/>
                <a:ea typeface="LM Roman 12"/>
                <a:cs typeface="LM Roman 12"/>
              </a:rPr>
              <a:t>APPENDIX</a:t>
            </a:r>
          </a:p>
        </p:txBody>
      </p:sp>
      <p:sp>
        <p:nvSpPr>
          <p:cNvPr id="2" name="">
            <a:extLst xmlns:a="http://schemas.openxmlformats.org/drawingml/2006/main">
              <a:ext uri="{FF2B5EF4-FFF2-40B4-BE49-F238E27FC236}">
                <a16:creationId xmlns:a16="http://schemas.microsoft.com/office/drawing/2014/main" id="{9E094B94-BF5A-431C-8F9A-438F5DAA1058}"/>
              </a:ext>
            </a:extLst>
          </p:cNvPr>
          <p:cNvSpPr>
            <a:spLocks xmlns:a="http://schemas.openxmlformats.org/drawingml/2006/main" noGrp="1"/>
          </p:cNvSpPr>
          <p:nvPr/>
        </p:nvSpPr>
        <p:spPr>
          <a:xfrm xmlns:a="http://schemas.openxmlformats.org/drawingml/2006/main">
            <a:off x="666750" y="590550"/>
            <a:ext cx="8858250" cy="4572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71F46"/>
                </a:solidFill>
                <a:latin typeface="LM Roman 12"/>
                <a:ea typeface="LM Roman 12"/>
                <a:cs typeface="LM Roman 12"/>
              </a:defRPr>
            </a:pPr>
            <a:r>
              <a:rPr sz="2250" b="1">
                <a:solidFill>
                  <a:srgbClr val="071F46"/>
                </a:solidFill>
                <a:latin typeface="LM Roman 12"/>
                <a:ea typeface="LM Roman 12"/>
                <a:cs typeface="LM Roman 12"/>
              </a:rPr>
              <a:t>Queue admission and dispatch</a:t>
            </a:r>
          </a:p>
        </p:txBody>
      </p:sp>
      <p:sp>
        <p:nvSpPr>
          <p:cNvPr id="3" name="">
            <a:extLst xmlns:a="http://schemas.openxmlformats.org/drawingml/2006/main">
              <a:ext uri="{FF2B5EF4-FFF2-40B4-BE49-F238E27FC236}">
                <a16:creationId xmlns:a16="http://schemas.microsoft.com/office/drawing/2014/main" id="{0BC360FA-724B-454C-90EB-EA1FDD85AB6B}"/>
              </a:ext>
            </a:extLst>
          </p:cNvPr>
          <p:cNvSpPr>
            <a:spLocks xmlns:a="http://schemas.openxmlformats.org/drawingml/2006/main" noGrp="1"/>
          </p:cNvSpPr>
          <p:nvPr/>
        </p:nvSpPr>
        <p:spPr>
          <a:xfrm xmlns:a="http://schemas.openxmlformats.org/drawingml/2006/main">
            <a:off x="666750" y="1066800"/>
            <a:ext cx="7239000" cy="2476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B6472"/>
                </a:solidFill>
                <a:latin typeface="LM Roman 12"/>
                <a:ea typeface="LM Roman 12"/>
                <a:cs typeface="LM Roman 12"/>
              </a:defRPr>
            </a:pPr>
            <a:r>
              <a:rPr sz="1125" b="0">
                <a:solidFill>
                  <a:srgbClr val="5B6472"/>
                </a:solidFill>
                <a:latin typeface="LM Roman 12"/>
                <a:ea typeface="LM Roman 12"/>
                <a:cs typeface="LM Roman 12"/>
              </a:rPr>
              <a:t>Full systems lifecycle behind shared cluster execution.</a:t>
            </a:r>
          </a:p>
        </p:txBody>
      </p:sp>
      <p:sp>
        <p:nvSpPr>
          <p:cNvPr id="4" name="">
            <a:extLst xmlns:a="http://schemas.openxmlformats.org/drawingml/2006/main">
              <a:ext uri="{FF2B5EF4-FFF2-40B4-BE49-F238E27FC236}">
                <a16:creationId xmlns:a16="http://schemas.microsoft.com/office/drawing/2014/main" id="{8B3DED01-4BE0-432B-93D4-517B5474077E}"/>
              </a:ext>
            </a:extLst>
          </p:cNvPr>
          <p:cNvSpPr>
            <a:spLocks xmlns:a="http://schemas.openxmlformats.org/drawingml/2006/main" noGrp="1"/>
          </p:cNvSpPr>
          <p:nvPr/>
        </p:nvSpPr>
        <p:spPr>
          <a:xfrm xmlns:a="http://schemas.openxmlformats.org/drawingml/2006/main">
            <a:off x="666750" y="1261872"/>
            <a:ext cx="1143000" cy="47625"/>
          </a:xfrm>
          <a:prstGeom xmlns:a="http://schemas.openxmlformats.org/drawingml/2006/main" prst="rect">
            <a:avLst/>
          </a:prstGeom>
          <a:solidFill xmlns:a="http://schemas.openxmlformats.org/drawingml/2006/main">
            <a:srgbClr val="F3C43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45731255-FA3A-40F2-ACE8-06871A8EB5EF}"/>
              </a:ext>
            </a:extLst>
          </p:cNvPr>
          <p:cNvSpPr>
            <a:spLocks xmlns:a="http://schemas.openxmlformats.org/drawingml/2006/main" noGrp="1"/>
          </p:cNvSpPr>
          <p:nvPr/>
        </p:nvSpPr>
        <p:spPr>
          <a:xfrm xmlns:a="http://schemas.openxmlformats.org/drawingml/2006/main">
            <a:off x="590550" y="1600200"/>
            <a:ext cx="11010900" cy="4191000"/>
          </a:xfrm>
          <a:prstGeom xmlns:a="http://schemas.openxmlformats.org/drawingml/2006/main" prst="roundRect">
            <a:avLst>
              <a:gd name="adj" fmla="val 1591"/>
            </a:avLst>
          </a:prstGeom>
          <a:solidFill xmlns:a="http://schemas.openxmlformats.org/drawingml/2006/main">
            <a:srgbClr val="FFFFFF"/>
          </a:solidFill>
          <a:ln xmlns:a="http://schemas.openxmlformats.org/drawingml/2006/main" w="9525">
            <a:solidFill>
              <a:srgbClr val="D5DCE8"/>
            </a:solidFill>
            <a:prstDash val="solid"/>
          </a:ln>
        </p:spPr>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6576951de324bd7">
            <a:extLst>
              <a:ext uri="{96DAC541-7B7A-43D3-8B79-37D633B846F1}">
                <asvg:svgBlip xmlns:asvg="http://schemas.microsoft.com/office/drawing/2016/SVG/main" r:embed="R0bf38d712b384c68"/>
              </a:ext>
            </a:extLst>
          </a:blip>
          <a:stretch xmlns:a="http://schemas.openxmlformats.org/drawingml/2006/main"/>
        </p:blipFill>
        <p:spPr>
          <a:xfrm xmlns:a="http://schemas.openxmlformats.org/drawingml/2006/main">
            <a:off x="1580364" y="1790700"/>
            <a:ext cx="9031272" cy="37909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A88BD79-ED75-4B6A-BE5A-1266783B3759}"/>
              </a:ext>
            </a:extLst>
          </p:cNvPr>
          <p:cNvSpPr>
            <a:spLocks xmlns:a="http://schemas.openxmlformats.org/drawingml/2006/main" noGrp="1"/>
          </p:cNvSpPr>
          <p:nvPr/>
        </p:nvSpPr>
        <p:spPr>
          <a:xfrm xmlns:a="http://schemas.openxmlformats.org/drawingml/2006/main">
            <a:off x="666750" y="6296025"/>
            <a:ext cx="10858500" cy="9525"/>
          </a:xfrm>
          <a:prstGeom xmlns:a="http://schemas.openxmlformats.org/drawingml/2006/main" prst="rect">
            <a:avLst/>
          </a:prstGeom>
          <a:solidFill xmlns:a="http://schemas.openxmlformats.org/drawingml/2006/main">
            <a:srgbClr val="E6EBF3"/>
          </a:solidFill>
          <a:ln xmlns:a="http://schemas.openxmlformats.org/drawingml/2006/main" w="0">
            <a:solidFill>
              <a:srgbClr val="000000">
                <a:alpha val="0"/>
              </a:srgbClr>
            </a:solidFill>
            <a:prstDash val="solid"/>
          </a:ln>
        </p:spPr>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ba60f2a630d4edd"/>
          <a:stretch xmlns:a="http://schemas.openxmlformats.org/drawingml/2006/main"/>
        </p:blipFill>
        <p:spPr>
          <a:xfrm xmlns:a="http://schemas.openxmlformats.org/drawingml/2006/main">
            <a:off x="666977" y="6429375"/>
            <a:ext cx="269103" cy="2286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6A738A46-190F-4C04-9BF8-D57EC531103E}"/>
              </a:ext>
            </a:extLst>
          </p:cNvPr>
          <p:cNvSpPr>
            <a:spLocks xmlns:a="http://schemas.openxmlformats.org/drawingml/2006/main" noGrp="1"/>
          </p:cNvSpPr>
          <p:nvPr/>
        </p:nvSpPr>
        <p:spPr>
          <a:xfrm xmlns:a="http://schemas.openxmlformats.org/drawingml/2006/main">
            <a:off x="990600" y="6457950"/>
            <a:ext cx="400050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appendix: queue admission and dispatch</a:t>
            </a:r>
          </a:p>
        </p:txBody>
      </p:sp>
      <p:sp>
        <p:nvSpPr>
          <p:cNvPr id="10" name="">
            <a:extLst xmlns:a="http://schemas.openxmlformats.org/drawingml/2006/main">
              <a:ext uri="{FF2B5EF4-FFF2-40B4-BE49-F238E27FC236}">
                <a16:creationId xmlns:a16="http://schemas.microsoft.com/office/drawing/2014/main" id="{E661370B-C3A1-488D-B726-C9620E66157C}"/>
              </a:ext>
            </a:extLst>
          </p:cNvPr>
          <p:cNvSpPr>
            <a:spLocks xmlns:a="http://schemas.openxmlformats.org/drawingml/2006/main" noGrp="1"/>
          </p:cNvSpPr>
          <p:nvPr/>
        </p:nvSpPr>
        <p:spPr>
          <a:xfrm xmlns:a="http://schemas.openxmlformats.org/drawingml/2006/main">
            <a:off x="11049000" y="6457950"/>
            <a:ext cx="47625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17</a:t>
            </a:r>
          </a:p>
        </p:txBody>
      </p:sp>
    </p:spTree>
    <p:extLst>
      <p:ext uri="{BB962C8B-B14F-4D97-AF65-F5344CB8AC3E}">
        <p14:creationId xmlns:p14="http://schemas.microsoft.com/office/powerpoint/2010/main" val="599502558"/>
      </p:ext>
    </p:extLst>
  </p:cSld>
</p:sld>
</file>

<file path=ppt/slides/slide18.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226500C-1B68-4423-B6EF-0F795C3A048D}"/>
              </a:ext>
            </a:extLst>
          </p:cNvPr>
          <p:cNvSpPr>
            <a:spLocks xmlns:a="http://schemas.openxmlformats.org/drawingml/2006/main" noGrp="1"/>
          </p:cNvSpPr>
          <p:nvPr/>
        </p:nvSpPr>
        <p:spPr>
          <a:xfrm xmlns:a="http://schemas.openxmlformats.org/drawingml/2006/main">
            <a:off x="666750" y="342900"/>
            <a:ext cx="2857500" cy="1905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43A896"/>
                </a:solidFill>
                <a:latin typeface="LM Roman 12"/>
                <a:ea typeface="LM Roman 12"/>
                <a:cs typeface="LM Roman 12"/>
              </a:defRPr>
            </a:pPr>
            <a:r>
              <a:rPr sz="975" b="1">
                <a:solidFill>
                  <a:srgbClr val="43A896"/>
                </a:solidFill>
                <a:latin typeface="LM Roman 12"/>
                <a:ea typeface="LM Roman 12"/>
                <a:cs typeface="LM Roman 12"/>
              </a:rPr>
              <a:t>APPENDIX</a:t>
            </a:r>
          </a:p>
        </p:txBody>
      </p:sp>
      <p:sp>
        <p:nvSpPr>
          <p:cNvPr id="2" name="">
            <a:extLst xmlns:a="http://schemas.openxmlformats.org/drawingml/2006/main">
              <a:ext uri="{FF2B5EF4-FFF2-40B4-BE49-F238E27FC236}">
                <a16:creationId xmlns:a16="http://schemas.microsoft.com/office/drawing/2014/main" id="{E2EDCB25-D2F5-4972-BEEA-C3640C9355B3}"/>
              </a:ext>
            </a:extLst>
          </p:cNvPr>
          <p:cNvSpPr>
            <a:spLocks xmlns:a="http://schemas.openxmlformats.org/drawingml/2006/main" noGrp="1"/>
          </p:cNvSpPr>
          <p:nvPr/>
        </p:nvSpPr>
        <p:spPr>
          <a:xfrm xmlns:a="http://schemas.openxmlformats.org/drawingml/2006/main">
            <a:off x="666750" y="590550"/>
            <a:ext cx="8858250" cy="4572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71F46"/>
                </a:solidFill>
                <a:latin typeface="LM Roman 12"/>
                <a:ea typeface="LM Roman 12"/>
                <a:cs typeface="LM Roman 12"/>
              </a:defRPr>
            </a:pPr>
            <a:r>
              <a:rPr sz="2250" b="1">
                <a:solidFill>
                  <a:srgbClr val="071F46"/>
                </a:solidFill>
                <a:latin typeface="LM Roman 12"/>
                <a:ea typeface="LM Roman 12"/>
                <a:cs typeface="LM Roman 12"/>
              </a:rPr>
              <a:t>Run config and deploy config</a:t>
            </a:r>
          </a:p>
        </p:txBody>
      </p:sp>
      <p:sp>
        <p:nvSpPr>
          <p:cNvPr id="3" name="">
            <a:extLst xmlns:a="http://schemas.openxmlformats.org/drawingml/2006/main">
              <a:ext uri="{FF2B5EF4-FFF2-40B4-BE49-F238E27FC236}">
                <a16:creationId xmlns:a16="http://schemas.microsoft.com/office/drawing/2014/main" id="{45491D79-4397-4083-B33C-1B9D573E4F64}"/>
              </a:ext>
            </a:extLst>
          </p:cNvPr>
          <p:cNvSpPr>
            <a:spLocks xmlns:a="http://schemas.openxmlformats.org/drawingml/2006/main" noGrp="1"/>
          </p:cNvSpPr>
          <p:nvPr/>
        </p:nvSpPr>
        <p:spPr>
          <a:xfrm xmlns:a="http://schemas.openxmlformats.org/drawingml/2006/main">
            <a:off x="666750" y="1066800"/>
            <a:ext cx="7239000" cy="2476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B6472"/>
                </a:solidFill>
                <a:latin typeface="LM Roman 12"/>
                <a:ea typeface="LM Roman 12"/>
                <a:cs typeface="LM Roman 12"/>
              </a:defRPr>
            </a:pPr>
            <a:r>
              <a:rPr sz="1125" b="0">
                <a:solidFill>
                  <a:srgbClr val="5B6472"/>
                </a:solidFill>
                <a:latin typeface="LM Roman 12"/>
                <a:ea typeface="LM Roman 12"/>
                <a:cs typeface="LM Roman 12"/>
              </a:rPr>
              <a:t>The split prevents method choices from being mixed with execution conditions.</a:t>
            </a:r>
          </a:p>
        </p:txBody>
      </p:sp>
      <p:sp>
        <p:nvSpPr>
          <p:cNvPr id="4" name="">
            <a:extLst xmlns:a="http://schemas.openxmlformats.org/drawingml/2006/main">
              <a:ext uri="{FF2B5EF4-FFF2-40B4-BE49-F238E27FC236}">
                <a16:creationId xmlns:a16="http://schemas.microsoft.com/office/drawing/2014/main" id="{C0B114B5-C073-4750-9499-BA5DDD9B6624}"/>
              </a:ext>
            </a:extLst>
          </p:cNvPr>
          <p:cNvSpPr>
            <a:spLocks xmlns:a="http://schemas.openxmlformats.org/drawingml/2006/main" noGrp="1"/>
          </p:cNvSpPr>
          <p:nvPr/>
        </p:nvSpPr>
        <p:spPr>
          <a:xfrm xmlns:a="http://schemas.openxmlformats.org/drawingml/2006/main">
            <a:off x="666750" y="1261872"/>
            <a:ext cx="1143000" cy="47625"/>
          </a:xfrm>
          <a:prstGeom xmlns:a="http://schemas.openxmlformats.org/drawingml/2006/main" prst="rect">
            <a:avLst/>
          </a:prstGeom>
          <a:solidFill xmlns:a="http://schemas.openxmlformats.org/drawingml/2006/main">
            <a:srgbClr val="F3C43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74BFBF2F-9CD4-4050-88F9-24DDD6208A74}"/>
              </a:ext>
            </a:extLst>
          </p:cNvPr>
          <p:cNvSpPr>
            <a:spLocks xmlns:a="http://schemas.openxmlformats.org/drawingml/2006/main" noGrp="1"/>
          </p:cNvSpPr>
          <p:nvPr/>
        </p:nvSpPr>
        <p:spPr>
          <a:xfrm xmlns:a="http://schemas.openxmlformats.org/drawingml/2006/main">
            <a:off x="666750" y="1714500"/>
            <a:ext cx="4953000" cy="3581400"/>
          </a:xfrm>
          <a:prstGeom xmlns:a="http://schemas.openxmlformats.org/drawingml/2006/main" prst="roundRect">
            <a:avLst>
              <a:gd name="adj" fmla="val 1862"/>
            </a:avLst>
          </a:prstGeom>
          <a:solidFill xmlns:a="http://schemas.openxmlformats.org/drawingml/2006/main">
            <a:srgbClr val="0F172A"/>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2EEFB679-0A4D-4E7B-8A28-EC40C24246D1}"/>
              </a:ext>
            </a:extLst>
          </p:cNvPr>
          <p:cNvSpPr>
            <a:spLocks xmlns:a="http://schemas.openxmlformats.org/drawingml/2006/main" noGrp="1"/>
          </p:cNvSpPr>
          <p:nvPr/>
        </p:nvSpPr>
        <p:spPr>
          <a:xfrm xmlns:a="http://schemas.openxmlformats.org/drawingml/2006/main">
            <a:off x="914400" y="1943100"/>
            <a:ext cx="190500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FFFFF"/>
                </a:solidFill>
                <a:latin typeface="LM Roman 12"/>
                <a:ea typeface="LM Roman 12"/>
                <a:cs typeface="LM Roman 12"/>
              </a:defRPr>
            </a:pPr>
            <a:r>
              <a:rPr sz="1350" b="1">
                <a:solidFill>
                  <a:srgbClr val="FFFFFF"/>
                </a:solidFill>
                <a:latin typeface="LM Roman 12"/>
                <a:ea typeface="LM Roman 12"/>
                <a:cs typeface="LM Roman 12"/>
              </a:rPr>
              <a:t>run config</a:t>
            </a:r>
          </a:p>
        </p:txBody>
      </p:sp>
      <p:sp>
        <p:nvSpPr>
          <p:cNvPr id="7" name="">
            <a:extLst xmlns:a="http://schemas.openxmlformats.org/drawingml/2006/main">
              <a:ext uri="{FF2B5EF4-FFF2-40B4-BE49-F238E27FC236}">
                <a16:creationId xmlns:a16="http://schemas.microsoft.com/office/drawing/2014/main" id="{511011E3-17A7-4E5E-8F64-8529190D878D}"/>
              </a:ext>
            </a:extLst>
          </p:cNvPr>
          <p:cNvSpPr>
            <a:spLocks xmlns:a="http://schemas.openxmlformats.org/drawingml/2006/main" noGrp="1"/>
          </p:cNvSpPr>
          <p:nvPr/>
        </p:nvSpPr>
        <p:spPr>
          <a:xfrm xmlns:a="http://schemas.openxmlformats.org/drawingml/2006/main">
            <a:off x="914400" y="2362200"/>
            <a:ext cx="4191000" cy="24765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DBEAFE"/>
                </a:solidFill>
                <a:latin typeface="LM Roman 12"/>
                <a:ea typeface="LM Roman 12"/>
                <a:cs typeface="LM Roman 12"/>
              </a:defRPr>
            </a:pPr>
            <a:r>
              <a:rPr sz="1200" b="0">
                <a:solidFill>
                  <a:srgbClr val="DBEAFE"/>
                </a:solidFill>
                <a:latin typeface="LM Roman 12"/>
                <a:ea typeface="LM Roman 12"/>
                <a:cs typeface="LM Roman 12"/>
              </a:rPr>
              <a:t>[run]</a:t>
            </a:r>
          </a:p>
          <a:p xmlns:a="http://schemas.openxmlformats.org/drawingml/2006/main">
            <a:pPr algn="l">
              <a:defRPr sz="1200" b="0">
                <a:solidFill>
                  <a:srgbClr val="DBEAFE"/>
                </a:solidFill>
                <a:latin typeface="LM Roman 12"/>
                <a:ea typeface="LM Roman 12"/>
                <a:cs typeface="LM Roman 12"/>
              </a:defRPr>
            </a:pPr>
            <a:r>
              <a:rPr sz="1200" b="0">
                <a:solidFill>
                  <a:srgbClr val="DBEAFE"/>
                </a:solidFill>
                <a:latin typeface="LM Roman 12"/>
                <a:ea typeface="LM Roman 12"/>
                <a:cs typeface="LM Roman 12"/>
              </a:rPr>
              <a:t>method = "fedavg"</a:t>
            </a:r>
          </a:p>
          <a:p xmlns:a="http://schemas.openxmlformats.org/drawingml/2006/main">
            <a:pPr algn="l">
              <a:defRPr sz="1200" b="0">
                <a:solidFill>
                  <a:srgbClr val="DBEAFE"/>
                </a:solidFill>
                <a:latin typeface="LM Roman 12"/>
                <a:ea typeface="LM Roman 12"/>
                <a:cs typeface="LM Roman 12"/>
              </a:defRPr>
            </a:pPr>
            <a:r>
              <a:rPr sz="1200" b="0">
                <a:solidFill>
                  <a:srgbClr val="DBEAFE"/>
                </a:solidFill>
                <a:latin typeface="LM Roman 12"/>
                <a:ea typeface="LM Roman 12"/>
                <a:cs typeface="LM Roman 12"/>
              </a:rPr>
              <a:t>task = "fashion_mnist"</a:t>
            </a:r>
          </a:p>
          <a:p xmlns:a="http://schemas.openxmlformats.org/drawingml/2006/main">
            <a:pPr algn="l">
              <a:defRPr sz="1200" b="0">
                <a:solidFill>
                  <a:srgbClr val="DBEAFE"/>
                </a:solidFill>
                <a:latin typeface="LM Roman 12"/>
                <a:ea typeface="LM Roman 12"/>
                <a:cs typeface="LM Roman 12"/>
              </a:defRPr>
            </a:pPr>
            <a:r>
              <a:rPr sz="1200" b="0">
                <a:solidFill>
                  <a:srgbClr val="DBEAFE"/>
                </a:solidFill>
                <a:latin typeface="LM Roman 12"/>
                <a:ea typeface="LM Roman 12"/>
                <a:cs typeface="LM Roman 12"/>
              </a:rPr>
              <a:t>seed = 1337</a:t>
            </a:r>
          </a:p>
          <a:p xmlns:a="http://schemas.openxmlformats.org/drawingml/2006/main">
            <a:r>
              <a:t/>
            </a:r>
          </a:p>
          <a:p xmlns:a="http://schemas.openxmlformats.org/drawingml/2006/main">
            <a:pPr algn="l">
              <a:defRPr sz="1200" b="0">
                <a:solidFill>
                  <a:srgbClr val="DBEAFE"/>
                </a:solidFill>
                <a:latin typeface="LM Roman 12"/>
                <a:ea typeface="LM Roman 12"/>
                <a:cs typeface="LM Roman 12"/>
              </a:defRPr>
            </a:pPr>
            <a:r>
              <a:rPr sz="1200" b="0">
                <a:solidFill>
                  <a:srgbClr val="DBEAFE"/>
                </a:solidFill>
                <a:latin typeface="LM Roman 12"/>
                <a:ea typeface="LM Roman 12"/>
                <a:cs typeface="LM Roman 12"/>
              </a:rPr>
              <a:t>[server]</a:t>
            </a:r>
          </a:p>
          <a:p xmlns:a="http://schemas.openxmlformats.org/drawingml/2006/main">
            <a:pPr algn="l">
              <a:defRPr sz="1200" b="0">
                <a:solidFill>
                  <a:srgbClr val="DBEAFE"/>
                </a:solidFill>
                <a:latin typeface="LM Roman 12"/>
                <a:ea typeface="LM Roman 12"/>
                <a:cs typeface="LM Roman 12"/>
              </a:defRPr>
            </a:pPr>
            <a:r>
              <a:rPr sz="1200" b="0">
                <a:solidFill>
                  <a:srgbClr val="DBEAFE"/>
                </a:solidFill>
                <a:latin typeface="LM Roman 12"/>
                <a:ea typeface="LM Roman 12"/>
                <a:cs typeface="LM Roman 12"/>
              </a:rPr>
              <a:t>num-server-rounds = 20</a:t>
            </a:r>
          </a:p>
          <a:p xmlns:a="http://schemas.openxmlformats.org/drawingml/2006/main">
            <a:r>
              <a:t/>
            </a:r>
          </a:p>
          <a:p xmlns:a="http://schemas.openxmlformats.org/drawingml/2006/main">
            <a:pPr algn="l">
              <a:defRPr sz="1200" b="0">
                <a:solidFill>
                  <a:srgbClr val="DBEAFE"/>
                </a:solidFill>
                <a:latin typeface="LM Roman 12"/>
                <a:ea typeface="LM Roman 12"/>
                <a:cs typeface="LM Roman 12"/>
              </a:defRPr>
            </a:pPr>
            <a:r>
              <a:rPr sz="1200" b="0">
                <a:solidFill>
                  <a:srgbClr val="DBEAFE"/>
                </a:solidFill>
                <a:latin typeface="LM Roman 12"/>
                <a:ea typeface="LM Roman 12"/>
                <a:cs typeface="LM Roman 12"/>
              </a:rPr>
              <a:t>[client]</a:t>
            </a:r>
          </a:p>
          <a:p xmlns:a="http://schemas.openxmlformats.org/drawingml/2006/main">
            <a:pPr algn="l">
              <a:defRPr sz="1200" b="0">
                <a:solidFill>
                  <a:srgbClr val="DBEAFE"/>
                </a:solidFill>
                <a:latin typeface="LM Roman 12"/>
                <a:ea typeface="LM Roman 12"/>
                <a:cs typeface="LM Roman 12"/>
              </a:defRPr>
            </a:pPr>
            <a:r>
              <a:rPr sz="1200" b="0">
                <a:solidFill>
                  <a:srgbClr val="DBEAFE"/>
                </a:solidFill>
                <a:latin typeface="LM Roman 12"/>
                <a:ea typeface="LM Roman 12"/>
                <a:cs typeface="LM Roman 12"/>
              </a:rPr>
              <a:t>local-epochs = 1</a:t>
            </a:r>
          </a:p>
          <a:p xmlns:a="http://schemas.openxmlformats.org/drawingml/2006/main">
            <a:pPr algn="l">
              <a:defRPr sz="1200" b="0">
                <a:solidFill>
                  <a:srgbClr val="DBEAFE"/>
                </a:solidFill>
                <a:latin typeface="LM Roman 12"/>
                <a:ea typeface="LM Roman 12"/>
                <a:cs typeface="LM Roman 12"/>
              </a:defRPr>
            </a:pPr>
            <a:r>
              <a:rPr sz="1200" b="0">
                <a:solidFill>
                  <a:srgbClr val="DBEAFE"/>
                </a:solidFill>
                <a:latin typeface="LM Roman 12"/>
                <a:ea typeface="LM Roman 12"/>
                <a:cs typeface="LM Roman 12"/>
              </a:rPr>
              <a:t>learning-rate = 0.01</a:t>
            </a:r>
          </a:p>
        </p:txBody>
      </p:sp>
      <p:sp>
        <p:nvSpPr>
          <p:cNvPr id="8" name="">
            <a:extLst xmlns:a="http://schemas.openxmlformats.org/drawingml/2006/main">
              <a:ext uri="{FF2B5EF4-FFF2-40B4-BE49-F238E27FC236}">
                <a16:creationId xmlns:a16="http://schemas.microsoft.com/office/drawing/2014/main" id="{63A5B97F-E008-4817-99A4-9B2ED098A970}"/>
              </a:ext>
            </a:extLst>
          </p:cNvPr>
          <p:cNvSpPr>
            <a:spLocks xmlns:a="http://schemas.openxmlformats.org/drawingml/2006/main" noGrp="1"/>
          </p:cNvSpPr>
          <p:nvPr/>
        </p:nvSpPr>
        <p:spPr>
          <a:xfrm xmlns:a="http://schemas.openxmlformats.org/drawingml/2006/main">
            <a:off x="6572250" y="1714500"/>
            <a:ext cx="4953000" cy="3581400"/>
          </a:xfrm>
          <a:prstGeom xmlns:a="http://schemas.openxmlformats.org/drawingml/2006/main" prst="roundRect">
            <a:avLst>
              <a:gd name="adj" fmla="val 1862"/>
            </a:avLst>
          </a:prstGeom>
          <a:solidFill xmlns:a="http://schemas.openxmlformats.org/drawingml/2006/main">
            <a:srgbClr val="0F172A"/>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9D2F919D-02F2-479E-A901-F158CB8BC3C5}"/>
              </a:ext>
            </a:extLst>
          </p:cNvPr>
          <p:cNvSpPr>
            <a:spLocks xmlns:a="http://schemas.openxmlformats.org/drawingml/2006/main" noGrp="1"/>
          </p:cNvSpPr>
          <p:nvPr/>
        </p:nvSpPr>
        <p:spPr>
          <a:xfrm xmlns:a="http://schemas.openxmlformats.org/drawingml/2006/main">
            <a:off x="6819900" y="1943100"/>
            <a:ext cx="209550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FFFFF"/>
                </a:solidFill>
                <a:latin typeface="LM Roman 12"/>
                <a:ea typeface="LM Roman 12"/>
                <a:cs typeface="LM Roman 12"/>
              </a:defRPr>
            </a:pPr>
            <a:r>
              <a:rPr sz="1350" b="1">
                <a:solidFill>
                  <a:srgbClr val="FFFFFF"/>
                </a:solidFill>
                <a:latin typeface="LM Roman 12"/>
                <a:ea typeface="LM Roman 12"/>
                <a:cs typeface="LM Roman 12"/>
              </a:rPr>
              <a:t>deploy config</a:t>
            </a:r>
          </a:p>
        </p:txBody>
      </p:sp>
      <p:sp>
        <p:nvSpPr>
          <p:cNvPr id="10" name="">
            <a:extLst xmlns:a="http://schemas.openxmlformats.org/drawingml/2006/main">
              <a:ext uri="{FF2B5EF4-FFF2-40B4-BE49-F238E27FC236}">
                <a16:creationId xmlns:a16="http://schemas.microsoft.com/office/drawing/2014/main" id="{5E3A72DC-5404-4D02-B361-DA5CE53DD6AB}"/>
              </a:ext>
            </a:extLst>
          </p:cNvPr>
          <p:cNvSpPr>
            <a:spLocks xmlns:a="http://schemas.openxmlformats.org/drawingml/2006/main" noGrp="1"/>
          </p:cNvSpPr>
          <p:nvPr/>
        </p:nvSpPr>
        <p:spPr>
          <a:xfrm xmlns:a="http://schemas.openxmlformats.org/drawingml/2006/main">
            <a:off x="6819900" y="2362200"/>
            <a:ext cx="4191000" cy="24765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DBEAFE"/>
                </a:solidFill>
                <a:latin typeface="LM Roman 12"/>
                <a:ea typeface="LM Roman 12"/>
                <a:cs typeface="LM Roman 12"/>
              </a:defRPr>
            </a:pPr>
            <a:r>
              <a:rPr sz="1200" b="0">
                <a:solidFill>
                  <a:srgbClr val="DBEAFE"/>
                </a:solidFill>
                <a:latin typeface="LM Roman 12"/>
                <a:ea typeface="LM Roman 12"/>
                <a:cs typeface="LM Roman 12"/>
              </a:rPr>
              <a:t>deploy:</a:t>
            </a:r>
          </a:p>
          <a:p xmlns:a="http://schemas.openxmlformats.org/drawingml/2006/main">
            <a:pPr algn="l">
              <a:defRPr sz="1200" b="0">
                <a:solidFill>
                  <a:srgbClr val="DBEAFE"/>
                </a:solidFill>
                <a:latin typeface="LM Roman 12"/>
                <a:ea typeface="LM Roman 12"/>
                <a:cs typeface="LM Roman 12"/>
              </a:defRPr>
            </a:pPr>
            <a:r>
              <a:rPr sz="1200" b="0">
                <a:solidFill>
                  <a:srgbClr val="DBEAFE"/>
                </a:solidFill>
                <a:latin typeface="LM Roman 12"/>
                <a:ea typeface="LM Roman 12"/>
                <a:cs typeface="LM Roman 12"/>
              </a:rPr>
              <a:t>  supernodes:</a:t>
            </a:r>
          </a:p>
          <a:p xmlns:a="http://schemas.openxmlformats.org/drawingml/2006/main">
            <a:pPr algn="l">
              <a:defRPr sz="1200" b="0">
                <a:solidFill>
                  <a:srgbClr val="DBEAFE"/>
                </a:solidFill>
                <a:latin typeface="LM Roman 12"/>
                <a:ea typeface="LM Roman 12"/>
                <a:cs typeface="LM Roman 12"/>
              </a:defRPr>
            </a:pPr>
            <a:r>
              <a:rPr sz="1200" b="0">
                <a:solidFill>
                  <a:srgbClr val="DBEAFE"/>
                </a:solidFill>
                <a:latin typeface="LM Roman 12"/>
                <a:ea typeface="LM Roman 12"/>
                <a:cs typeface="LM Roman 12"/>
              </a:rPr>
              <a:t>    rpi4: 10</a:t>
            </a:r>
          </a:p>
          <a:p xmlns:a="http://schemas.openxmlformats.org/drawingml/2006/main">
            <a:pPr algn="l">
              <a:defRPr sz="1200" b="0">
                <a:solidFill>
                  <a:srgbClr val="DBEAFE"/>
                </a:solidFill>
                <a:latin typeface="LM Roman 12"/>
                <a:ea typeface="LM Roman 12"/>
                <a:cs typeface="LM Roman 12"/>
              </a:defRPr>
            </a:pPr>
            <a:r>
              <a:rPr sz="1200" b="0">
                <a:solidFill>
                  <a:srgbClr val="DBEAFE"/>
                </a:solidFill>
                <a:latin typeface="LM Roman 12"/>
                <a:ea typeface="LM Roman 12"/>
                <a:cs typeface="LM Roman 12"/>
              </a:rPr>
              <a:t>    rpi5: 10</a:t>
            </a:r>
          </a:p>
          <a:p xmlns:a="http://schemas.openxmlformats.org/drawingml/2006/main">
            <a:pPr algn="l">
              <a:defRPr sz="1200" b="0">
                <a:solidFill>
                  <a:srgbClr val="DBEAFE"/>
                </a:solidFill>
                <a:latin typeface="LM Roman 12"/>
                <a:ea typeface="LM Roman 12"/>
                <a:cs typeface="LM Roman 12"/>
              </a:defRPr>
            </a:pPr>
            <a:r>
              <a:rPr sz="1200" b="0">
                <a:solidFill>
                  <a:srgbClr val="DBEAFE"/>
                </a:solidFill>
                <a:latin typeface="LM Roman 12"/>
                <a:ea typeface="LM Roman 12"/>
                <a:cs typeface="LM Roman 12"/>
              </a:rPr>
              <a:t>  placement:</a:t>
            </a:r>
          </a:p>
          <a:p xmlns:a="http://schemas.openxmlformats.org/drawingml/2006/main">
            <a:pPr algn="l">
              <a:defRPr sz="1200" b="0">
                <a:solidFill>
                  <a:srgbClr val="DBEAFE"/>
                </a:solidFill>
                <a:latin typeface="LM Roman 12"/>
                <a:ea typeface="LM Roman 12"/>
                <a:cs typeface="LM Roman 12"/>
              </a:defRPr>
            </a:pPr>
            <a:r>
              <a:rPr sz="1200" b="0">
                <a:solidFill>
                  <a:srgbClr val="DBEAFE"/>
                </a:solidFill>
                <a:latin typeface="LM Roman 12"/>
                <a:ea typeface="LM Roman 12"/>
                <a:cs typeface="LM Roman 12"/>
              </a:rPr>
              <a:t>    spread_across_hosts: true</a:t>
            </a:r>
          </a:p>
          <a:p xmlns:a="http://schemas.openxmlformats.org/drawingml/2006/main">
            <a:pPr algn="l">
              <a:defRPr sz="1200" b="0">
                <a:solidFill>
                  <a:srgbClr val="DBEAFE"/>
                </a:solidFill>
                <a:latin typeface="LM Roman 12"/>
                <a:ea typeface="LM Roman 12"/>
                <a:cs typeface="LM Roman 12"/>
              </a:defRPr>
            </a:pPr>
            <a:r>
              <a:rPr sz="1200" b="0">
                <a:solidFill>
                  <a:srgbClr val="DBEAFE"/>
                </a:solidFill>
                <a:latin typeface="LM Roman 12"/>
                <a:ea typeface="LM Roman 12"/>
                <a:cs typeface="LM Roman 12"/>
              </a:rPr>
              <a:t>  network:</a:t>
            </a:r>
          </a:p>
          <a:p xmlns:a="http://schemas.openxmlformats.org/drawingml/2006/main">
            <a:pPr algn="l">
              <a:defRPr sz="1200" b="0">
                <a:solidFill>
                  <a:srgbClr val="DBEAFE"/>
                </a:solidFill>
                <a:latin typeface="LM Roman 12"/>
                <a:ea typeface="LM Roman 12"/>
                <a:cs typeface="LM Roman 12"/>
              </a:defRPr>
            </a:pPr>
            <a:r>
              <a:rPr sz="1200" b="0">
                <a:solidFill>
                  <a:srgbClr val="DBEAFE"/>
                </a:solidFill>
                <a:latin typeface="LM Roman 12"/>
                <a:ea typeface="LM Roman 12"/>
                <a:cs typeface="LM Roman 12"/>
              </a:rPr>
              <a:t>    default_profile: none</a:t>
            </a:r>
          </a:p>
          <a:p xmlns:a="http://schemas.openxmlformats.org/drawingml/2006/main">
            <a:pPr algn="l">
              <a:defRPr sz="1200" b="0">
                <a:solidFill>
                  <a:srgbClr val="DBEAFE"/>
                </a:solidFill>
                <a:latin typeface="LM Roman 12"/>
                <a:ea typeface="LM Roman 12"/>
                <a:cs typeface="LM Roman 12"/>
              </a:defRPr>
            </a:pPr>
            <a:r>
              <a:rPr sz="1200" b="0">
                <a:solidFill>
                  <a:srgbClr val="DBEAFE"/>
                </a:solidFill>
                <a:latin typeface="LM Roman 12"/>
                <a:ea typeface="LM Roman 12"/>
                <a:cs typeface="LM Roman 12"/>
              </a:rPr>
              <a:t>    profiles:</a:t>
            </a:r>
          </a:p>
          <a:p xmlns:a="http://schemas.openxmlformats.org/drawingml/2006/main">
            <a:pPr algn="l">
              <a:defRPr sz="1200" b="0">
                <a:solidFill>
                  <a:srgbClr val="DBEAFE"/>
                </a:solidFill>
                <a:latin typeface="LM Roman 12"/>
                <a:ea typeface="LM Roman 12"/>
                <a:cs typeface="LM Roman 12"/>
              </a:defRPr>
            </a:pPr>
            <a:r>
              <a:rPr sz="1200" b="0">
                <a:solidFill>
                  <a:srgbClr val="DBEAFE"/>
                </a:solidFill>
                <a:latin typeface="LM Roman 12"/>
                <a:ea typeface="LM Roman 12"/>
                <a:cs typeface="LM Roman 12"/>
              </a:rPr>
              <a:t>      mild:</a:t>
            </a:r>
          </a:p>
          <a:p xmlns:a="http://schemas.openxmlformats.org/drawingml/2006/main">
            <a:pPr algn="l">
              <a:defRPr sz="1200" b="0">
                <a:solidFill>
                  <a:srgbClr val="DBEAFE"/>
                </a:solidFill>
                <a:latin typeface="LM Roman 12"/>
                <a:ea typeface="LM Roman 12"/>
                <a:cs typeface="LM Roman 12"/>
              </a:defRPr>
            </a:pPr>
            <a:r>
              <a:rPr sz="1200" b="0">
                <a:solidFill>
                  <a:srgbClr val="DBEAFE"/>
                </a:solidFill>
                <a:latin typeface="LM Roman 12"/>
                <a:ea typeface="LM Roman 12"/>
                <a:cs typeface="LM Roman 12"/>
              </a:rPr>
              <a:t>        delay_ms: 20</a:t>
            </a:r>
          </a:p>
          <a:p xmlns:a="http://schemas.openxmlformats.org/drawingml/2006/main">
            <a:pPr algn="l">
              <a:defRPr sz="1200" b="0">
                <a:solidFill>
                  <a:srgbClr val="DBEAFE"/>
                </a:solidFill>
                <a:latin typeface="LM Roman 12"/>
                <a:ea typeface="LM Roman 12"/>
                <a:cs typeface="LM Roman 12"/>
              </a:defRPr>
            </a:pPr>
            <a:r>
              <a:rPr sz="1200" b="0">
                <a:solidFill>
                  <a:srgbClr val="DBEAFE"/>
                </a:solidFill>
                <a:latin typeface="LM Roman 12"/>
                <a:ea typeface="LM Roman 12"/>
                <a:cs typeface="LM Roman 12"/>
              </a:rPr>
              <a:t>        jitter_ms: 5</a:t>
            </a:r>
          </a:p>
        </p:txBody>
      </p:sp>
      <p:sp>
        <p:nvSpPr>
          <p:cNvPr id="11" name="">
            <a:extLst xmlns:a="http://schemas.openxmlformats.org/drawingml/2006/main">
              <a:ext uri="{FF2B5EF4-FFF2-40B4-BE49-F238E27FC236}">
                <a16:creationId xmlns:a16="http://schemas.microsoft.com/office/drawing/2014/main" id="{D53E029F-546E-4AF5-8DA8-F98D479940BE}"/>
              </a:ext>
            </a:extLst>
          </p:cNvPr>
          <p:cNvSpPr>
            <a:spLocks xmlns:a="http://schemas.openxmlformats.org/drawingml/2006/main" noGrp="1"/>
          </p:cNvSpPr>
          <p:nvPr/>
        </p:nvSpPr>
        <p:spPr>
          <a:xfrm xmlns:a="http://schemas.openxmlformats.org/drawingml/2006/main">
            <a:off x="666750" y="6296025"/>
            <a:ext cx="10858500" cy="9525"/>
          </a:xfrm>
          <a:prstGeom xmlns:a="http://schemas.openxmlformats.org/drawingml/2006/main" prst="rect">
            <a:avLst/>
          </a:prstGeom>
          <a:solidFill xmlns:a="http://schemas.openxmlformats.org/drawingml/2006/main">
            <a:srgbClr val="E6EBF3"/>
          </a:solidFill>
          <a:ln xmlns:a="http://schemas.openxmlformats.org/drawingml/2006/main" w="0">
            <a:solidFill>
              <a:srgbClr val="000000">
                <a:alpha val="0"/>
              </a:srgbClr>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a694e14b905461c"/>
          <a:stretch xmlns:a="http://schemas.openxmlformats.org/drawingml/2006/main"/>
        </p:blipFill>
        <p:spPr>
          <a:xfrm xmlns:a="http://schemas.openxmlformats.org/drawingml/2006/main">
            <a:off x="666977" y="6429375"/>
            <a:ext cx="269103" cy="2286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0A2A318A-9E92-4D6C-89B1-4424BE74AED5}"/>
              </a:ext>
            </a:extLst>
          </p:cNvPr>
          <p:cNvSpPr>
            <a:spLocks xmlns:a="http://schemas.openxmlformats.org/drawingml/2006/main" noGrp="1"/>
          </p:cNvSpPr>
          <p:nvPr/>
        </p:nvSpPr>
        <p:spPr>
          <a:xfrm xmlns:a="http://schemas.openxmlformats.org/drawingml/2006/main">
            <a:off x="990600" y="6457950"/>
            <a:ext cx="400050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appendix: configuration surfaces</a:t>
            </a:r>
          </a:p>
        </p:txBody>
      </p:sp>
      <p:sp>
        <p:nvSpPr>
          <p:cNvPr id="14" name="">
            <a:extLst xmlns:a="http://schemas.openxmlformats.org/drawingml/2006/main">
              <a:ext uri="{FF2B5EF4-FFF2-40B4-BE49-F238E27FC236}">
                <a16:creationId xmlns:a16="http://schemas.microsoft.com/office/drawing/2014/main" id="{5A14A9E1-9861-4F6D-8B98-54710C65399E}"/>
              </a:ext>
            </a:extLst>
          </p:cNvPr>
          <p:cNvSpPr>
            <a:spLocks xmlns:a="http://schemas.openxmlformats.org/drawingml/2006/main" noGrp="1"/>
          </p:cNvSpPr>
          <p:nvPr/>
        </p:nvSpPr>
        <p:spPr>
          <a:xfrm xmlns:a="http://schemas.openxmlformats.org/drawingml/2006/main">
            <a:off x="11049000" y="6457950"/>
            <a:ext cx="47625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18</a:t>
            </a:r>
          </a:p>
        </p:txBody>
      </p:sp>
    </p:spTree>
    <p:extLst>
      <p:ext uri="{BB962C8B-B14F-4D97-AF65-F5344CB8AC3E}">
        <p14:creationId xmlns:p14="http://schemas.microsoft.com/office/powerpoint/2010/main" val="2078648679"/>
      </p:ext>
    </p:extLst>
  </p:cSld>
</p:sld>
</file>

<file path=ppt/slides/slide19.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0991130-E545-4CE4-916A-60832A52CCA0}"/>
              </a:ext>
            </a:extLst>
          </p:cNvPr>
          <p:cNvSpPr>
            <a:spLocks xmlns:a="http://schemas.openxmlformats.org/drawingml/2006/main" noGrp="1"/>
          </p:cNvSpPr>
          <p:nvPr/>
        </p:nvSpPr>
        <p:spPr>
          <a:xfrm xmlns:a="http://schemas.openxmlformats.org/drawingml/2006/main">
            <a:off x="666750" y="342900"/>
            <a:ext cx="2857500" cy="1905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43A896"/>
                </a:solidFill>
                <a:latin typeface="LM Roman 12"/>
                <a:ea typeface="LM Roman 12"/>
                <a:cs typeface="LM Roman 12"/>
              </a:defRPr>
            </a:pPr>
            <a:r>
              <a:rPr sz="975" b="1">
                <a:solidFill>
                  <a:srgbClr val="43A896"/>
                </a:solidFill>
                <a:latin typeface="LM Roman 12"/>
                <a:ea typeface="LM Roman 12"/>
                <a:cs typeface="LM Roman 12"/>
              </a:rPr>
              <a:t>APPENDIX</a:t>
            </a:r>
          </a:p>
        </p:txBody>
      </p:sp>
      <p:sp>
        <p:nvSpPr>
          <p:cNvPr id="2" name="">
            <a:extLst xmlns:a="http://schemas.openxmlformats.org/drawingml/2006/main">
              <a:ext uri="{FF2B5EF4-FFF2-40B4-BE49-F238E27FC236}">
                <a16:creationId xmlns:a16="http://schemas.microsoft.com/office/drawing/2014/main" id="{CA5A7A82-84EA-473B-978D-43AB88C968FF}"/>
              </a:ext>
            </a:extLst>
          </p:cNvPr>
          <p:cNvSpPr>
            <a:spLocks xmlns:a="http://schemas.openxmlformats.org/drawingml/2006/main" noGrp="1"/>
          </p:cNvSpPr>
          <p:nvPr/>
        </p:nvSpPr>
        <p:spPr>
          <a:xfrm xmlns:a="http://schemas.openxmlformats.org/drawingml/2006/main">
            <a:off x="666750" y="590550"/>
            <a:ext cx="8858250" cy="4572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71F46"/>
                </a:solidFill>
                <a:latin typeface="LM Roman 12"/>
                <a:ea typeface="LM Roman 12"/>
                <a:cs typeface="LM Roman 12"/>
              </a:defRPr>
            </a:pPr>
            <a:r>
              <a:rPr sz="2250" b="1">
                <a:solidFill>
                  <a:srgbClr val="071F46"/>
                </a:solidFill>
                <a:latin typeface="LM Roman 12"/>
                <a:ea typeface="LM Roman 12"/>
                <a:cs typeface="LM Roman 12"/>
              </a:rPr>
              <a:t>Typed client placement</a:t>
            </a:r>
          </a:p>
        </p:txBody>
      </p:sp>
      <p:sp>
        <p:nvSpPr>
          <p:cNvPr id="3" name="">
            <a:extLst xmlns:a="http://schemas.openxmlformats.org/drawingml/2006/main">
              <a:ext uri="{FF2B5EF4-FFF2-40B4-BE49-F238E27FC236}">
                <a16:creationId xmlns:a16="http://schemas.microsoft.com/office/drawing/2014/main" id="{A60C3297-DDB1-4701-A565-6DFD0986E5DC}"/>
              </a:ext>
            </a:extLst>
          </p:cNvPr>
          <p:cNvSpPr>
            <a:spLocks xmlns:a="http://schemas.openxmlformats.org/drawingml/2006/main" noGrp="1"/>
          </p:cNvSpPr>
          <p:nvPr/>
        </p:nvSpPr>
        <p:spPr>
          <a:xfrm xmlns:a="http://schemas.openxmlformats.org/drawingml/2006/main">
            <a:off x="666750" y="1066800"/>
            <a:ext cx="7239000" cy="2476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B6472"/>
                </a:solidFill>
                <a:latin typeface="LM Roman 12"/>
                <a:ea typeface="LM Roman 12"/>
                <a:cs typeface="LM Roman 12"/>
              </a:defRPr>
            </a:pPr>
            <a:r>
              <a:rPr sz="1125" b="0">
                <a:solidFill>
                  <a:srgbClr val="5B6472"/>
                </a:solidFill>
                <a:latin typeface="LM Roman 12"/>
                <a:ea typeface="LM Roman 12"/>
                <a:cs typeface="LM Roman 12"/>
              </a:rPr>
              <a:t>Typed logical clients are tied back to device-labelled metrics.</a:t>
            </a:r>
          </a:p>
        </p:txBody>
      </p:sp>
      <p:sp>
        <p:nvSpPr>
          <p:cNvPr id="4" name="">
            <a:extLst xmlns:a="http://schemas.openxmlformats.org/drawingml/2006/main">
              <a:ext uri="{FF2B5EF4-FFF2-40B4-BE49-F238E27FC236}">
                <a16:creationId xmlns:a16="http://schemas.microsoft.com/office/drawing/2014/main" id="{87F31063-5F28-4068-AB26-11B96E8CA071}"/>
              </a:ext>
            </a:extLst>
          </p:cNvPr>
          <p:cNvSpPr>
            <a:spLocks xmlns:a="http://schemas.openxmlformats.org/drawingml/2006/main" noGrp="1"/>
          </p:cNvSpPr>
          <p:nvPr/>
        </p:nvSpPr>
        <p:spPr>
          <a:xfrm xmlns:a="http://schemas.openxmlformats.org/drawingml/2006/main">
            <a:off x="666750" y="1261872"/>
            <a:ext cx="1143000" cy="47625"/>
          </a:xfrm>
          <a:prstGeom xmlns:a="http://schemas.openxmlformats.org/drawingml/2006/main" prst="rect">
            <a:avLst/>
          </a:prstGeom>
          <a:solidFill xmlns:a="http://schemas.openxmlformats.org/drawingml/2006/main">
            <a:srgbClr val="F3C43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169F2479-1313-4D57-B50A-43213C1BBE76}"/>
              </a:ext>
            </a:extLst>
          </p:cNvPr>
          <p:cNvSpPr>
            <a:spLocks xmlns:a="http://schemas.openxmlformats.org/drawingml/2006/main" noGrp="1"/>
          </p:cNvSpPr>
          <p:nvPr/>
        </p:nvSpPr>
        <p:spPr>
          <a:xfrm xmlns:a="http://schemas.openxmlformats.org/drawingml/2006/main">
            <a:off x="666750" y="1600200"/>
            <a:ext cx="10858500" cy="4191000"/>
          </a:xfrm>
          <a:prstGeom xmlns:a="http://schemas.openxmlformats.org/drawingml/2006/main" prst="roundRect">
            <a:avLst>
              <a:gd name="adj" fmla="val 1591"/>
            </a:avLst>
          </a:prstGeom>
          <a:solidFill xmlns:a="http://schemas.openxmlformats.org/drawingml/2006/main">
            <a:srgbClr val="FFFFFF"/>
          </a:solidFill>
          <a:ln xmlns:a="http://schemas.openxmlformats.org/drawingml/2006/main" w="9525">
            <a:solidFill>
              <a:srgbClr val="D5DCE8"/>
            </a:solidFill>
            <a:prstDash val="solid"/>
          </a:ln>
        </p:spPr>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ad45cc074fdb429e">
            <a:extLst>
              <a:ext uri="{96DAC541-7B7A-43D3-8B79-37D633B846F1}">
                <asvg:svgBlip xmlns:asvg="http://schemas.microsoft.com/office/drawing/2016/SVG/main" r:embed="R2c28c17af1764fab"/>
              </a:ext>
            </a:extLst>
          </a:blip>
          <a:stretch xmlns:a="http://schemas.openxmlformats.org/drawingml/2006/main"/>
        </p:blipFill>
        <p:spPr>
          <a:xfrm xmlns:a="http://schemas.openxmlformats.org/drawingml/2006/main">
            <a:off x="914400" y="1796814"/>
            <a:ext cx="10363200" cy="3759673"/>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C15BD8F-6F2D-4625-8466-3B31B4451E3E}"/>
              </a:ext>
            </a:extLst>
          </p:cNvPr>
          <p:cNvSpPr>
            <a:spLocks xmlns:a="http://schemas.openxmlformats.org/drawingml/2006/main" noGrp="1"/>
          </p:cNvSpPr>
          <p:nvPr/>
        </p:nvSpPr>
        <p:spPr>
          <a:xfrm xmlns:a="http://schemas.openxmlformats.org/drawingml/2006/main">
            <a:off x="666750" y="6296025"/>
            <a:ext cx="10858500" cy="9525"/>
          </a:xfrm>
          <a:prstGeom xmlns:a="http://schemas.openxmlformats.org/drawingml/2006/main" prst="rect">
            <a:avLst/>
          </a:prstGeom>
          <a:solidFill xmlns:a="http://schemas.openxmlformats.org/drawingml/2006/main">
            <a:srgbClr val="E6EBF3"/>
          </a:solidFill>
          <a:ln xmlns:a="http://schemas.openxmlformats.org/drawingml/2006/main" w="0">
            <a:solidFill>
              <a:srgbClr val="000000">
                <a:alpha val="0"/>
              </a:srgbClr>
            </a:solidFill>
            <a:prstDash val="solid"/>
          </a:ln>
        </p:spPr>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e08643f7ffde4294"/>
          <a:stretch xmlns:a="http://schemas.openxmlformats.org/drawingml/2006/main"/>
        </p:blipFill>
        <p:spPr>
          <a:xfrm xmlns:a="http://schemas.openxmlformats.org/drawingml/2006/main">
            <a:off x="666977" y="6429375"/>
            <a:ext cx="269103" cy="2286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37B5F4AD-C4DC-41E4-A9B4-50F39E6F96BD}"/>
              </a:ext>
            </a:extLst>
          </p:cNvPr>
          <p:cNvSpPr>
            <a:spLocks xmlns:a="http://schemas.openxmlformats.org/drawingml/2006/main" noGrp="1"/>
          </p:cNvSpPr>
          <p:nvPr/>
        </p:nvSpPr>
        <p:spPr>
          <a:xfrm xmlns:a="http://schemas.openxmlformats.org/drawingml/2006/main">
            <a:off x="990600" y="6457950"/>
            <a:ext cx="400050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appendix: device placement</a:t>
            </a:r>
          </a:p>
        </p:txBody>
      </p:sp>
      <p:sp>
        <p:nvSpPr>
          <p:cNvPr id="10" name="">
            <a:extLst xmlns:a="http://schemas.openxmlformats.org/drawingml/2006/main">
              <a:ext uri="{FF2B5EF4-FFF2-40B4-BE49-F238E27FC236}">
                <a16:creationId xmlns:a16="http://schemas.microsoft.com/office/drawing/2014/main" id="{84442875-C9B7-472C-AB95-233B05F1E3BC}"/>
              </a:ext>
            </a:extLst>
          </p:cNvPr>
          <p:cNvSpPr>
            <a:spLocks xmlns:a="http://schemas.openxmlformats.org/drawingml/2006/main" noGrp="1"/>
          </p:cNvSpPr>
          <p:nvPr/>
        </p:nvSpPr>
        <p:spPr>
          <a:xfrm xmlns:a="http://schemas.openxmlformats.org/drawingml/2006/main">
            <a:off x="11049000" y="6457950"/>
            <a:ext cx="47625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19</a:t>
            </a:r>
          </a:p>
        </p:txBody>
      </p:sp>
    </p:spTree>
    <p:extLst>
      <p:ext uri="{BB962C8B-B14F-4D97-AF65-F5344CB8AC3E}">
        <p14:creationId xmlns:p14="http://schemas.microsoft.com/office/powerpoint/2010/main" val="1604035598"/>
      </p:ext>
    </p:extLst>
  </p:cSld>
</p:sld>
</file>

<file path=ppt/slides/slide20.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1575AB3-282F-4946-9F7D-79F268E83E69}"/>
              </a:ext>
            </a:extLst>
          </p:cNvPr>
          <p:cNvSpPr>
            <a:spLocks xmlns:a="http://schemas.openxmlformats.org/drawingml/2006/main" noGrp="1"/>
          </p:cNvSpPr>
          <p:nvPr/>
        </p:nvSpPr>
        <p:spPr>
          <a:xfrm xmlns:a="http://schemas.openxmlformats.org/drawingml/2006/main">
            <a:off x="666750" y="342900"/>
            <a:ext cx="2857500" cy="1905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43A896"/>
                </a:solidFill>
                <a:latin typeface="LM Roman 12"/>
                <a:ea typeface="LM Roman 12"/>
                <a:cs typeface="LM Roman 12"/>
              </a:defRPr>
            </a:pPr>
            <a:r>
              <a:rPr sz="975" b="1">
                <a:solidFill>
                  <a:srgbClr val="43A896"/>
                </a:solidFill>
                <a:latin typeface="LM Roman 12"/>
                <a:ea typeface="LM Roman 12"/>
                <a:cs typeface="LM Roman 12"/>
              </a:rPr>
              <a:t>APPENDIX</a:t>
            </a:r>
          </a:p>
        </p:txBody>
      </p:sp>
      <p:sp>
        <p:nvSpPr>
          <p:cNvPr id="2" name="">
            <a:extLst xmlns:a="http://schemas.openxmlformats.org/drawingml/2006/main">
              <a:ext uri="{FF2B5EF4-FFF2-40B4-BE49-F238E27FC236}">
                <a16:creationId xmlns:a16="http://schemas.microsoft.com/office/drawing/2014/main" id="{A47CC1F9-6D37-4D17-9974-837861239735}"/>
              </a:ext>
            </a:extLst>
          </p:cNvPr>
          <p:cNvSpPr>
            <a:spLocks xmlns:a="http://schemas.openxmlformats.org/drawingml/2006/main" noGrp="1"/>
          </p:cNvSpPr>
          <p:nvPr/>
        </p:nvSpPr>
        <p:spPr>
          <a:xfrm xmlns:a="http://schemas.openxmlformats.org/drawingml/2006/main">
            <a:off x="666750" y="590550"/>
            <a:ext cx="8858250" cy="4572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71F46"/>
                </a:solidFill>
                <a:latin typeface="LM Roman 12"/>
                <a:ea typeface="LM Roman 12"/>
                <a:cs typeface="LM Roman 12"/>
              </a:defRPr>
            </a:pPr>
            <a:r>
              <a:rPr sz="2250" b="1">
                <a:solidFill>
                  <a:srgbClr val="071F46"/>
                </a:solidFill>
                <a:latin typeface="LM Roman 12"/>
                <a:ea typeface="LM Roman 12"/>
                <a:cs typeface="LM Roman 12"/>
              </a:rPr>
              <a:t>Network impairment</a:t>
            </a:r>
          </a:p>
        </p:txBody>
      </p:sp>
      <p:sp>
        <p:nvSpPr>
          <p:cNvPr id="3" name="">
            <a:extLst xmlns:a="http://schemas.openxmlformats.org/drawingml/2006/main">
              <a:ext uri="{FF2B5EF4-FFF2-40B4-BE49-F238E27FC236}">
                <a16:creationId xmlns:a16="http://schemas.microsoft.com/office/drawing/2014/main" id="{E01E0374-9219-4D06-92F1-5081ABED87D9}"/>
              </a:ext>
            </a:extLst>
          </p:cNvPr>
          <p:cNvSpPr>
            <a:spLocks xmlns:a="http://schemas.openxmlformats.org/drawingml/2006/main" noGrp="1"/>
          </p:cNvSpPr>
          <p:nvPr/>
        </p:nvSpPr>
        <p:spPr>
          <a:xfrm xmlns:a="http://schemas.openxmlformats.org/drawingml/2006/main">
            <a:off x="666750" y="1066800"/>
            <a:ext cx="7239000" cy="2476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B6472"/>
                </a:solidFill>
                <a:latin typeface="LM Roman 12"/>
                <a:ea typeface="LM Roman 12"/>
                <a:cs typeface="LM Roman 12"/>
              </a:defRPr>
            </a:pPr>
            <a:r>
              <a:rPr sz="1125" b="0">
                <a:solidFill>
                  <a:srgbClr val="5B6472"/>
                </a:solidFill>
                <a:latin typeface="LM Roman 12"/>
                <a:ea typeface="LM Roman 12"/>
                <a:cs typeface="LM Roman 12"/>
              </a:rPr>
              <a:t>netem profiles are deployment-side controls, not application-code changes.</a:t>
            </a:r>
          </a:p>
        </p:txBody>
      </p:sp>
      <p:sp>
        <p:nvSpPr>
          <p:cNvPr id="4" name="">
            <a:extLst xmlns:a="http://schemas.openxmlformats.org/drawingml/2006/main">
              <a:ext uri="{FF2B5EF4-FFF2-40B4-BE49-F238E27FC236}">
                <a16:creationId xmlns:a16="http://schemas.microsoft.com/office/drawing/2014/main" id="{C4D5888A-75E8-473E-9E5B-EA6BA461383D}"/>
              </a:ext>
            </a:extLst>
          </p:cNvPr>
          <p:cNvSpPr>
            <a:spLocks xmlns:a="http://schemas.openxmlformats.org/drawingml/2006/main" noGrp="1"/>
          </p:cNvSpPr>
          <p:nvPr/>
        </p:nvSpPr>
        <p:spPr>
          <a:xfrm xmlns:a="http://schemas.openxmlformats.org/drawingml/2006/main">
            <a:off x="666750" y="1261872"/>
            <a:ext cx="1143000" cy="47625"/>
          </a:xfrm>
          <a:prstGeom xmlns:a="http://schemas.openxmlformats.org/drawingml/2006/main" prst="rect">
            <a:avLst/>
          </a:prstGeom>
          <a:solidFill xmlns:a="http://schemas.openxmlformats.org/drawingml/2006/main">
            <a:srgbClr val="F3C43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86EDD270-44C6-4AFC-863A-6575599163D9}"/>
              </a:ext>
            </a:extLst>
          </p:cNvPr>
          <p:cNvSpPr>
            <a:spLocks xmlns:a="http://schemas.openxmlformats.org/drawingml/2006/main" noGrp="1"/>
          </p:cNvSpPr>
          <p:nvPr/>
        </p:nvSpPr>
        <p:spPr>
          <a:xfrm xmlns:a="http://schemas.openxmlformats.org/drawingml/2006/main">
            <a:off x="571500" y="1600200"/>
            <a:ext cx="11049000" cy="4191000"/>
          </a:xfrm>
          <a:prstGeom xmlns:a="http://schemas.openxmlformats.org/drawingml/2006/main" prst="roundRect">
            <a:avLst>
              <a:gd name="adj" fmla="val 1591"/>
            </a:avLst>
          </a:prstGeom>
          <a:solidFill xmlns:a="http://schemas.openxmlformats.org/drawingml/2006/main">
            <a:srgbClr val="FFFFFF"/>
          </a:solidFill>
          <a:ln xmlns:a="http://schemas.openxmlformats.org/drawingml/2006/main" w="9525">
            <a:solidFill>
              <a:srgbClr val="D5DCE8"/>
            </a:solidFill>
            <a:prstDash val="solid"/>
          </a:ln>
        </p:spPr>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cc2171266c8430f">
            <a:extLst>
              <a:ext uri="{96DAC541-7B7A-43D3-8B79-37D633B846F1}">
                <asvg:svgBlip xmlns:asvg="http://schemas.microsoft.com/office/drawing/2016/SVG/main" r:embed="R9224070cfc7340eb"/>
              </a:ext>
            </a:extLst>
          </a:blip>
          <a:stretch xmlns:a="http://schemas.openxmlformats.org/drawingml/2006/main"/>
        </p:blipFill>
        <p:spPr>
          <a:xfrm xmlns:a="http://schemas.openxmlformats.org/drawingml/2006/main">
            <a:off x="1740118" y="1809750"/>
            <a:ext cx="8711764" cy="37528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4009387-421F-4E17-A0E1-5D3A33A4B1B5}"/>
              </a:ext>
            </a:extLst>
          </p:cNvPr>
          <p:cNvSpPr>
            <a:spLocks xmlns:a="http://schemas.openxmlformats.org/drawingml/2006/main" noGrp="1"/>
          </p:cNvSpPr>
          <p:nvPr/>
        </p:nvSpPr>
        <p:spPr>
          <a:xfrm xmlns:a="http://schemas.openxmlformats.org/drawingml/2006/main">
            <a:off x="666750" y="6296025"/>
            <a:ext cx="10858500" cy="9525"/>
          </a:xfrm>
          <a:prstGeom xmlns:a="http://schemas.openxmlformats.org/drawingml/2006/main" prst="rect">
            <a:avLst/>
          </a:prstGeom>
          <a:solidFill xmlns:a="http://schemas.openxmlformats.org/drawingml/2006/main">
            <a:srgbClr val="E6EBF3"/>
          </a:solidFill>
          <a:ln xmlns:a="http://schemas.openxmlformats.org/drawingml/2006/main" w="0">
            <a:solidFill>
              <a:srgbClr val="000000">
                <a:alpha val="0"/>
              </a:srgbClr>
            </a:solidFill>
            <a:prstDash val="solid"/>
          </a:ln>
        </p:spPr>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1122ba77ef2405b"/>
          <a:stretch xmlns:a="http://schemas.openxmlformats.org/drawingml/2006/main"/>
        </p:blipFill>
        <p:spPr>
          <a:xfrm xmlns:a="http://schemas.openxmlformats.org/drawingml/2006/main">
            <a:off x="666977" y="6429375"/>
            <a:ext cx="269103" cy="2286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C6EB855-91DC-488C-94BC-8B467D6A8CE6}"/>
              </a:ext>
            </a:extLst>
          </p:cNvPr>
          <p:cNvSpPr>
            <a:spLocks xmlns:a="http://schemas.openxmlformats.org/drawingml/2006/main" noGrp="1"/>
          </p:cNvSpPr>
          <p:nvPr/>
        </p:nvSpPr>
        <p:spPr>
          <a:xfrm xmlns:a="http://schemas.openxmlformats.org/drawingml/2006/main">
            <a:off x="990600" y="6457950"/>
            <a:ext cx="400050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appendix: network impairment</a:t>
            </a:r>
          </a:p>
        </p:txBody>
      </p:sp>
      <p:sp>
        <p:nvSpPr>
          <p:cNvPr id="10" name="">
            <a:extLst xmlns:a="http://schemas.openxmlformats.org/drawingml/2006/main">
              <a:ext uri="{FF2B5EF4-FFF2-40B4-BE49-F238E27FC236}">
                <a16:creationId xmlns:a16="http://schemas.microsoft.com/office/drawing/2014/main" id="{F8C55D37-9F8E-49EE-B8BE-96A37DC44CCE}"/>
              </a:ext>
            </a:extLst>
          </p:cNvPr>
          <p:cNvSpPr>
            <a:spLocks xmlns:a="http://schemas.openxmlformats.org/drawingml/2006/main" noGrp="1"/>
          </p:cNvSpPr>
          <p:nvPr/>
        </p:nvSpPr>
        <p:spPr>
          <a:xfrm xmlns:a="http://schemas.openxmlformats.org/drawingml/2006/main">
            <a:off x="11049000" y="6457950"/>
            <a:ext cx="47625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20</a:t>
            </a:r>
          </a:p>
        </p:txBody>
      </p:sp>
    </p:spTree>
    <p:extLst>
      <p:ext uri="{BB962C8B-B14F-4D97-AF65-F5344CB8AC3E}">
        <p14:creationId xmlns:p14="http://schemas.microsoft.com/office/powerpoint/2010/main" val="172240732"/>
      </p:ext>
    </p:extLst>
  </p:cSld>
</p:sld>
</file>

<file path=ppt/slides/slide21.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9AA7274-67F5-41B0-B22E-489F94BC9D55}"/>
              </a:ext>
            </a:extLst>
          </p:cNvPr>
          <p:cNvSpPr>
            <a:spLocks xmlns:a="http://schemas.openxmlformats.org/drawingml/2006/main" noGrp="1"/>
          </p:cNvSpPr>
          <p:nvPr/>
        </p:nvSpPr>
        <p:spPr>
          <a:xfrm xmlns:a="http://schemas.openxmlformats.org/drawingml/2006/main">
            <a:off x="666750" y="342900"/>
            <a:ext cx="2857500" cy="1905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43A896"/>
                </a:solidFill>
                <a:latin typeface="LM Roman 12"/>
                <a:ea typeface="LM Roman 12"/>
                <a:cs typeface="LM Roman 12"/>
              </a:defRPr>
            </a:pPr>
            <a:r>
              <a:rPr sz="975" b="1">
                <a:solidFill>
                  <a:srgbClr val="43A896"/>
                </a:solidFill>
                <a:latin typeface="LM Roman 12"/>
                <a:ea typeface="LM Roman 12"/>
                <a:cs typeface="LM Roman 12"/>
              </a:rPr>
              <a:t>APPENDIX</a:t>
            </a:r>
          </a:p>
        </p:txBody>
      </p:sp>
      <p:sp>
        <p:nvSpPr>
          <p:cNvPr id="2" name="">
            <a:extLst xmlns:a="http://schemas.openxmlformats.org/drawingml/2006/main">
              <a:ext uri="{FF2B5EF4-FFF2-40B4-BE49-F238E27FC236}">
                <a16:creationId xmlns:a16="http://schemas.microsoft.com/office/drawing/2014/main" id="{4F62992D-BCA8-410C-8231-7DE96B5826E0}"/>
              </a:ext>
            </a:extLst>
          </p:cNvPr>
          <p:cNvSpPr>
            <a:spLocks xmlns:a="http://schemas.openxmlformats.org/drawingml/2006/main" noGrp="1"/>
          </p:cNvSpPr>
          <p:nvPr/>
        </p:nvSpPr>
        <p:spPr>
          <a:xfrm xmlns:a="http://schemas.openxmlformats.org/drawingml/2006/main">
            <a:off x="666750" y="590550"/>
            <a:ext cx="8858250" cy="4572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71F46"/>
                </a:solidFill>
                <a:latin typeface="LM Roman 12"/>
                <a:ea typeface="LM Roman 12"/>
                <a:cs typeface="LM Roman 12"/>
              </a:defRPr>
            </a:pPr>
            <a:r>
              <a:rPr sz="2250" b="1">
                <a:solidFill>
                  <a:srgbClr val="071F46"/>
                </a:solidFill>
                <a:latin typeface="LM Roman 12"/>
                <a:ea typeface="LM Roman 12"/>
                <a:cs typeface="LM Roman 12"/>
              </a:rPr>
              <a:t>Compute diagnostics</a:t>
            </a:r>
          </a:p>
        </p:txBody>
      </p:sp>
      <p:sp>
        <p:nvSpPr>
          <p:cNvPr id="3" name="">
            <a:extLst xmlns:a="http://schemas.openxmlformats.org/drawingml/2006/main">
              <a:ext uri="{FF2B5EF4-FFF2-40B4-BE49-F238E27FC236}">
                <a16:creationId xmlns:a16="http://schemas.microsoft.com/office/drawing/2014/main" id="{F15AB2BC-D213-4D26-B4A3-FB440C5346A7}"/>
              </a:ext>
            </a:extLst>
          </p:cNvPr>
          <p:cNvSpPr>
            <a:spLocks xmlns:a="http://schemas.openxmlformats.org/drawingml/2006/main" noGrp="1"/>
          </p:cNvSpPr>
          <p:nvPr/>
        </p:nvSpPr>
        <p:spPr>
          <a:xfrm xmlns:a="http://schemas.openxmlformats.org/drawingml/2006/main">
            <a:off x="666750" y="1066800"/>
            <a:ext cx="7239000" cy="2476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B6472"/>
                </a:solidFill>
                <a:latin typeface="LM Roman 12"/>
                <a:ea typeface="LM Roman 12"/>
                <a:cs typeface="LM Roman 12"/>
              </a:defRPr>
            </a:pPr>
            <a:r>
              <a:rPr sz="1125" b="0">
                <a:solidFill>
                  <a:srgbClr val="5B6472"/>
                </a:solidFill>
                <a:latin typeface="LM Roman 12"/>
                <a:ea typeface="LM Roman 12"/>
                <a:cs typeface="LM Roman 12"/>
              </a:rPr>
              <a:t>Full thesis figures for local submodel quality and client timing.</a:t>
            </a:r>
          </a:p>
        </p:txBody>
      </p:sp>
      <p:sp>
        <p:nvSpPr>
          <p:cNvPr id="4" name="">
            <a:extLst xmlns:a="http://schemas.openxmlformats.org/drawingml/2006/main">
              <a:ext uri="{FF2B5EF4-FFF2-40B4-BE49-F238E27FC236}">
                <a16:creationId xmlns:a16="http://schemas.microsoft.com/office/drawing/2014/main" id="{EFA58745-F4DC-4303-9756-D4C513BA5BC5}"/>
              </a:ext>
            </a:extLst>
          </p:cNvPr>
          <p:cNvSpPr>
            <a:spLocks xmlns:a="http://schemas.openxmlformats.org/drawingml/2006/main" noGrp="1"/>
          </p:cNvSpPr>
          <p:nvPr/>
        </p:nvSpPr>
        <p:spPr>
          <a:xfrm xmlns:a="http://schemas.openxmlformats.org/drawingml/2006/main">
            <a:off x="666750" y="1261872"/>
            <a:ext cx="1143000" cy="47625"/>
          </a:xfrm>
          <a:prstGeom xmlns:a="http://schemas.openxmlformats.org/drawingml/2006/main" prst="rect">
            <a:avLst/>
          </a:prstGeom>
          <a:solidFill xmlns:a="http://schemas.openxmlformats.org/drawingml/2006/main">
            <a:srgbClr val="F3C43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A1700B18-7CCC-4A1F-8B15-5EF6F97010F7}"/>
              </a:ext>
            </a:extLst>
          </p:cNvPr>
          <p:cNvSpPr>
            <a:spLocks xmlns:a="http://schemas.openxmlformats.org/drawingml/2006/main" noGrp="1"/>
          </p:cNvSpPr>
          <p:nvPr/>
        </p:nvSpPr>
        <p:spPr>
          <a:xfrm xmlns:a="http://schemas.openxmlformats.org/drawingml/2006/main">
            <a:off x="590550" y="1600200"/>
            <a:ext cx="5295900" cy="2133600"/>
          </a:xfrm>
          <a:prstGeom xmlns:a="http://schemas.openxmlformats.org/drawingml/2006/main" prst="roundRect">
            <a:avLst>
              <a:gd name="adj" fmla="val 3125"/>
            </a:avLst>
          </a:prstGeom>
          <a:solidFill xmlns:a="http://schemas.openxmlformats.org/drawingml/2006/main">
            <a:srgbClr val="FFFFFF"/>
          </a:solidFill>
          <a:ln xmlns:a="http://schemas.openxmlformats.org/drawingml/2006/main" w="9525">
            <a:solidFill>
              <a:srgbClr val="D5DCE8"/>
            </a:solidFill>
            <a:prstDash val="solid"/>
          </a:ln>
        </p:spPr>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07c1764d96044ea">
            <a:extLst>
              <a:ext uri="{96DAC541-7B7A-43D3-8B79-37D633B846F1}">
                <asvg:svgBlip xmlns:asvg="http://schemas.microsoft.com/office/drawing/2016/SVG/main" r:embed="R504086a602d44f75"/>
              </a:ext>
            </a:extLst>
          </a:blip>
          <a:stretch xmlns:a="http://schemas.openxmlformats.org/drawingml/2006/main"/>
        </p:blipFill>
        <p:spPr>
          <a:xfrm xmlns:a="http://schemas.openxmlformats.org/drawingml/2006/main">
            <a:off x="1215392" y="1752600"/>
            <a:ext cx="4046217" cy="1809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2FE5CFD-DE5F-45CD-8F88-2D7051C5DC24}"/>
              </a:ext>
            </a:extLst>
          </p:cNvPr>
          <p:cNvSpPr>
            <a:spLocks xmlns:a="http://schemas.openxmlformats.org/drawingml/2006/main" noGrp="1"/>
          </p:cNvSpPr>
          <p:nvPr/>
        </p:nvSpPr>
        <p:spPr>
          <a:xfrm xmlns:a="http://schemas.openxmlformats.org/drawingml/2006/main">
            <a:off x="6305550" y="1600200"/>
            <a:ext cx="5295900" cy="2133600"/>
          </a:xfrm>
          <a:prstGeom xmlns:a="http://schemas.openxmlformats.org/drawingml/2006/main" prst="roundRect">
            <a:avLst>
              <a:gd name="adj" fmla="val 3125"/>
            </a:avLst>
          </a:prstGeom>
          <a:solidFill xmlns:a="http://schemas.openxmlformats.org/drawingml/2006/main">
            <a:srgbClr val="FFFFFF"/>
          </a:solidFill>
          <a:ln xmlns:a="http://schemas.openxmlformats.org/drawingml/2006/main" w="9525">
            <a:solidFill>
              <a:srgbClr val="D5DCE8"/>
            </a:solidFill>
            <a:prstDash val="solid"/>
          </a:ln>
        </p:spPr>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a9de0df69d634320">
            <a:extLst>
              <a:ext uri="{96DAC541-7B7A-43D3-8B79-37D633B846F1}">
                <asvg:svgBlip xmlns:asvg="http://schemas.microsoft.com/office/drawing/2016/SVG/main" r:embed="R3cc1f66565e24191"/>
              </a:ext>
            </a:extLst>
          </a:blip>
          <a:stretch xmlns:a="http://schemas.openxmlformats.org/drawingml/2006/main"/>
        </p:blipFill>
        <p:spPr>
          <a:xfrm xmlns:a="http://schemas.openxmlformats.org/drawingml/2006/main">
            <a:off x="7298621" y="1752600"/>
            <a:ext cx="3309759" cy="18097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815690D7-D932-4E91-85CA-45EBD8D333CA}"/>
              </a:ext>
            </a:extLst>
          </p:cNvPr>
          <p:cNvSpPr>
            <a:spLocks xmlns:a="http://schemas.openxmlformats.org/drawingml/2006/main" noGrp="1"/>
          </p:cNvSpPr>
          <p:nvPr/>
        </p:nvSpPr>
        <p:spPr>
          <a:xfrm xmlns:a="http://schemas.openxmlformats.org/drawingml/2006/main">
            <a:off x="1200150" y="4095750"/>
            <a:ext cx="9791700" cy="742950"/>
          </a:xfrm>
          <a:prstGeom xmlns:a="http://schemas.openxmlformats.org/drawingml/2006/main" prst="roundRect">
            <a:avLst>
              <a:gd name="adj" fmla="val 8974"/>
            </a:avLst>
          </a:prstGeom>
          <a:solidFill xmlns:a="http://schemas.openxmlformats.org/drawingml/2006/main">
            <a:srgbClr val="F1F5F9"/>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A052C85B-99FA-45DA-93BD-8F185A5A7A44}"/>
              </a:ext>
            </a:extLst>
          </p:cNvPr>
          <p:cNvSpPr>
            <a:spLocks xmlns:a="http://schemas.openxmlformats.org/drawingml/2006/main" noGrp="1"/>
          </p:cNvSpPr>
          <p:nvPr/>
        </p:nvSpPr>
        <p:spPr>
          <a:xfrm xmlns:a="http://schemas.openxmlformats.org/drawingml/2006/main">
            <a:off x="1562100" y="4305300"/>
            <a:ext cx="9048750" cy="4191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071F46"/>
                </a:solidFill>
                <a:latin typeface="LM Roman 12"/>
                <a:ea typeface="LM Roman 12"/>
                <a:cs typeface="LM Roman 12"/>
              </a:defRPr>
            </a:pPr>
            <a:r>
              <a:rPr sz="1275" b="1">
                <a:solidFill>
                  <a:srgbClr val="071F46"/>
                </a:solidFill>
                <a:latin typeface="LM Roman 12"/>
                <a:ea typeface="LM Roman 12"/>
                <a:cs typeface="LM Roman 12"/>
              </a:rPr>
              <a:t>Use this slide if asked whether the compute result is a global-score artifact. The left figure checks local submodel utility; the right figure shows which device/rate groups gate synchronous rounds.</a:t>
            </a:r>
          </a:p>
        </p:txBody>
      </p:sp>
      <p:sp>
        <p:nvSpPr>
          <p:cNvPr id="11" name="">
            <a:extLst xmlns:a="http://schemas.openxmlformats.org/drawingml/2006/main">
              <a:ext uri="{FF2B5EF4-FFF2-40B4-BE49-F238E27FC236}">
                <a16:creationId xmlns:a16="http://schemas.microsoft.com/office/drawing/2014/main" id="{DB1A5E71-C659-49C5-B449-D44A683BE5FF}"/>
              </a:ext>
            </a:extLst>
          </p:cNvPr>
          <p:cNvSpPr>
            <a:spLocks xmlns:a="http://schemas.openxmlformats.org/drawingml/2006/main" noGrp="1"/>
          </p:cNvSpPr>
          <p:nvPr/>
        </p:nvSpPr>
        <p:spPr>
          <a:xfrm xmlns:a="http://schemas.openxmlformats.org/drawingml/2006/main">
            <a:off x="666750" y="6296025"/>
            <a:ext cx="10858500" cy="9525"/>
          </a:xfrm>
          <a:prstGeom xmlns:a="http://schemas.openxmlformats.org/drawingml/2006/main" prst="rect">
            <a:avLst/>
          </a:prstGeom>
          <a:solidFill xmlns:a="http://schemas.openxmlformats.org/drawingml/2006/main">
            <a:srgbClr val="E6EBF3"/>
          </a:solidFill>
          <a:ln xmlns:a="http://schemas.openxmlformats.org/drawingml/2006/main" w="0">
            <a:solidFill>
              <a:srgbClr val="000000">
                <a:alpha val="0"/>
              </a:srgbClr>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4056337b86647bc"/>
          <a:stretch xmlns:a="http://schemas.openxmlformats.org/drawingml/2006/main"/>
        </p:blipFill>
        <p:spPr>
          <a:xfrm xmlns:a="http://schemas.openxmlformats.org/drawingml/2006/main">
            <a:off x="666977" y="6429375"/>
            <a:ext cx="269103" cy="2286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8E0B1E6C-08A2-4CDB-898E-3481EBD77CAC}"/>
              </a:ext>
            </a:extLst>
          </p:cNvPr>
          <p:cNvSpPr>
            <a:spLocks xmlns:a="http://schemas.openxmlformats.org/drawingml/2006/main" noGrp="1"/>
          </p:cNvSpPr>
          <p:nvPr/>
        </p:nvSpPr>
        <p:spPr>
          <a:xfrm xmlns:a="http://schemas.openxmlformats.org/drawingml/2006/main">
            <a:off x="990600" y="6457950"/>
            <a:ext cx="400050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appendix: compute diagnostics</a:t>
            </a:r>
          </a:p>
        </p:txBody>
      </p:sp>
      <p:sp>
        <p:nvSpPr>
          <p:cNvPr id="14" name="">
            <a:extLst xmlns:a="http://schemas.openxmlformats.org/drawingml/2006/main">
              <a:ext uri="{FF2B5EF4-FFF2-40B4-BE49-F238E27FC236}">
                <a16:creationId xmlns:a16="http://schemas.microsoft.com/office/drawing/2014/main" id="{E0923AB5-F413-49F3-8DFC-21D23450859C}"/>
              </a:ext>
            </a:extLst>
          </p:cNvPr>
          <p:cNvSpPr>
            <a:spLocks xmlns:a="http://schemas.openxmlformats.org/drawingml/2006/main" noGrp="1"/>
          </p:cNvSpPr>
          <p:nvPr/>
        </p:nvSpPr>
        <p:spPr>
          <a:xfrm xmlns:a="http://schemas.openxmlformats.org/drawingml/2006/main">
            <a:off x="11049000" y="6457950"/>
            <a:ext cx="47625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21</a:t>
            </a:r>
          </a:p>
        </p:txBody>
      </p:sp>
    </p:spTree>
    <p:extLst>
      <p:ext uri="{BB962C8B-B14F-4D97-AF65-F5344CB8AC3E}">
        <p14:creationId xmlns:p14="http://schemas.microsoft.com/office/powerpoint/2010/main" val="1699722336"/>
      </p:ext>
    </p:extLst>
  </p:cSld>
</p:sld>
</file>

<file path=ppt/slides/slide22.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58FB5CC-78C7-45E9-87DC-1C77F8FB8005}"/>
              </a:ext>
            </a:extLst>
          </p:cNvPr>
          <p:cNvSpPr>
            <a:spLocks xmlns:a="http://schemas.openxmlformats.org/drawingml/2006/main" noGrp="1"/>
          </p:cNvSpPr>
          <p:nvPr/>
        </p:nvSpPr>
        <p:spPr>
          <a:xfrm xmlns:a="http://schemas.openxmlformats.org/drawingml/2006/main">
            <a:off x="666750" y="342900"/>
            <a:ext cx="2857500" cy="1905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43A896"/>
                </a:solidFill>
                <a:latin typeface="LM Roman 12"/>
                <a:ea typeface="LM Roman 12"/>
                <a:cs typeface="LM Roman 12"/>
              </a:defRPr>
            </a:pPr>
            <a:r>
              <a:rPr sz="975" b="1">
                <a:solidFill>
                  <a:srgbClr val="43A896"/>
                </a:solidFill>
                <a:latin typeface="LM Roman 12"/>
                <a:ea typeface="LM Roman 12"/>
                <a:cs typeface="LM Roman 12"/>
              </a:rPr>
              <a:t>APPENDIX</a:t>
            </a:r>
          </a:p>
        </p:txBody>
      </p:sp>
      <p:sp>
        <p:nvSpPr>
          <p:cNvPr id="2" name="">
            <a:extLst xmlns:a="http://schemas.openxmlformats.org/drawingml/2006/main">
              <a:ext uri="{FF2B5EF4-FFF2-40B4-BE49-F238E27FC236}">
                <a16:creationId xmlns:a16="http://schemas.microsoft.com/office/drawing/2014/main" id="{C3EB2D15-DC55-41D8-B193-8699DE7D9837}"/>
              </a:ext>
            </a:extLst>
          </p:cNvPr>
          <p:cNvSpPr>
            <a:spLocks xmlns:a="http://schemas.openxmlformats.org/drawingml/2006/main" noGrp="1"/>
          </p:cNvSpPr>
          <p:nvPr/>
        </p:nvSpPr>
        <p:spPr>
          <a:xfrm xmlns:a="http://schemas.openxmlformats.org/drawingml/2006/main">
            <a:off x="666750" y="590550"/>
            <a:ext cx="8858250" cy="4572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71F46"/>
                </a:solidFill>
                <a:latin typeface="LM Roman 12"/>
                <a:ea typeface="LM Roman 12"/>
                <a:cs typeface="LM Roman 12"/>
              </a:defRPr>
            </a:pPr>
            <a:r>
              <a:rPr sz="2250" b="1">
                <a:solidFill>
                  <a:srgbClr val="071F46"/>
                </a:solidFill>
                <a:latin typeface="LM Roman 12"/>
                <a:ea typeface="LM Roman 12"/>
                <a:cs typeface="LM Roman 12"/>
              </a:rPr>
              <a:t>Asynchronous diagnostics</a:t>
            </a:r>
          </a:p>
        </p:txBody>
      </p:sp>
      <p:sp>
        <p:nvSpPr>
          <p:cNvPr id="3" name="">
            <a:extLst xmlns:a="http://schemas.openxmlformats.org/drawingml/2006/main">
              <a:ext uri="{FF2B5EF4-FFF2-40B4-BE49-F238E27FC236}">
                <a16:creationId xmlns:a16="http://schemas.microsoft.com/office/drawing/2014/main" id="{D25E067C-9B28-4E4E-96A9-3D00643ACFE3}"/>
              </a:ext>
            </a:extLst>
          </p:cNvPr>
          <p:cNvSpPr>
            <a:spLocks xmlns:a="http://schemas.openxmlformats.org/drawingml/2006/main" noGrp="1"/>
          </p:cNvSpPr>
          <p:nvPr/>
        </p:nvSpPr>
        <p:spPr>
          <a:xfrm xmlns:a="http://schemas.openxmlformats.org/drawingml/2006/main">
            <a:off x="666750" y="1066800"/>
            <a:ext cx="7239000" cy="2476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B6472"/>
                </a:solidFill>
                <a:latin typeface="LM Roman 12"/>
                <a:ea typeface="LM Roman 12"/>
                <a:cs typeface="LM Roman 12"/>
              </a:defRPr>
            </a:pPr>
            <a:r>
              <a:rPr sz="1125" b="0">
                <a:solidFill>
                  <a:srgbClr val="5B6472"/>
                </a:solidFill>
                <a:latin typeface="LM Roman 12"/>
                <a:ea typeface="LM Roman 12"/>
                <a:cs typeface="LM Roman 12"/>
              </a:rPr>
              <a:t>Device-correlated skew separates update frequency from aggregate influence.</a:t>
            </a:r>
          </a:p>
        </p:txBody>
      </p:sp>
      <p:sp>
        <p:nvSpPr>
          <p:cNvPr id="4" name="">
            <a:extLst xmlns:a="http://schemas.openxmlformats.org/drawingml/2006/main">
              <a:ext uri="{FF2B5EF4-FFF2-40B4-BE49-F238E27FC236}">
                <a16:creationId xmlns:a16="http://schemas.microsoft.com/office/drawing/2014/main" id="{E7472EA3-E534-465D-A97E-13B7BCC5235C}"/>
              </a:ext>
            </a:extLst>
          </p:cNvPr>
          <p:cNvSpPr>
            <a:spLocks xmlns:a="http://schemas.openxmlformats.org/drawingml/2006/main" noGrp="1"/>
          </p:cNvSpPr>
          <p:nvPr/>
        </p:nvSpPr>
        <p:spPr>
          <a:xfrm xmlns:a="http://schemas.openxmlformats.org/drawingml/2006/main">
            <a:off x="666750" y="1261872"/>
            <a:ext cx="1143000" cy="47625"/>
          </a:xfrm>
          <a:prstGeom xmlns:a="http://schemas.openxmlformats.org/drawingml/2006/main" prst="rect">
            <a:avLst/>
          </a:prstGeom>
          <a:solidFill xmlns:a="http://schemas.openxmlformats.org/drawingml/2006/main">
            <a:srgbClr val="F3C43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C1BBDD18-5AB5-4B2A-9817-1EE01BE47C20}"/>
              </a:ext>
            </a:extLst>
          </p:cNvPr>
          <p:cNvSpPr>
            <a:spLocks xmlns:a="http://schemas.openxmlformats.org/drawingml/2006/main" noGrp="1"/>
          </p:cNvSpPr>
          <p:nvPr/>
        </p:nvSpPr>
        <p:spPr>
          <a:xfrm xmlns:a="http://schemas.openxmlformats.org/drawingml/2006/main">
            <a:off x="590550" y="1600200"/>
            <a:ext cx="11010900" cy="2857500"/>
          </a:xfrm>
          <a:prstGeom xmlns:a="http://schemas.openxmlformats.org/drawingml/2006/main" prst="roundRect">
            <a:avLst>
              <a:gd name="adj" fmla="val 2333"/>
            </a:avLst>
          </a:prstGeom>
          <a:solidFill xmlns:a="http://schemas.openxmlformats.org/drawingml/2006/main">
            <a:srgbClr val="FFFFFF"/>
          </a:solidFill>
          <a:ln xmlns:a="http://schemas.openxmlformats.org/drawingml/2006/main" w="9525">
            <a:solidFill>
              <a:srgbClr val="D5DCE8"/>
            </a:solidFill>
            <a:prstDash val="solid"/>
          </a:ln>
        </p:spPr>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1c441964f04473c">
            <a:extLst>
              <a:ext uri="{96DAC541-7B7A-43D3-8B79-37D633B846F1}">
                <asvg:svgBlip xmlns:asvg="http://schemas.microsoft.com/office/drawing/2016/SVG/main" r:embed="R3246a7b7d602467a"/>
              </a:ext>
            </a:extLst>
          </a:blip>
          <a:stretch xmlns:a="http://schemas.openxmlformats.org/drawingml/2006/main"/>
        </p:blipFill>
        <p:spPr>
          <a:xfrm xmlns:a="http://schemas.openxmlformats.org/drawingml/2006/main">
            <a:off x="1977665" y="1790700"/>
            <a:ext cx="8236670" cy="24384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E06D19A-1447-402B-B81D-2D5AA314AB80}"/>
              </a:ext>
            </a:extLst>
          </p:cNvPr>
          <p:cNvSpPr>
            <a:spLocks xmlns:a="http://schemas.openxmlformats.org/drawingml/2006/main" noGrp="1"/>
          </p:cNvSpPr>
          <p:nvPr/>
        </p:nvSpPr>
        <p:spPr>
          <a:xfrm xmlns:a="http://schemas.openxmlformats.org/drawingml/2006/main">
            <a:off x="1524000" y="4819650"/>
            <a:ext cx="9144000" cy="685800"/>
          </a:xfrm>
          <a:prstGeom xmlns:a="http://schemas.openxmlformats.org/drawingml/2006/main" prst="roundRect">
            <a:avLst>
              <a:gd name="adj" fmla="val 9722"/>
            </a:avLst>
          </a:prstGeom>
          <a:solidFill xmlns:a="http://schemas.openxmlformats.org/drawingml/2006/main">
            <a:srgbClr val="FFF7ED"/>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595FF0BF-4DE3-44CF-9439-A5FA4145B3E2}"/>
              </a:ext>
            </a:extLst>
          </p:cNvPr>
          <p:cNvSpPr>
            <a:spLocks xmlns:a="http://schemas.openxmlformats.org/drawingml/2006/main" noGrp="1"/>
          </p:cNvSpPr>
          <p:nvPr/>
        </p:nvSpPr>
        <p:spPr>
          <a:xfrm xmlns:a="http://schemas.openxmlformats.org/drawingml/2006/main">
            <a:off x="1847850" y="4953000"/>
            <a:ext cx="8477250" cy="3810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071F46"/>
                </a:solidFill>
                <a:latin typeface="LM Roman 12"/>
                <a:ea typeface="LM Roman 12"/>
                <a:cs typeface="LM Roman 12"/>
              </a:defRPr>
            </a:pPr>
            <a:r>
              <a:rPr sz="1275" b="1">
                <a:solidFill>
                  <a:srgbClr val="071F46"/>
                </a:solidFill>
                <a:latin typeface="LM Roman 12"/>
                <a:ea typeface="LM Roman 12"/>
                <a:cs typeface="LM Roman 12"/>
              </a:rPr>
              <a:t>FedStaleWeight lifts rpi4 aggregate weight near population share, but rpi4 update share remains low and rpi4-held accuracy remains weak.</a:t>
            </a:r>
          </a:p>
        </p:txBody>
      </p:sp>
      <p:sp>
        <p:nvSpPr>
          <p:cNvPr id="9" name="">
            <a:extLst xmlns:a="http://schemas.openxmlformats.org/drawingml/2006/main">
              <a:ext uri="{FF2B5EF4-FFF2-40B4-BE49-F238E27FC236}">
                <a16:creationId xmlns:a16="http://schemas.microsoft.com/office/drawing/2014/main" id="{AB7FD20E-EC10-4E4C-9BAE-E824E6FA6FFF}"/>
              </a:ext>
            </a:extLst>
          </p:cNvPr>
          <p:cNvSpPr>
            <a:spLocks xmlns:a="http://schemas.openxmlformats.org/drawingml/2006/main" noGrp="1"/>
          </p:cNvSpPr>
          <p:nvPr/>
        </p:nvSpPr>
        <p:spPr>
          <a:xfrm xmlns:a="http://schemas.openxmlformats.org/drawingml/2006/main">
            <a:off x="666750" y="6296025"/>
            <a:ext cx="10858500" cy="9525"/>
          </a:xfrm>
          <a:prstGeom xmlns:a="http://schemas.openxmlformats.org/drawingml/2006/main" prst="rect">
            <a:avLst/>
          </a:prstGeom>
          <a:solidFill xmlns:a="http://schemas.openxmlformats.org/drawingml/2006/main">
            <a:srgbClr val="E6EBF3"/>
          </a:solidFill>
          <a:ln xmlns:a="http://schemas.openxmlformats.org/drawingml/2006/main" w="0">
            <a:solidFill>
              <a:srgbClr val="000000">
                <a:alpha val="0"/>
              </a:srgbClr>
            </a:solid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aeccb9262f64cef"/>
          <a:stretch xmlns:a="http://schemas.openxmlformats.org/drawingml/2006/main"/>
        </p:blipFill>
        <p:spPr>
          <a:xfrm xmlns:a="http://schemas.openxmlformats.org/drawingml/2006/main">
            <a:off x="666977" y="6429375"/>
            <a:ext cx="269103" cy="2286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4B7AC94E-E2B3-499C-BFDB-33A83AF79B8C}"/>
              </a:ext>
            </a:extLst>
          </p:cNvPr>
          <p:cNvSpPr>
            <a:spLocks xmlns:a="http://schemas.openxmlformats.org/drawingml/2006/main" noGrp="1"/>
          </p:cNvSpPr>
          <p:nvPr/>
        </p:nvSpPr>
        <p:spPr>
          <a:xfrm xmlns:a="http://schemas.openxmlformats.org/drawingml/2006/main">
            <a:off x="990600" y="6457950"/>
            <a:ext cx="400050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appendix: async diagnostics and fairness</a:t>
            </a:r>
          </a:p>
        </p:txBody>
      </p:sp>
      <p:sp>
        <p:nvSpPr>
          <p:cNvPr id="12" name="">
            <a:extLst xmlns:a="http://schemas.openxmlformats.org/drawingml/2006/main">
              <a:ext uri="{FF2B5EF4-FFF2-40B4-BE49-F238E27FC236}">
                <a16:creationId xmlns:a16="http://schemas.microsoft.com/office/drawing/2014/main" id="{E67BFED1-5745-4429-A958-18296484C358}"/>
              </a:ext>
            </a:extLst>
          </p:cNvPr>
          <p:cNvSpPr>
            <a:spLocks xmlns:a="http://schemas.openxmlformats.org/drawingml/2006/main" noGrp="1"/>
          </p:cNvSpPr>
          <p:nvPr/>
        </p:nvSpPr>
        <p:spPr>
          <a:xfrm xmlns:a="http://schemas.openxmlformats.org/drawingml/2006/main">
            <a:off x="11049000" y="6457950"/>
            <a:ext cx="47625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22</a:t>
            </a:r>
          </a:p>
        </p:txBody>
      </p:sp>
    </p:spTree>
    <p:extLst>
      <p:ext uri="{BB962C8B-B14F-4D97-AF65-F5344CB8AC3E}">
        <p14:creationId xmlns:p14="http://schemas.microsoft.com/office/powerpoint/2010/main" val="629176212"/>
      </p:ext>
    </p:extLst>
  </p:cSld>
</p:sld>
</file>

<file path=ppt/slides/slide23.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3B18B3D-C28A-4A9D-9AC7-A8A4A339C264}"/>
              </a:ext>
            </a:extLst>
          </p:cNvPr>
          <p:cNvSpPr>
            <a:spLocks xmlns:a="http://schemas.openxmlformats.org/drawingml/2006/main" noGrp="1"/>
          </p:cNvSpPr>
          <p:nvPr/>
        </p:nvSpPr>
        <p:spPr>
          <a:xfrm xmlns:a="http://schemas.openxmlformats.org/drawingml/2006/main">
            <a:off x="666750" y="342900"/>
            <a:ext cx="2857500" cy="1905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43A896"/>
                </a:solidFill>
                <a:latin typeface="LM Roman 12"/>
                <a:ea typeface="LM Roman 12"/>
                <a:cs typeface="LM Roman 12"/>
              </a:defRPr>
            </a:pPr>
            <a:r>
              <a:rPr sz="975" b="1">
                <a:solidFill>
                  <a:srgbClr val="43A896"/>
                </a:solidFill>
                <a:latin typeface="LM Roman 12"/>
                <a:ea typeface="LM Roman 12"/>
                <a:cs typeface="LM Roman 12"/>
              </a:rPr>
              <a:t>APPENDIX</a:t>
            </a:r>
          </a:p>
        </p:txBody>
      </p:sp>
      <p:sp>
        <p:nvSpPr>
          <p:cNvPr id="2" name="">
            <a:extLst xmlns:a="http://schemas.openxmlformats.org/drawingml/2006/main">
              <a:ext uri="{FF2B5EF4-FFF2-40B4-BE49-F238E27FC236}">
                <a16:creationId xmlns:a16="http://schemas.microsoft.com/office/drawing/2014/main" id="{80F2444C-769C-410E-93FB-30B488CEB9E6}"/>
              </a:ext>
            </a:extLst>
          </p:cNvPr>
          <p:cNvSpPr>
            <a:spLocks xmlns:a="http://schemas.openxmlformats.org/drawingml/2006/main" noGrp="1"/>
          </p:cNvSpPr>
          <p:nvPr/>
        </p:nvSpPr>
        <p:spPr>
          <a:xfrm xmlns:a="http://schemas.openxmlformats.org/drawingml/2006/main">
            <a:off x="666750" y="590550"/>
            <a:ext cx="8858250" cy="4572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71F46"/>
                </a:solidFill>
                <a:latin typeface="LM Roman 12"/>
                <a:ea typeface="LM Roman 12"/>
                <a:cs typeface="LM Roman 12"/>
              </a:defRPr>
            </a:pPr>
            <a:r>
              <a:rPr sz="2250" b="1">
                <a:solidFill>
                  <a:srgbClr val="071F46"/>
                </a:solidFill>
                <a:latin typeface="LM Roman 12"/>
                <a:ea typeface="LM Roman 12"/>
                <a:cs typeface="LM Roman 12"/>
              </a:rPr>
              <a:t>FedCover gamma sweep</a:t>
            </a:r>
          </a:p>
        </p:txBody>
      </p:sp>
      <p:sp>
        <p:nvSpPr>
          <p:cNvPr id="3" name="">
            <a:extLst xmlns:a="http://schemas.openxmlformats.org/drawingml/2006/main">
              <a:ext uri="{FF2B5EF4-FFF2-40B4-BE49-F238E27FC236}">
                <a16:creationId xmlns:a16="http://schemas.microsoft.com/office/drawing/2014/main" id="{6F7DB2DA-2F38-446D-9736-AC80F4FAD395}"/>
              </a:ext>
            </a:extLst>
          </p:cNvPr>
          <p:cNvSpPr>
            <a:spLocks xmlns:a="http://schemas.openxmlformats.org/drawingml/2006/main" noGrp="1"/>
          </p:cNvSpPr>
          <p:nvPr/>
        </p:nvSpPr>
        <p:spPr>
          <a:xfrm xmlns:a="http://schemas.openxmlformats.org/drawingml/2006/main">
            <a:off x="666750" y="1066800"/>
            <a:ext cx="7239000" cy="2476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B6472"/>
                </a:solidFill>
                <a:latin typeface="LM Roman 12"/>
                <a:ea typeface="LM Roman 12"/>
                <a:cs typeface="LM Roman 12"/>
              </a:defRPr>
            </a:pPr>
            <a:r>
              <a:rPr sz="1125" b="0">
                <a:solidFill>
                  <a:srgbClr val="5B6472"/>
                </a:solidFill>
                <a:latin typeface="LM Roman 12"/>
                <a:ea typeface="LM Roman 12"/>
                <a:cs typeface="LM Roman 12"/>
              </a:rPr>
              <a:t>Full post-warm-up speedup figure with seed-level points.</a:t>
            </a:r>
          </a:p>
        </p:txBody>
      </p:sp>
      <p:sp>
        <p:nvSpPr>
          <p:cNvPr id="4" name="">
            <a:extLst xmlns:a="http://schemas.openxmlformats.org/drawingml/2006/main">
              <a:ext uri="{FF2B5EF4-FFF2-40B4-BE49-F238E27FC236}">
                <a16:creationId xmlns:a16="http://schemas.microsoft.com/office/drawing/2014/main" id="{71F93717-AF6F-43C3-BDFF-6C65418929F0}"/>
              </a:ext>
            </a:extLst>
          </p:cNvPr>
          <p:cNvSpPr>
            <a:spLocks xmlns:a="http://schemas.openxmlformats.org/drawingml/2006/main" noGrp="1"/>
          </p:cNvSpPr>
          <p:nvPr/>
        </p:nvSpPr>
        <p:spPr>
          <a:xfrm xmlns:a="http://schemas.openxmlformats.org/drawingml/2006/main">
            <a:off x="666750" y="1261872"/>
            <a:ext cx="1143000" cy="47625"/>
          </a:xfrm>
          <a:prstGeom xmlns:a="http://schemas.openxmlformats.org/drawingml/2006/main" prst="rect">
            <a:avLst/>
          </a:prstGeom>
          <a:solidFill xmlns:a="http://schemas.openxmlformats.org/drawingml/2006/main">
            <a:srgbClr val="F3C43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B7E46D8C-31B6-4EA6-AB1B-718C908F0EE4}"/>
              </a:ext>
            </a:extLst>
          </p:cNvPr>
          <p:cNvSpPr>
            <a:spLocks xmlns:a="http://schemas.openxmlformats.org/drawingml/2006/main" noGrp="1"/>
          </p:cNvSpPr>
          <p:nvPr/>
        </p:nvSpPr>
        <p:spPr>
          <a:xfrm xmlns:a="http://schemas.openxmlformats.org/drawingml/2006/main">
            <a:off x="666750" y="1600200"/>
            <a:ext cx="10858500" cy="3143250"/>
          </a:xfrm>
          <a:prstGeom xmlns:a="http://schemas.openxmlformats.org/drawingml/2006/main" prst="roundRect">
            <a:avLst>
              <a:gd name="adj" fmla="val 2121"/>
            </a:avLst>
          </a:prstGeom>
          <a:solidFill xmlns:a="http://schemas.openxmlformats.org/drawingml/2006/main">
            <a:srgbClr val="FFFFFF"/>
          </a:solidFill>
          <a:ln xmlns:a="http://schemas.openxmlformats.org/drawingml/2006/main" w="9525">
            <a:solidFill>
              <a:srgbClr val="D5DCE8"/>
            </a:solidFill>
            <a:prstDash val="solid"/>
          </a:ln>
        </p:spPr>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a5e49a9ac2f2428e">
            <a:extLst>
              <a:ext uri="{96DAC541-7B7A-43D3-8B79-37D633B846F1}">
                <asvg:svgBlip xmlns:asvg="http://schemas.microsoft.com/office/drawing/2016/SVG/main" r:embed="Ra2e466d4dbc24123"/>
              </a:ext>
            </a:extLst>
          </a:blip>
          <a:stretch xmlns:a="http://schemas.openxmlformats.org/drawingml/2006/main"/>
        </p:blipFill>
        <p:spPr>
          <a:xfrm xmlns:a="http://schemas.openxmlformats.org/drawingml/2006/main">
            <a:off x="1521209" y="1790700"/>
            <a:ext cx="9149582" cy="2857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4E97861-9E44-4449-BC10-867E89C850B5}"/>
              </a:ext>
            </a:extLst>
          </p:cNvPr>
          <p:cNvSpPr>
            <a:spLocks xmlns:a="http://schemas.openxmlformats.org/drawingml/2006/main" noGrp="1"/>
          </p:cNvSpPr>
          <p:nvPr/>
        </p:nvSpPr>
        <p:spPr>
          <a:xfrm xmlns:a="http://schemas.openxmlformats.org/drawingml/2006/main">
            <a:off x="1257300" y="5048250"/>
            <a:ext cx="9677400" cy="647700"/>
          </a:xfrm>
          <a:prstGeom xmlns:a="http://schemas.openxmlformats.org/drawingml/2006/main" prst="roundRect">
            <a:avLst>
              <a:gd name="adj" fmla="val 10294"/>
            </a:avLst>
          </a:prstGeom>
          <a:solidFill xmlns:a="http://schemas.openxmlformats.org/drawingml/2006/main">
            <a:srgbClr val="F1F5F9"/>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673E4A1B-CA14-4A7F-990A-B1B7AFE86ADA}"/>
              </a:ext>
            </a:extLst>
          </p:cNvPr>
          <p:cNvSpPr>
            <a:spLocks xmlns:a="http://schemas.openxmlformats.org/drawingml/2006/main" noGrp="1"/>
          </p:cNvSpPr>
          <p:nvPr/>
        </p:nvSpPr>
        <p:spPr>
          <a:xfrm xmlns:a="http://schemas.openxmlformats.org/drawingml/2006/main">
            <a:off x="1581150" y="5162550"/>
            <a:ext cx="9029700" cy="40005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071F46"/>
                </a:solidFill>
                <a:latin typeface="LM Roman 12"/>
                <a:ea typeface="LM Roman 12"/>
                <a:cs typeface="LM Roman 12"/>
              </a:defRPr>
            </a:pPr>
            <a:r>
              <a:rPr sz="1200" b="1">
                <a:solidFill>
                  <a:srgbClr val="071F46"/>
                </a:solidFill>
                <a:latin typeface="LM Roman 12"/>
                <a:ea typeface="LM Roman 12"/>
                <a:cs typeface="LM Roman 12"/>
              </a:rPr>
              <a:t>Across task-regime pairs, every gamma setting has positive mean post-warm-up speedup over uncorrected Async-HeteroFL; gamma=1.5 is strongest under non-IID data.</a:t>
            </a:r>
          </a:p>
        </p:txBody>
      </p:sp>
      <p:sp>
        <p:nvSpPr>
          <p:cNvPr id="9" name="">
            <a:extLst xmlns:a="http://schemas.openxmlformats.org/drawingml/2006/main">
              <a:ext uri="{FF2B5EF4-FFF2-40B4-BE49-F238E27FC236}">
                <a16:creationId xmlns:a16="http://schemas.microsoft.com/office/drawing/2014/main" id="{AA677D6D-3805-4174-B99A-880CA431367C}"/>
              </a:ext>
            </a:extLst>
          </p:cNvPr>
          <p:cNvSpPr>
            <a:spLocks xmlns:a="http://schemas.openxmlformats.org/drawingml/2006/main" noGrp="1"/>
          </p:cNvSpPr>
          <p:nvPr/>
        </p:nvSpPr>
        <p:spPr>
          <a:xfrm xmlns:a="http://schemas.openxmlformats.org/drawingml/2006/main">
            <a:off x="666750" y="6296025"/>
            <a:ext cx="10858500" cy="9525"/>
          </a:xfrm>
          <a:prstGeom xmlns:a="http://schemas.openxmlformats.org/drawingml/2006/main" prst="rect">
            <a:avLst/>
          </a:prstGeom>
          <a:solidFill xmlns:a="http://schemas.openxmlformats.org/drawingml/2006/main">
            <a:srgbClr val="E6EBF3"/>
          </a:solidFill>
          <a:ln xmlns:a="http://schemas.openxmlformats.org/drawingml/2006/main" w="0">
            <a:solidFill>
              <a:srgbClr val="000000">
                <a:alpha val="0"/>
              </a:srgbClr>
            </a:solid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1456565078d4fed"/>
          <a:stretch xmlns:a="http://schemas.openxmlformats.org/drawingml/2006/main"/>
        </p:blipFill>
        <p:spPr>
          <a:xfrm xmlns:a="http://schemas.openxmlformats.org/drawingml/2006/main">
            <a:off x="666977" y="6429375"/>
            <a:ext cx="269103" cy="2286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9A7C8D49-7A15-4871-9F36-E7BE1E9CDF25}"/>
              </a:ext>
            </a:extLst>
          </p:cNvPr>
          <p:cNvSpPr>
            <a:spLocks xmlns:a="http://schemas.openxmlformats.org/drawingml/2006/main" noGrp="1"/>
          </p:cNvSpPr>
          <p:nvPr/>
        </p:nvSpPr>
        <p:spPr>
          <a:xfrm xmlns:a="http://schemas.openxmlformats.org/drawingml/2006/main">
            <a:off x="990600" y="6457950"/>
            <a:ext cx="400050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appendix: FedCover gamma sweep</a:t>
            </a:r>
          </a:p>
        </p:txBody>
      </p:sp>
      <p:sp>
        <p:nvSpPr>
          <p:cNvPr id="12" name="">
            <a:extLst xmlns:a="http://schemas.openxmlformats.org/drawingml/2006/main">
              <a:ext uri="{FF2B5EF4-FFF2-40B4-BE49-F238E27FC236}">
                <a16:creationId xmlns:a16="http://schemas.microsoft.com/office/drawing/2014/main" id="{C06C4894-970E-4ED2-BED0-DF74B6793DA1}"/>
              </a:ext>
            </a:extLst>
          </p:cNvPr>
          <p:cNvSpPr>
            <a:spLocks xmlns:a="http://schemas.openxmlformats.org/drawingml/2006/main" noGrp="1"/>
          </p:cNvSpPr>
          <p:nvPr/>
        </p:nvSpPr>
        <p:spPr>
          <a:xfrm xmlns:a="http://schemas.openxmlformats.org/drawingml/2006/main">
            <a:off x="11049000" y="6457950"/>
            <a:ext cx="476250" cy="228600"/>
          </a:xfrm>
          <a:prstGeom xmlns:a="http://schemas.openxmlformats.org/drawingml/2006/main" prst="rect">
            <a:avLst/>
          </a:prstGeom>
          <a:noFill xmlns:a="http://schemas.openxmlformats.org/drawingml/2006/main"/>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5B6472"/>
                </a:solidFill>
                <a:latin typeface="LM Roman 12"/>
                <a:ea typeface="LM Roman 12"/>
                <a:cs typeface="LM Roman 12"/>
              </a:defRPr>
            </a:pPr>
            <a:r>
              <a:rPr sz="975" b="0">
                <a:solidFill>
                  <a:srgbClr val="5B6472"/>
                </a:solidFill>
                <a:latin typeface="LM Roman 12"/>
                <a:ea typeface="LM Roman 12"/>
                <a:cs typeface="LM Roman 12"/>
              </a:rPr>
              <a:t>23</a:t>
            </a:r>
          </a:p>
        </p:txBody>
      </p:sp>
    </p:spTree>
    <p:extLst>
      <p:ext uri="{BB962C8B-B14F-4D97-AF65-F5344CB8AC3E}">
        <p14:creationId xmlns:p14="http://schemas.microsoft.com/office/powerpoint/2010/main" val="14370993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2026-06-04T11:05:52.5580000Z</dcterms:created>
  <dcterms:modified xsi:type="dcterms:W3CDTF">2026-06-04T11:05:52.5580000Z</dcterms:modified>
</coreProperties>
</file>